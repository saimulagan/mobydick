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2" r:id="rId4"/>
    <p:sldMasterId id="2147483673" r:id="rId5"/>
  </p:sldMasterIdLst>
  <p:notesMasterIdLst>
    <p:notesMasterId r:id="rId6"/>
  </p:notesMasterIdLst>
  <p:sldIdLst>
    <p:sldId id="262" r:id="rId13"/>
    <p:sldId id="263" r:id="rId14"/>
    <p:sldId id="264" r:id="rId15"/>
    <p:sldId id="265" r:id="rId16"/>
    <p:sldId id="266" r:id="rId17"/>
    <p:sldId id="267" r:id="rId18"/>
    <p:sldId id="268" r:id="rId19"/>
    <p:sldId id="269" r:id="rId20"/>
    <p:sldId id="270" r:id="rId21"/>
    <p:sldId id="271"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36BB83-F007-4B06-9C09-D7B6C8AD8B06}">
  <a:tblStyle styleId="{BD36BB83-F007-4B06-9C09-D7B6C8AD8B0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d9a559db6_1_5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dd9a559db6_1_5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7 — Final Technical Slides divider (~3s)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That's the pitch. Now the technical side.</a:t>
            </a:r>
            <a:endParaRPr/>
          </a:p>
        </p:txBody>
      </p:sp>
      <p:sp>
        <p:nvSpPr>
          <p:cNvPr id="221" name="Google Shape;221;g3dd9a559db6_1_5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d9a559db6_1_5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dd9a559db6_1_5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8 — Introduction (~55s)</a:t>
            </a:r>
            <a:r>
              <a:rPr lang="en-US" sz="1100">
                <a:latin typeface="Arial"/>
                <a:ea typeface="Arial"/>
                <a:cs typeface="Arial"/>
                <a:sym typeface="Arial"/>
              </a:rPr>
              <a:t> </a:t>
            </a:r>
            <a:r>
              <a:rPr i="1" lang="en-US" sz="1100">
                <a:latin typeface="Arial"/>
                <a:ea typeface="Arial"/>
                <a:cs typeface="Arial"/>
                <a:sym typeface="Arial"/>
              </a:rPr>
              <a:t>(Introduction rubric)</a:t>
            </a:r>
            <a:endParaRPr i="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Moby Dicks is a reading curriculum generator. The user gives us three things — a topic, a time budget, and a difficulty level. We turn that into a five-book ordered curriculum, with a written reason for every pick and an overall reading arc. The whole flow runs in about ten seconds. The user fills out one survey instead of having an eight-message back-and-forth with ChatGPT — and every recommendation is grounded in a real book in our catalog, so there are no hallucinated titles. The differentiator that's hardest for a chat interface to copy is the check-in loop. After each book, we re-rank the rest of the curriculum based on whether the user found it too easy, too dense, or just right.</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231" name="Google Shape;231;g3dd9a559db6_1_5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d9a559db6_1_5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dd9a559db6_1_5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9 — Stack (~18s)</a:t>
            </a:r>
            <a:endParaRPr b="1" sz="1100">
              <a:latin typeface="Arial"/>
              <a:ea typeface="Arial"/>
              <a:cs typeface="Arial"/>
              <a:sym typeface="Arial"/>
            </a:endParaRPr>
          </a:p>
          <a:p>
            <a:pPr indent="0" lvl="0" marL="381000" marR="38100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Quick stack tour. Reflex for front-end and back-end — pure Python, no JavaScript. BigQuery for the catalog. Vertex AI Gemini Flash for the model calls. And the four required pieces: Docker, GitHub Actions, MLflow, and GCP via Cloud Run.</a:t>
            </a:r>
            <a:endParaRPr/>
          </a:p>
        </p:txBody>
      </p:sp>
      <p:sp>
        <p:nvSpPr>
          <p:cNvPr id="257" name="Google Shape;257;g3dd9a559db6_1_5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dd9a559db6_1_6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3dd9a559db6_1_6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10 — System Design (~60s)</a:t>
            </a:r>
            <a:r>
              <a:rPr lang="en-US" sz="1100">
                <a:latin typeface="Arial"/>
                <a:ea typeface="Arial"/>
                <a:cs typeface="Arial"/>
                <a:sym typeface="Arial"/>
              </a:rPr>
              <a:t> </a:t>
            </a:r>
            <a:r>
              <a:rPr i="1" lang="en-US" sz="1100">
                <a:latin typeface="Arial"/>
                <a:ea typeface="Arial"/>
                <a:cs typeface="Arial"/>
                <a:sym typeface="Arial"/>
              </a:rPr>
              <a:t>(Architecture rubric)</a:t>
            </a:r>
            <a:endParaRPr i="1" sz="1100">
              <a:latin typeface="Arial"/>
              <a:ea typeface="Arial"/>
              <a:cs typeface="Arial"/>
              <a:sym typeface="Arial"/>
            </a:endParaRPr>
          </a:p>
          <a:p>
            <a:pPr indent="0" lvl="0" marL="381000" marR="38100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Two lanes here — runtime on top, build on the bottom. Runtime: a request comes in through the Reflex UI and hits pipeline.py, which has three stages. Stage one calls Gemini to extract structured filters from the survey. Stage two runs a SQL query against BigQuery to get the top 25 candidate books. Stage three calls Gemini again to order those candidates into a five-book curriculum. The whole thing returns to the UI in about ten seconds. Cloud Run hosts the service, Secret Manager injects credentials at boot, and Cloud Logging stores the AI memory. Build lane: every push goes to GitHub Actions, which runs our nightly tests, builds a Docker image with FastAPI on port eight thousand and MLflow on port five thousand, and the MLflow server tracks runs and artifacts.</a:t>
            </a:r>
            <a:endParaRPr/>
          </a:p>
        </p:txBody>
      </p:sp>
      <p:sp>
        <p:nvSpPr>
          <p:cNvPr id="301" name="Google Shape;301;g3dd9a559db6_1_6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d9a559db6_1_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dd9a559db6_1_6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11 — Data + Database (~60s)</a:t>
            </a:r>
            <a:r>
              <a:rPr lang="en-US" sz="1100">
                <a:latin typeface="Arial"/>
                <a:ea typeface="Arial"/>
                <a:cs typeface="Arial"/>
                <a:sym typeface="Arial"/>
              </a:rPr>
              <a:t> </a:t>
            </a:r>
            <a:r>
              <a:rPr i="1" lang="en-US" sz="1100">
                <a:latin typeface="Arial"/>
                <a:ea typeface="Arial"/>
                <a:cs typeface="Arial"/>
                <a:sym typeface="Arial"/>
              </a:rPr>
              <a:t>(Data rubric)</a:t>
            </a:r>
            <a:endParaRPr i="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data: BigQuery is our warehouse. The table holds about 2.36 million Goodreads books, populated from the UCSD Wan and McAuley dataset using load_to_bigquery.sh. Each row carries the metadata we need — book ID, title, description, page count, publication year, average rating, ratings count, and language. The two interesting columns are popular_shelves, which is an array of user-applied shelf names with counts, and the authors array, which we use for de-duplication. The candidate scan in candidates.py is four steps. One: filter by language, page range, and at least one hundred ratings. Two: strip noise shelves like "to-read" or "kindle." Three: score each book by overlap between the user's keywords and the shelf tokens. Four: deduplicate by work_id, return the top two hundred, and pass the top twenty-five into the model.</a:t>
            </a:r>
            <a:endParaRPr sz="1100">
              <a:latin typeface="Arial"/>
              <a:ea typeface="Arial"/>
              <a:cs typeface="Arial"/>
              <a:sym typeface="Arial"/>
            </a:endParaRPr>
          </a:p>
          <a:p>
            <a:pPr indent="0" lvl="0" marL="0" marR="381000" rtl="0" algn="l">
              <a:lnSpc>
                <a:spcPct val="115000"/>
              </a:lnSpc>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SzPts val="1400"/>
              <a:buNone/>
            </a:pPr>
            <a:r>
              <a:t/>
            </a:r>
            <a:endParaRPr/>
          </a:p>
        </p:txBody>
      </p:sp>
      <p:sp>
        <p:nvSpPr>
          <p:cNvPr id="360" name="Google Shape;360;g3dd9a559db6_1_6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dd9a559db6_1_6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3dd9a559db6_1_6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12 — Models (~65s)</a:t>
            </a:r>
            <a:r>
              <a:rPr lang="en-US" sz="1100">
                <a:latin typeface="Arial"/>
                <a:ea typeface="Arial"/>
                <a:cs typeface="Arial"/>
                <a:sym typeface="Arial"/>
              </a:rPr>
              <a:t> </a:t>
            </a:r>
            <a:r>
              <a:rPr i="1" lang="en-US" sz="1100">
                <a:latin typeface="Arial"/>
                <a:ea typeface="Arial"/>
                <a:cs typeface="Arial"/>
                <a:sym typeface="Arial"/>
              </a:rPr>
              <a:t>(Models rubric)</a:t>
            </a:r>
            <a:endParaRPr i="1" sz="1100">
              <a:latin typeface="Arial"/>
              <a:ea typeface="Arial"/>
              <a:cs typeface="Arial"/>
              <a:sym typeface="Arial"/>
            </a:endParaRPr>
          </a:p>
          <a:p>
            <a:pPr indent="0" lvl="0" marL="381000" marR="38100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For models: gemini-2.0-flash via Vertex AI for both calls, and we enforce a Pydantic schema on the output of each one. Call one is the extract step — temperature point two, output schema SurveyFilters. It maps free text like "evening read" or "eighteenth-century Russian lit" into keywords, page range, era, and difficulty. We keep this separate from candidate generation so we can run a deterministic SQL query before the model ever sees a book. Call two is the curate step — temperature point three, output schema Curriculum. It receives the top twenty-five candidates and orders them by progressive difficulty. Because the candidate pool is the only valid input space, the model can't hallucinate a title — it has to pick from real book IDs in the pool. Phase two will add a scikit-learn reranker over check-in data, tracked via MLflow.</a:t>
            </a:r>
            <a:endParaRPr/>
          </a:p>
        </p:txBody>
      </p:sp>
      <p:sp>
        <p:nvSpPr>
          <p:cNvPr id="379" name="Google Shape;379;g3dd9a559db6_1_6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d9a559db6_1_7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dd9a559db6_1_7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13 — Technical Topic: Testing &amp; Nightly Evaluation (~60s)</a:t>
            </a:r>
            <a:r>
              <a:rPr lang="en-US" sz="1100">
                <a:latin typeface="Arial"/>
                <a:ea typeface="Arial"/>
                <a:cs typeface="Arial"/>
                <a:sym typeface="Arial"/>
              </a:rPr>
              <a:t> </a:t>
            </a:r>
            <a:r>
              <a:rPr i="1" lang="en-US" sz="1100">
                <a:latin typeface="Arial"/>
                <a:ea typeface="Arial"/>
                <a:cs typeface="Arial"/>
                <a:sym typeface="Arial"/>
              </a:rPr>
              <a:t>(Tech topic rubric)</a:t>
            </a:r>
            <a:endParaRPr i="1" sz="1100">
              <a:latin typeface="Arial"/>
              <a:ea typeface="Arial"/>
              <a:cs typeface="Arial"/>
              <a:sym typeface="Arial"/>
            </a:endParaRPr>
          </a:p>
          <a:p>
            <a:pPr indent="0" lvl="0" marL="381000" marR="38100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Our technical deep-dive is testing strategy. We have 38 pytest cases across 9 test classes — schema contracts, curriculum structure, pipeline failure paths, FastAPI endpoint contracts, and a prompt-injection guard on the extract step. GitHub Actions runs the full suite every night via cron at 2 AM Eastern, plus on-demand from the Actions tab. Failures surface as a GitHub error annotation on the run. The interesting part is isolation: we stub the google.cloud and mlflow modules with MagicMock before any production code imports them. That means the nightly run costs us zero in live GCP calls — no Vertex tokens, no BigQuery scans — even though we're exercising the same code paths that hit them in production. This is what lets us run nightly tests for the full duration of the project without burning through our credits.</a:t>
            </a:r>
            <a:endParaRPr/>
          </a:p>
        </p:txBody>
      </p:sp>
      <p:sp>
        <p:nvSpPr>
          <p:cNvPr id="400" name="Google Shape;400;g3dd9a559db6_1_7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d9a559db6_1_7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dd9a559db6_1_7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14 — Differentiators (~10s)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Six things you can't get from a single ChatGPT prompt — one form not eight, real catalog grounding, completion focus, check-in loop, persistent memory, and cost-controlled by design.</a:t>
            </a:r>
            <a:endParaRPr/>
          </a:p>
        </p:txBody>
      </p:sp>
      <p:sp>
        <p:nvSpPr>
          <p:cNvPr id="429" name="Google Shape;429;g3dd9a559db6_1_7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dd9a559db6_1_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3dd9a559db6_1_7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15 — Demo (~6s)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Here's a two-minute demo of the live app — also linked from our README.</a:t>
            </a:r>
            <a:endParaRPr/>
          </a:p>
        </p:txBody>
      </p:sp>
      <p:sp>
        <p:nvSpPr>
          <p:cNvPr id="462" name="Google Shape;462;g3dd9a559db6_1_7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dd9a559db6_1_7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g3dd9a559db6_1_7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16 — Repo + Thank You (~4s)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Code's on GitHub. Thank you — happy to answer questions.</a:t>
            </a:r>
            <a:endParaRPr/>
          </a:p>
        </p:txBody>
      </p:sp>
      <p:sp>
        <p:nvSpPr>
          <p:cNvPr id="480" name="Google Shape;480;g3dd9a559db6_1_7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9" name="Shape 5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6" name="Google Shape;6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7" name="Shape 67"/>
        <p:cNvGrpSpPr/>
        <p:nvPr/>
      </p:nvGrpSpPr>
      <p:grpSpPr>
        <a:xfrm>
          <a:off x="0" y="0"/>
          <a:ext cx="0" cy="0"/>
          <a:chOff x="0" y="0"/>
          <a:chExt cx="0" cy="0"/>
        </a:xfrm>
      </p:grpSpPr>
      <p:sp>
        <p:nvSpPr>
          <p:cNvPr id="68" name="Google Shape;6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0" name="Google Shape;7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3" name="Google Shape;73;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4" name="Google Shape;74;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5" name="Google Shape;7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8" name="Google Shape;7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9" name="Shape 79"/>
        <p:cNvGrpSpPr/>
        <p:nvPr/>
      </p:nvGrpSpPr>
      <p:grpSpPr>
        <a:xfrm>
          <a:off x="0" y="0"/>
          <a:ext cx="0" cy="0"/>
          <a:chOff x="0" y="0"/>
          <a:chExt cx="0" cy="0"/>
        </a:xfrm>
      </p:grpSpPr>
      <p:sp>
        <p:nvSpPr>
          <p:cNvPr id="80" name="Google Shape;80;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1" name="Google Shape;81;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2" name="Google Shape;8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5" name="Google Shape;8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9" name="Google Shape;89;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0" name="Google Shape;90;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1" name="Google Shape;9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5" name="Shape 95"/>
        <p:cNvGrpSpPr/>
        <p:nvPr/>
      </p:nvGrpSpPr>
      <p:grpSpPr>
        <a:xfrm>
          <a:off x="0" y="0"/>
          <a:ext cx="0" cy="0"/>
          <a:chOff x="0" y="0"/>
          <a:chExt cx="0" cy="0"/>
        </a:xfrm>
      </p:grpSpPr>
      <p:sp>
        <p:nvSpPr>
          <p:cNvPr id="96" name="Google Shape;96;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7" name="Google Shape;97;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8" name="Google Shape;9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7" name="Google Shape;57;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8" name="Google Shape;5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7.png"/><Relationship Id="rId9" Type="http://schemas.openxmlformats.org/officeDocument/2006/relationships/image" Target="../media/image3.png"/><Relationship Id="rId10" Type="http://schemas.openxmlformats.org/officeDocument/2006/relationships/image" Target="../media/image6.png"/><Relationship Id="rId1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hyperlink" Target="https://youtu.be/hFVhIdpcWMs" TargetMode="External"/><Relationship Id="rId4" Type="http://schemas.openxmlformats.org/officeDocument/2006/relationships/hyperlink" Target="https://youtu.be/hFVhIdpcWMs" TargetMode="External"/><Relationship Id="rId5" Type="http://schemas.openxmlformats.org/officeDocument/2006/relationships/hyperlink" Target="https://youtu.be/REPLACE_ME" TargetMode="External"/><Relationship Id="rId6" Type="http://schemas.openxmlformats.org/officeDocument/2006/relationships/hyperlink" Target="https://youtu.be/hFVhIdpcWM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https://github.com/SaiMulagan/mobydick" TargetMode="External"/><Relationship Id="rId4" Type="http://schemas.openxmlformats.org/officeDocument/2006/relationships/hyperlink" Target="https://github.com/SaiMulagan/mobydick" TargetMode="External"/><Relationship Id="rId5" Type="http://schemas.openxmlformats.org/officeDocument/2006/relationships/hyperlink" Target="https://youtu.be/REPLACE_ME" TargetMode="External"/><Relationship Id="rId6" Type="http://schemas.openxmlformats.org/officeDocument/2006/relationships/hyperlink" Target="https://github.com/SaiMulagan/mobydick/blob/main/context/ARCHITECTURE.md" TargetMode="External"/><Relationship Id="rId7" Type="http://schemas.openxmlformats.org/officeDocument/2006/relationships/hyperlink" Target="https://github.com/SaiMulagan/mobydick/blob/main/context/ARCHITECTURE.md" TargetMode="External"/><Relationship Id="rId8" Type="http://schemas.openxmlformats.org/officeDocument/2006/relationships/hyperlink" Target="https://github.com/SaiMulagan/mobydick/blob/main/pipeline.py" TargetMode="External"/><Relationship Id="rId9" Type="http://schemas.openxmlformats.org/officeDocument/2006/relationships/hyperlink" Target="https://github.com/SaiMulagan/mobydick/blob/main/pipeline.p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1120"/>
        </a:solidFill>
      </p:bgPr>
    </p:bg>
    <p:spTree>
      <p:nvGrpSpPr>
        <p:cNvPr id="222" name="Shape 222"/>
        <p:cNvGrpSpPr/>
        <p:nvPr/>
      </p:nvGrpSpPr>
      <p:grpSpPr>
        <a:xfrm>
          <a:off x="0" y="0"/>
          <a:ext cx="0" cy="0"/>
          <a:chOff x="0" y="0"/>
          <a:chExt cx="0" cy="0"/>
        </a:xfrm>
      </p:grpSpPr>
      <p:sp>
        <p:nvSpPr>
          <p:cNvPr id="223" name="Google Shape;223;p33"/>
          <p:cNvSpPr/>
          <p:nvPr/>
        </p:nvSpPr>
        <p:spPr>
          <a:xfrm>
            <a:off x="457200" y="1188720"/>
            <a:ext cx="8229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6"/>
              </a:buClr>
              <a:buSzPts val="1400"/>
              <a:buFont typeface="Calibri"/>
              <a:buNone/>
            </a:pPr>
            <a:r>
              <a:rPr b="1" i="0" lang="en-US" sz="1400" u="none" cap="none" strike="noStrike">
                <a:solidFill>
                  <a:srgbClr val="D9D9D6"/>
                </a:solidFill>
                <a:latin typeface="Calibri"/>
                <a:ea typeface="Calibri"/>
                <a:cs typeface="Calibri"/>
                <a:sym typeface="Calibri"/>
              </a:rPr>
              <a:t>TECHNICAL  PRESENTATION</a:t>
            </a:r>
            <a:endParaRPr b="0" i="0" sz="1400" u="none" cap="none" strike="noStrike">
              <a:solidFill>
                <a:schemeClr val="dk1"/>
              </a:solidFill>
              <a:latin typeface="Calibri"/>
              <a:ea typeface="Calibri"/>
              <a:cs typeface="Calibri"/>
              <a:sym typeface="Calibri"/>
            </a:endParaRPr>
          </a:p>
        </p:txBody>
      </p:sp>
      <p:sp>
        <p:nvSpPr>
          <p:cNvPr id="224" name="Google Shape;224;p33"/>
          <p:cNvSpPr/>
          <p:nvPr/>
        </p:nvSpPr>
        <p:spPr>
          <a:xfrm>
            <a:off x="457200" y="1600200"/>
            <a:ext cx="8229600" cy="109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DEDED"/>
              </a:buClr>
              <a:buSzPts val="4800"/>
              <a:buFont typeface="Georgia"/>
              <a:buNone/>
            </a:pPr>
            <a:r>
              <a:rPr b="1" i="1" lang="en-US" sz="4800" u="none" cap="none" strike="noStrike">
                <a:solidFill>
                  <a:srgbClr val="EDEDED"/>
                </a:solidFill>
                <a:latin typeface="Georgia"/>
                <a:ea typeface="Georgia"/>
                <a:cs typeface="Georgia"/>
                <a:sym typeface="Georgia"/>
              </a:rPr>
              <a:t>Moby Dicks · Technical</a:t>
            </a:r>
            <a:endParaRPr b="0" i="0" sz="4800" u="none" cap="none" strike="noStrike">
              <a:solidFill>
                <a:schemeClr val="dk1"/>
              </a:solidFill>
              <a:latin typeface="Calibri"/>
              <a:ea typeface="Calibri"/>
              <a:cs typeface="Calibri"/>
              <a:sym typeface="Calibri"/>
            </a:endParaRPr>
          </a:p>
        </p:txBody>
      </p:sp>
      <p:sp>
        <p:nvSpPr>
          <p:cNvPr id="225" name="Google Shape;225;p33"/>
          <p:cNvSpPr/>
          <p:nvPr/>
        </p:nvSpPr>
        <p:spPr>
          <a:xfrm>
            <a:off x="475488" y="2834640"/>
            <a:ext cx="548700" cy="36600"/>
          </a:xfrm>
          <a:prstGeom prst="rect">
            <a:avLst/>
          </a:prstGeom>
          <a:solidFill>
            <a:srgbClr val="D9D9D6"/>
          </a:solidFill>
          <a:ln cap="flat" cmpd="sng" w="12700">
            <a:solidFill>
              <a:srgbClr val="D9D9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3"/>
          <p:cNvSpPr/>
          <p:nvPr/>
        </p:nvSpPr>
        <p:spPr>
          <a:xfrm>
            <a:off x="457200" y="2971800"/>
            <a:ext cx="8229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6"/>
              </a:buClr>
              <a:buSzPts val="1800"/>
              <a:buFont typeface="Georgia"/>
              <a:buNone/>
            </a:pPr>
            <a:r>
              <a:rPr b="0" i="1" lang="en-US" sz="1800" u="none" cap="none" strike="noStrike">
                <a:solidFill>
                  <a:srgbClr val="D9D9D6"/>
                </a:solidFill>
                <a:latin typeface="Georgia"/>
                <a:ea typeface="Georgia"/>
                <a:cs typeface="Georgia"/>
                <a:sym typeface="Georgia"/>
              </a:rPr>
              <a:t>Data · models · architecture · testing · demo</a:t>
            </a:r>
            <a:endParaRPr b="0" i="0" sz="1800" u="none" cap="none" strike="noStrike">
              <a:solidFill>
                <a:schemeClr val="dk1"/>
              </a:solidFill>
              <a:latin typeface="Calibri"/>
              <a:ea typeface="Calibri"/>
              <a:cs typeface="Calibri"/>
              <a:sym typeface="Calibri"/>
            </a:endParaRPr>
          </a:p>
        </p:txBody>
      </p:sp>
      <p:sp>
        <p:nvSpPr>
          <p:cNvPr id="227" name="Google Shape;227;p33"/>
          <p:cNvSpPr/>
          <p:nvPr/>
        </p:nvSpPr>
        <p:spPr>
          <a:xfrm>
            <a:off x="457200" y="4023360"/>
            <a:ext cx="8229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6"/>
              </a:buClr>
              <a:buSzPts val="1100"/>
              <a:buFont typeface="Calibri"/>
              <a:buNone/>
            </a:pPr>
            <a:r>
              <a:rPr b="0" i="1" lang="en-US" sz="1100" u="none" cap="none" strike="noStrike">
                <a:solidFill>
                  <a:srgbClr val="D9D9D6"/>
                </a:solidFill>
                <a:latin typeface="Calibri"/>
                <a:ea typeface="Calibri"/>
                <a:cs typeface="Calibri"/>
                <a:sym typeface="Calibri"/>
              </a:rPr>
              <a:t>Final system design and technical artifacts for the Advanced MLOps technical milestone.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232" name="Shape 232"/>
        <p:cNvGrpSpPr/>
        <p:nvPr/>
      </p:nvGrpSpPr>
      <p:grpSpPr>
        <a:xfrm>
          <a:off x="0" y="0"/>
          <a:ext cx="0" cy="0"/>
          <a:chOff x="0" y="0"/>
          <a:chExt cx="0" cy="0"/>
        </a:xfrm>
      </p:grpSpPr>
      <p:sp>
        <p:nvSpPr>
          <p:cNvPr id="233" name="Google Shape;233;p34"/>
          <p:cNvSpPr/>
          <p:nvPr/>
        </p:nvSpPr>
        <p:spPr>
          <a:xfrm>
            <a:off x="8275320" y="274320"/>
            <a:ext cx="164700" cy="164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4"/>
          <p:cNvSpPr/>
          <p:nvPr/>
        </p:nvSpPr>
        <p:spPr>
          <a:xfrm>
            <a:off x="6675120" y="246888"/>
            <a:ext cx="15546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235" name="Google Shape;235;p34"/>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INTRODUCTION</a:t>
            </a:r>
            <a:endParaRPr b="0" i="0" sz="1000" u="none" cap="none" strike="noStrike">
              <a:solidFill>
                <a:schemeClr val="dk1"/>
              </a:solidFill>
              <a:latin typeface="Calibri"/>
              <a:ea typeface="Calibri"/>
              <a:cs typeface="Calibri"/>
              <a:sym typeface="Calibri"/>
            </a:endParaRPr>
          </a:p>
        </p:txBody>
      </p:sp>
      <p:sp>
        <p:nvSpPr>
          <p:cNvPr id="236" name="Google Shape;236;p34"/>
          <p:cNvSpPr/>
          <p:nvPr/>
        </p:nvSpPr>
        <p:spPr>
          <a:xfrm>
            <a:off x="457200" y="502920"/>
            <a:ext cx="82296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What we built, in 30 seconds.</a:t>
            </a:r>
            <a:endParaRPr b="0" i="0" sz="2800" u="none" cap="none" strike="noStrike">
              <a:solidFill>
                <a:schemeClr val="dk1"/>
              </a:solidFill>
              <a:latin typeface="Calibri"/>
              <a:ea typeface="Calibri"/>
              <a:cs typeface="Calibri"/>
              <a:sym typeface="Calibri"/>
            </a:endParaRPr>
          </a:p>
        </p:txBody>
      </p:sp>
      <p:sp>
        <p:nvSpPr>
          <p:cNvPr id="237" name="Google Shape;237;p34"/>
          <p:cNvSpPr/>
          <p:nvPr/>
        </p:nvSpPr>
        <p:spPr>
          <a:xfrm>
            <a:off x="457200" y="1325880"/>
            <a:ext cx="82296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2200"/>
              <a:buFont typeface="Georgia"/>
              <a:buNone/>
            </a:pPr>
            <a:r>
              <a:rPr b="1" i="1" lang="en-US" sz="2200" u="none" cap="none" strike="noStrike">
                <a:solidFill>
                  <a:srgbClr val="441120"/>
                </a:solidFill>
                <a:latin typeface="Georgia"/>
                <a:ea typeface="Georgia"/>
                <a:cs typeface="Georgia"/>
                <a:sym typeface="Georgia"/>
              </a:rPr>
              <a:t>Moby Dicks is a reading-curriculum generator.</a:t>
            </a:r>
            <a:endParaRPr b="0" i="0" sz="2200" u="none" cap="none" strike="noStrike">
              <a:solidFill>
                <a:schemeClr val="dk1"/>
              </a:solidFill>
              <a:latin typeface="Calibri"/>
              <a:ea typeface="Calibri"/>
              <a:cs typeface="Calibri"/>
              <a:sym typeface="Calibri"/>
            </a:endParaRPr>
          </a:p>
        </p:txBody>
      </p:sp>
      <p:sp>
        <p:nvSpPr>
          <p:cNvPr id="238" name="Google Shape;238;p34"/>
          <p:cNvSpPr/>
          <p:nvPr/>
        </p:nvSpPr>
        <p:spPr>
          <a:xfrm>
            <a:off x="457200" y="1874520"/>
            <a:ext cx="82296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300"/>
              <a:buFont typeface="Calibri"/>
              <a:buNone/>
            </a:pPr>
            <a:r>
              <a:rPr b="0" i="0" lang="en-US" sz="1300" u="none" cap="none" strike="noStrike">
                <a:solidFill>
                  <a:srgbClr val="1F1F1F"/>
                </a:solidFill>
                <a:latin typeface="Calibri"/>
                <a:ea typeface="Calibri"/>
                <a:cs typeface="Calibri"/>
                <a:sym typeface="Calibri"/>
              </a:rPr>
              <a:t>A user submits a topic, a time budget, and a difficulty level. The app returns a five-book curriculum with written reasoning and a per-book check-in loop that informs future recommendations.</a:t>
            </a:r>
            <a:endParaRPr b="0" i="0" sz="1300" u="none" cap="none" strike="noStrike">
              <a:solidFill>
                <a:schemeClr val="dk1"/>
              </a:solidFill>
              <a:latin typeface="Calibri"/>
              <a:ea typeface="Calibri"/>
              <a:cs typeface="Calibri"/>
              <a:sym typeface="Calibri"/>
            </a:endParaRPr>
          </a:p>
        </p:txBody>
      </p:sp>
      <p:sp>
        <p:nvSpPr>
          <p:cNvPr id="239" name="Google Shape;239;p34"/>
          <p:cNvSpPr/>
          <p:nvPr/>
        </p:nvSpPr>
        <p:spPr>
          <a:xfrm>
            <a:off x="457200" y="2926080"/>
            <a:ext cx="2697600" cy="169170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4"/>
          <p:cNvSpPr/>
          <p:nvPr/>
        </p:nvSpPr>
        <p:spPr>
          <a:xfrm>
            <a:off x="457200" y="2926080"/>
            <a:ext cx="73200" cy="1691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4"/>
          <p:cNvSpPr/>
          <p:nvPr/>
        </p:nvSpPr>
        <p:spPr>
          <a:xfrm>
            <a:off x="640080" y="3035808"/>
            <a:ext cx="2377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INPUT</a:t>
            </a:r>
            <a:endParaRPr b="0" i="0" sz="900" u="none" cap="none" strike="noStrike">
              <a:solidFill>
                <a:schemeClr val="dk1"/>
              </a:solidFill>
              <a:latin typeface="Calibri"/>
              <a:ea typeface="Calibri"/>
              <a:cs typeface="Calibri"/>
              <a:sym typeface="Calibri"/>
            </a:endParaRPr>
          </a:p>
        </p:txBody>
      </p:sp>
      <p:sp>
        <p:nvSpPr>
          <p:cNvPr id="242" name="Google Shape;242;p34"/>
          <p:cNvSpPr/>
          <p:nvPr/>
        </p:nvSpPr>
        <p:spPr>
          <a:xfrm>
            <a:off x="640080" y="3273552"/>
            <a:ext cx="2377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400"/>
              <a:buFont typeface="Georgia"/>
              <a:buNone/>
            </a:pPr>
            <a:r>
              <a:rPr b="1" i="1" lang="en-US" sz="1400" u="none" cap="none" strike="noStrike">
                <a:solidFill>
                  <a:srgbClr val="441120"/>
                </a:solidFill>
                <a:latin typeface="Georgia"/>
                <a:ea typeface="Georgia"/>
                <a:cs typeface="Georgia"/>
                <a:sym typeface="Georgia"/>
              </a:rPr>
              <a:t>One survey, three fields</a:t>
            </a:r>
            <a:endParaRPr b="0" i="0" sz="1400" u="none" cap="none" strike="noStrike">
              <a:solidFill>
                <a:schemeClr val="dk1"/>
              </a:solidFill>
              <a:latin typeface="Calibri"/>
              <a:ea typeface="Calibri"/>
              <a:cs typeface="Calibri"/>
              <a:sym typeface="Calibri"/>
            </a:endParaRPr>
          </a:p>
        </p:txBody>
      </p:sp>
      <p:sp>
        <p:nvSpPr>
          <p:cNvPr id="243" name="Google Shape;243;p34"/>
          <p:cNvSpPr/>
          <p:nvPr/>
        </p:nvSpPr>
        <p:spPr>
          <a:xfrm>
            <a:off x="640080" y="3703320"/>
            <a:ext cx="2377500" cy="86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Topic · time-to-read · difficulty. No 8-message ChatGPT thread.</a:t>
            </a:r>
            <a:endParaRPr b="0" i="0" sz="1100" u="none" cap="none" strike="noStrike">
              <a:solidFill>
                <a:schemeClr val="dk1"/>
              </a:solidFill>
              <a:latin typeface="Calibri"/>
              <a:ea typeface="Calibri"/>
              <a:cs typeface="Calibri"/>
              <a:sym typeface="Calibri"/>
            </a:endParaRPr>
          </a:p>
        </p:txBody>
      </p:sp>
      <p:sp>
        <p:nvSpPr>
          <p:cNvPr id="244" name="Google Shape;244;p34"/>
          <p:cNvSpPr/>
          <p:nvPr/>
        </p:nvSpPr>
        <p:spPr>
          <a:xfrm>
            <a:off x="3337560" y="2926080"/>
            <a:ext cx="2697600" cy="169170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4"/>
          <p:cNvSpPr/>
          <p:nvPr/>
        </p:nvSpPr>
        <p:spPr>
          <a:xfrm>
            <a:off x="3337560" y="2926080"/>
            <a:ext cx="73200" cy="1691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4"/>
          <p:cNvSpPr/>
          <p:nvPr/>
        </p:nvSpPr>
        <p:spPr>
          <a:xfrm>
            <a:off x="3520440" y="3035808"/>
            <a:ext cx="2377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ENGINE</a:t>
            </a:r>
            <a:endParaRPr b="0" i="0" sz="900" u="none" cap="none" strike="noStrike">
              <a:solidFill>
                <a:schemeClr val="dk1"/>
              </a:solidFill>
              <a:latin typeface="Calibri"/>
              <a:ea typeface="Calibri"/>
              <a:cs typeface="Calibri"/>
              <a:sym typeface="Calibri"/>
            </a:endParaRPr>
          </a:p>
        </p:txBody>
      </p:sp>
      <p:sp>
        <p:nvSpPr>
          <p:cNvPr id="247" name="Google Shape;247;p34"/>
          <p:cNvSpPr/>
          <p:nvPr/>
        </p:nvSpPr>
        <p:spPr>
          <a:xfrm>
            <a:off x="3520440" y="3273552"/>
            <a:ext cx="2377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400"/>
              <a:buFont typeface="Georgia"/>
              <a:buNone/>
            </a:pPr>
            <a:r>
              <a:rPr b="1" i="1" lang="en-US" sz="1400" u="none" cap="none" strike="noStrike">
                <a:solidFill>
                  <a:srgbClr val="441120"/>
                </a:solidFill>
                <a:latin typeface="Georgia"/>
                <a:ea typeface="Georgia"/>
                <a:cs typeface="Georgia"/>
                <a:sym typeface="Georgia"/>
              </a:rPr>
              <a:t>Two Gemini Flash calls</a:t>
            </a:r>
            <a:endParaRPr b="0" i="0" sz="1400" u="none" cap="none" strike="noStrike">
              <a:solidFill>
                <a:schemeClr val="dk1"/>
              </a:solidFill>
              <a:latin typeface="Calibri"/>
              <a:ea typeface="Calibri"/>
              <a:cs typeface="Calibri"/>
              <a:sym typeface="Calibri"/>
            </a:endParaRPr>
          </a:p>
        </p:txBody>
      </p:sp>
      <p:sp>
        <p:nvSpPr>
          <p:cNvPr id="248" name="Google Shape;248;p34"/>
          <p:cNvSpPr/>
          <p:nvPr/>
        </p:nvSpPr>
        <p:spPr>
          <a:xfrm>
            <a:off x="3520440" y="3703320"/>
            <a:ext cx="2377500" cy="86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Extract → fetch → curate. Grounded in a 2.3M-book BigQuery catalog + Reddit signal.</a:t>
            </a:r>
            <a:endParaRPr b="0" i="0" sz="1100" u="none" cap="none" strike="noStrike">
              <a:solidFill>
                <a:schemeClr val="dk1"/>
              </a:solidFill>
              <a:latin typeface="Calibri"/>
              <a:ea typeface="Calibri"/>
              <a:cs typeface="Calibri"/>
              <a:sym typeface="Calibri"/>
            </a:endParaRPr>
          </a:p>
        </p:txBody>
      </p:sp>
      <p:sp>
        <p:nvSpPr>
          <p:cNvPr id="249" name="Google Shape;249;p34"/>
          <p:cNvSpPr/>
          <p:nvPr/>
        </p:nvSpPr>
        <p:spPr>
          <a:xfrm>
            <a:off x="6217920" y="2926080"/>
            <a:ext cx="2697600" cy="169170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34"/>
          <p:cNvSpPr/>
          <p:nvPr/>
        </p:nvSpPr>
        <p:spPr>
          <a:xfrm>
            <a:off x="6217920" y="2926080"/>
            <a:ext cx="73200" cy="1691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4"/>
          <p:cNvSpPr/>
          <p:nvPr/>
        </p:nvSpPr>
        <p:spPr>
          <a:xfrm>
            <a:off x="6400800" y="3035808"/>
            <a:ext cx="23775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OUTPUT</a:t>
            </a:r>
            <a:endParaRPr b="0" i="0" sz="900" u="none" cap="none" strike="noStrike">
              <a:solidFill>
                <a:schemeClr val="dk1"/>
              </a:solidFill>
              <a:latin typeface="Calibri"/>
              <a:ea typeface="Calibri"/>
              <a:cs typeface="Calibri"/>
              <a:sym typeface="Calibri"/>
            </a:endParaRPr>
          </a:p>
        </p:txBody>
      </p:sp>
      <p:sp>
        <p:nvSpPr>
          <p:cNvPr id="252" name="Google Shape;252;p34"/>
          <p:cNvSpPr/>
          <p:nvPr/>
        </p:nvSpPr>
        <p:spPr>
          <a:xfrm>
            <a:off x="6400800" y="3273552"/>
            <a:ext cx="2377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400"/>
              <a:buFont typeface="Georgia"/>
              <a:buNone/>
            </a:pPr>
            <a:r>
              <a:rPr b="1" i="1" lang="en-US" sz="1400" u="none" cap="none" strike="noStrike">
                <a:solidFill>
                  <a:srgbClr val="441120"/>
                </a:solidFill>
                <a:latin typeface="Georgia"/>
                <a:ea typeface="Georgia"/>
                <a:cs typeface="Georgia"/>
                <a:sym typeface="Georgia"/>
              </a:rPr>
              <a:t>Five-book curriculum</a:t>
            </a:r>
            <a:endParaRPr b="0" i="0" sz="1400" u="none" cap="none" strike="noStrike">
              <a:solidFill>
                <a:schemeClr val="dk1"/>
              </a:solidFill>
              <a:latin typeface="Calibri"/>
              <a:ea typeface="Calibri"/>
              <a:cs typeface="Calibri"/>
              <a:sym typeface="Calibri"/>
            </a:endParaRPr>
          </a:p>
        </p:txBody>
      </p:sp>
      <p:sp>
        <p:nvSpPr>
          <p:cNvPr id="253" name="Google Shape;253;p34"/>
          <p:cNvSpPr/>
          <p:nvPr/>
        </p:nvSpPr>
        <p:spPr>
          <a:xfrm>
            <a:off x="6400800" y="3703320"/>
            <a:ext cx="2377500" cy="86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Five picks with reasoning, plus per-pick check-ins and a dashboard. ~5 s on a cache hit.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258" name="Shape 258"/>
        <p:cNvGrpSpPr/>
        <p:nvPr/>
      </p:nvGrpSpPr>
      <p:grpSpPr>
        <a:xfrm>
          <a:off x="0" y="0"/>
          <a:ext cx="0" cy="0"/>
          <a:chOff x="0" y="0"/>
          <a:chExt cx="0" cy="0"/>
        </a:xfrm>
      </p:grpSpPr>
      <p:sp>
        <p:nvSpPr>
          <p:cNvPr id="259" name="Google Shape;259;p35"/>
          <p:cNvSpPr/>
          <p:nvPr/>
        </p:nvSpPr>
        <p:spPr>
          <a:xfrm>
            <a:off x="8275320" y="274320"/>
            <a:ext cx="164700" cy="164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35"/>
          <p:cNvSpPr/>
          <p:nvPr/>
        </p:nvSpPr>
        <p:spPr>
          <a:xfrm>
            <a:off x="6675120" y="246888"/>
            <a:ext cx="15546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261" name="Google Shape;261;p35"/>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STACK</a:t>
            </a:r>
            <a:endParaRPr b="0" i="0" sz="1000" u="none" cap="none" strike="noStrike">
              <a:solidFill>
                <a:schemeClr val="dk1"/>
              </a:solidFill>
              <a:latin typeface="Calibri"/>
              <a:ea typeface="Calibri"/>
              <a:cs typeface="Calibri"/>
              <a:sym typeface="Calibri"/>
            </a:endParaRPr>
          </a:p>
        </p:txBody>
      </p:sp>
      <p:sp>
        <p:nvSpPr>
          <p:cNvPr id="262" name="Google Shape;262;p35"/>
          <p:cNvSpPr/>
          <p:nvPr/>
        </p:nvSpPr>
        <p:spPr>
          <a:xfrm>
            <a:off x="457200" y="502920"/>
            <a:ext cx="82296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GCP services + the four required pieces (Docker · CI/CD · Cloud · MLflow).</a:t>
            </a:r>
            <a:endParaRPr b="0" i="0" sz="2800" u="none" cap="none" strike="noStrike">
              <a:solidFill>
                <a:schemeClr val="dk1"/>
              </a:solidFill>
              <a:latin typeface="Calibri"/>
              <a:ea typeface="Calibri"/>
              <a:cs typeface="Calibri"/>
              <a:sym typeface="Calibri"/>
            </a:endParaRPr>
          </a:p>
        </p:txBody>
      </p:sp>
      <p:sp>
        <p:nvSpPr>
          <p:cNvPr id="263" name="Google Shape;263;p35"/>
          <p:cNvSpPr/>
          <p:nvPr/>
        </p:nvSpPr>
        <p:spPr>
          <a:xfrm>
            <a:off x="457200" y="1188720"/>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5"/>
          <p:cNvSpPr/>
          <p:nvPr/>
        </p:nvSpPr>
        <p:spPr>
          <a:xfrm>
            <a:off x="457200" y="1188720"/>
            <a:ext cx="73200"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5"/>
          <p:cNvSpPr/>
          <p:nvPr/>
        </p:nvSpPr>
        <p:spPr>
          <a:xfrm>
            <a:off x="685800" y="1234440"/>
            <a:ext cx="2834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FRONTEND + BACKEND</a:t>
            </a:r>
            <a:endParaRPr b="0" i="0" sz="800" u="none" cap="none" strike="noStrike">
              <a:solidFill>
                <a:schemeClr val="dk1"/>
              </a:solidFill>
              <a:latin typeface="Calibri"/>
              <a:ea typeface="Calibri"/>
              <a:cs typeface="Calibri"/>
              <a:sym typeface="Calibri"/>
            </a:endParaRPr>
          </a:p>
        </p:txBody>
      </p:sp>
      <p:sp>
        <p:nvSpPr>
          <p:cNvPr id="266" name="Google Shape;266;p35"/>
          <p:cNvSpPr/>
          <p:nvPr/>
        </p:nvSpPr>
        <p:spPr>
          <a:xfrm>
            <a:off x="685800" y="1389888"/>
            <a:ext cx="2926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Reflex</a:t>
            </a:r>
            <a:endParaRPr b="0" i="0" sz="1200" u="none" cap="none" strike="noStrike">
              <a:solidFill>
                <a:schemeClr val="dk1"/>
              </a:solidFill>
              <a:latin typeface="Calibri"/>
              <a:ea typeface="Calibri"/>
              <a:cs typeface="Calibri"/>
              <a:sym typeface="Calibri"/>
            </a:endParaRPr>
          </a:p>
        </p:txBody>
      </p:sp>
      <p:sp>
        <p:nvSpPr>
          <p:cNvPr id="267" name="Google Shape;267;p35"/>
          <p:cNvSpPr/>
          <p:nvPr/>
        </p:nvSpPr>
        <p:spPr>
          <a:xfrm>
            <a:off x="3703320" y="1280160"/>
            <a:ext cx="4846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Pure-Python UI, compiles to React. No JS.</a:t>
            </a:r>
            <a:endParaRPr b="0" i="0" sz="1000" u="none" cap="none" strike="noStrike">
              <a:solidFill>
                <a:schemeClr val="dk1"/>
              </a:solidFill>
              <a:latin typeface="Calibri"/>
              <a:ea typeface="Calibri"/>
              <a:cs typeface="Calibri"/>
              <a:sym typeface="Calibri"/>
            </a:endParaRPr>
          </a:p>
        </p:txBody>
      </p:sp>
      <p:sp>
        <p:nvSpPr>
          <p:cNvPr id="268" name="Google Shape;268;p35"/>
          <p:cNvSpPr/>
          <p:nvPr/>
        </p:nvSpPr>
        <p:spPr>
          <a:xfrm>
            <a:off x="457200" y="1709928"/>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35"/>
          <p:cNvSpPr/>
          <p:nvPr/>
        </p:nvSpPr>
        <p:spPr>
          <a:xfrm>
            <a:off x="457200" y="1709928"/>
            <a:ext cx="73200"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5"/>
          <p:cNvSpPr/>
          <p:nvPr/>
        </p:nvSpPr>
        <p:spPr>
          <a:xfrm>
            <a:off x="685800" y="1755648"/>
            <a:ext cx="2834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DATA WAREHOUSE</a:t>
            </a:r>
            <a:endParaRPr b="0" i="0" sz="800" u="none" cap="none" strike="noStrike">
              <a:solidFill>
                <a:schemeClr val="dk1"/>
              </a:solidFill>
              <a:latin typeface="Calibri"/>
              <a:ea typeface="Calibri"/>
              <a:cs typeface="Calibri"/>
              <a:sym typeface="Calibri"/>
            </a:endParaRPr>
          </a:p>
        </p:txBody>
      </p:sp>
      <p:sp>
        <p:nvSpPr>
          <p:cNvPr id="271" name="Google Shape;271;p35"/>
          <p:cNvSpPr/>
          <p:nvPr/>
        </p:nvSpPr>
        <p:spPr>
          <a:xfrm>
            <a:off x="685800" y="1911096"/>
            <a:ext cx="2926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BigQuery</a:t>
            </a:r>
            <a:endParaRPr b="0" i="0" sz="1200" u="none" cap="none" strike="noStrike">
              <a:solidFill>
                <a:schemeClr val="dk1"/>
              </a:solidFill>
              <a:latin typeface="Calibri"/>
              <a:ea typeface="Calibri"/>
              <a:cs typeface="Calibri"/>
              <a:sym typeface="Calibri"/>
            </a:endParaRPr>
          </a:p>
        </p:txBody>
      </p:sp>
      <p:sp>
        <p:nvSpPr>
          <p:cNvPr id="272" name="Google Shape;272;p35"/>
          <p:cNvSpPr/>
          <p:nvPr/>
        </p:nvSpPr>
        <p:spPr>
          <a:xfrm>
            <a:off x="3703320" y="1801368"/>
            <a:ext cx="4846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2.3M Goodreads books + 498 Reddit posts; parameterized SQL pool.</a:t>
            </a:r>
            <a:endParaRPr b="0" i="0" sz="1000" u="none" cap="none" strike="noStrike">
              <a:solidFill>
                <a:schemeClr val="dk1"/>
              </a:solidFill>
              <a:latin typeface="Calibri"/>
              <a:ea typeface="Calibri"/>
              <a:cs typeface="Calibri"/>
              <a:sym typeface="Calibri"/>
            </a:endParaRPr>
          </a:p>
        </p:txBody>
      </p:sp>
      <p:sp>
        <p:nvSpPr>
          <p:cNvPr id="273" name="Google Shape;273;p35"/>
          <p:cNvSpPr/>
          <p:nvPr/>
        </p:nvSpPr>
        <p:spPr>
          <a:xfrm>
            <a:off x="457200" y="2231136"/>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5"/>
          <p:cNvSpPr/>
          <p:nvPr/>
        </p:nvSpPr>
        <p:spPr>
          <a:xfrm>
            <a:off x="457200" y="2231136"/>
            <a:ext cx="73200"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5"/>
          <p:cNvSpPr/>
          <p:nvPr/>
        </p:nvSpPr>
        <p:spPr>
          <a:xfrm>
            <a:off x="685800" y="2276856"/>
            <a:ext cx="2834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LLM</a:t>
            </a:r>
            <a:endParaRPr b="0" i="0" sz="800" u="none" cap="none" strike="noStrike">
              <a:solidFill>
                <a:schemeClr val="dk1"/>
              </a:solidFill>
              <a:latin typeface="Calibri"/>
              <a:ea typeface="Calibri"/>
              <a:cs typeface="Calibri"/>
              <a:sym typeface="Calibri"/>
            </a:endParaRPr>
          </a:p>
        </p:txBody>
      </p:sp>
      <p:sp>
        <p:nvSpPr>
          <p:cNvPr id="276" name="Google Shape;276;p35"/>
          <p:cNvSpPr/>
          <p:nvPr/>
        </p:nvSpPr>
        <p:spPr>
          <a:xfrm>
            <a:off x="685800" y="2432304"/>
            <a:ext cx="2926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Vertex AI · Gemini Flash</a:t>
            </a:r>
            <a:endParaRPr b="0" i="0" sz="1200" u="none" cap="none" strike="noStrike">
              <a:solidFill>
                <a:schemeClr val="dk1"/>
              </a:solidFill>
              <a:latin typeface="Calibri"/>
              <a:ea typeface="Calibri"/>
              <a:cs typeface="Calibri"/>
              <a:sym typeface="Calibri"/>
            </a:endParaRPr>
          </a:p>
        </p:txBody>
      </p:sp>
      <p:sp>
        <p:nvSpPr>
          <p:cNvPr id="277" name="Google Shape;277;p35"/>
          <p:cNvSpPr/>
          <p:nvPr/>
        </p:nvSpPr>
        <p:spPr>
          <a:xfrm>
            <a:off x="3703320" y="2322576"/>
            <a:ext cx="4846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Two structured-JSON calls per request; model gemini-2.5-flash.</a:t>
            </a:r>
            <a:endParaRPr b="0" i="0" sz="1000" u="none" cap="none" strike="noStrike">
              <a:solidFill>
                <a:schemeClr val="dk1"/>
              </a:solidFill>
              <a:latin typeface="Calibri"/>
              <a:ea typeface="Calibri"/>
              <a:cs typeface="Calibri"/>
              <a:sym typeface="Calibri"/>
            </a:endParaRPr>
          </a:p>
        </p:txBody>
      </p:sp>
      <p:sp>
        <p:nvSpPr>
          <p:cNvPr id="278" name="Google Shape;278;p35"/>
          <p:cNvSpPr/>
          <p:nvPr/>
        </p:nvSpPr>
        <p:spPr>
          <a:xfrm>
            <a:off x="457200" y="2752344"/>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35"/>
          <p:cNvSpPr/>
          <p:nvPr/>
        </p:nvSpPr>
        <p:spPr>
          <a:xfrm>
            <a:off x="457200" y="2752344"/>
            <a:ext cx="73200"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35"/>
          <p:cNvSpPr/>
          <p:nvPr/>
        </p:nvSpPr>
        <p:spPr>
          <a:xfrm>
            <a:off x="685800" y="2798064"/>
            <a:ext cx="2834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CONTAINERIZATION</a:t>
            </a:r>
            <a:endParaRPr b="0" i="0" sz="800" u="none" cap="none" strike="noStrike">
              <a:solidFill>
                <a:schemeClr val="dk1"/>
              </a:solidFill>
              <a:latin typeface="Calibri"/>
              <a:ea typeface="Calibri"/>
              <a:cs typeface="Calibri"/>
              <a:sym typeface="Calibri"/>
            </a:endParaRPr>
          </a:p>
        </p:txBody>
      </p:sp>
      <p:sp>
        <p:nvSpPr>
          <p:cNvPr id="281" name="Google Shape;281;p35"/>
          <p:cNvSpPr/>
          <p:nvPr/>
        </p:nvSpPr>
        <p:spPr>
          <a:xfrm>
            <a:off x="685800" y="2953512"/>
            <a:ext cx="2926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Docker</a:t>
            </a:r>
            <a:endParaRPr b="0" i="0" sz="1200" u="none" cap="none" strike="noStrike">
              <a:solidFill>
                <a:schemeClr val="dk1"/>
              </a:solidFill>
              <a:latin typeface="Calibri"/>
              <a:ea typeface="Calibri"/>
              <a:cs typeface="Calibri"/>
              <a:sym typeface="Calibri"/>
            </a:endParaRPr>
          </a:p>
        </p:txBody>
      </p:sp>
      <p:sp>
        <p:nvSpPr>
          <p:cNvPr id="282" name="Google Shape;282;p35"/>
          <p:cNvSpPr/>
          <p:nvPr/>
        </p:nvSpPr>
        <p:spPr>
          <a:xfrm>
            <a:off x="3703320" y="2843784"/>
            <a:ext cx="4846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Container image targeting Cloud Run; build script in repo root.</a:t>
            </a:r>
            <a:endParaRPr b="0" i="0" sz="1000" u="none" cap="none" strike="noStrike">
              <a:solidFill>
                <a:schemeClr val="dk1"/>
              </a:solidFill>
              <a:latin typeface="Calibri"/>
              <a:ea typeface="Calibri"/>
              <a:cs typeface="Calibri"/>
              <a:sym typeface="Calibri"/>
            </a:endParaRPr>
          </a:p>
        </p:txBody>
      </p:sp>
      <p:sp>
        <p:nvSpPr>
          <p:cNvPr id="283" name="Google Shape;283;p35"/>
          <p:cNvSpPr/>
          <p:nvPr/>
        </p:nvSpPr>
        <p:spPr>
          <a:xfrm>
            <a:off x="457200" y="3273552"/>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35"/>
          <p:cNvSpPr/>
          <p:nvPr/>
        </p:nvSpPr>
        <p:spPr>
          <a:xfrm>
            <a:off x="457200" y="3273552"/>
            <a:ext cx="73200"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35"/>
          <p:cNvSpPr/>
          <p:nvPr/>
        </p:nvSpPr>
        <p:spPr>
          <a:xfrm>
            <a:off x="685800" y="3319272"/>
            <a:ext cx="2834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CI / CD · SCHEDULING</a:t>
            </a:r>
            <a:endParaRPr b="0" i="0" sz="800" u="none" cap="none" strike="noStrike">
              <a:solidFill>
                <a:schemeClr val="dk1"/>
              </a:solidFill>
              <a:latin typeface="Calibri"/>
              <a:ea typeface="Calibri"/>
              <a:cs typeface="Calibri"/>
              <a:sym typeface="Calibri"/>
            </a:endParaRPr>
          </a:p>
        </p:txBody>
      </p:sp>
      <p:sp>
        <p:nvSpPr>
          <p:cNvPr id="286" name="Google Shape;286;p35"/>
          <p:cNvSpPr/>
          <p:nvPr/>
        </p:nvSpPr>
        <p:spPr>
          <a:xfrm>
            <a:off x="685800" y="3474720"/>
            <a:ext cx="2926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GitHub Actions</a:t>
            </a:r>
            <a:endParaRPr b="0" i="0" sz="1200" u="none" cap="none" strike="noStrike">
              <a:solidFill>
                <a:schemeClr val="dk1"/>
              </a:solidFill>
              <a:latin typeface="Calibri"/>
              <a:ea typeface="Calibri"/>
              <a:cs typeface="Calibri"/>
              <a:sym typeface="Calibri"/>
            </a:endParaRPr>
          </a:p>
        </p:txBody>
      </p:sp>
      <p:sp>
        <p:nvSpPr>
          <p:cNvPr id="287" name="Google Shape;287;p35"/>
          <p:cNvSpPr/>
          <p:nvPr/>
        </p:nvSpPr>
        <p:spPr>
          <a:xfrm>
            <a:off x="3703320" y="3364992"/>
            <a:ext cx="4846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Nightly cron + workflow_dispatch run pytest on Ubuntu 24.04.</a:t>
            </a:r>
            <a:endParaRPr b="0" i="0" sz="1000" u="none" cap="none" strike="noStrike">
              <a:solidFill>
                <a:schemeClr val="dk1"/>
              </a:solidFill>
              <a:latin typeface="Calibri"/>
              <a:ea typeface="Calibri"/>
              <a:cs typeface="Calibri"/>
              <a:sym typeface="Calibri"/>
            </a:endParaRPr>
          </a:p>
        </p:txBody>
      </p:sp>
      <p:sp>
        <p:nvSpPr>
          <p:cNvPr id="288" name="Google Shape;288;p35"/>
          <p:cNvSpPr/>
          <p:nvPr/>
        </p:nvSpPr>
        <p:spPr>
          <a:xfrm>
            <a:off x="457200" y="3794760"/>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35"/>
          <p:cNvSpPr/>
          <p:nvPr/>
        </p:nvSpPr>
        <p:spPr>
          <a:xfrm>
            <a:off x="457200" y="3794760"/>
            <a:ext cx="73200"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35"/>
          <p:cNvSpPr/>
          <p:nvPr/>
        </p:nvSpPr>
        <p:spPr>
          <a:xfrm>
            <a:off x="685800" y="3840480"/>
            <a:ext cx="2834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EXPERIMENT TRACKING</a:t>
            </a:r>
            <a:endParaRPr b="0" i="0" sz="800" u="none" cap="none" strike="noStrike">
              <a:solidFill>
                <a:schemeClr val="dk1"/>
              </a:solidFill>
              <a:latin typeface="Calibri"/>
              <a:ea typeface="Calibri"/>
              <a:cs typeface="Calibri"/>
              <a:sym typeface="Calibri"/>
            </a:endParaRPr>
          </a:p>
        </p:txBody>
      </p:sp>
      <p:sp>
        <p:nvSpPr>
          <p:cNvPr id="291" name="Google Shape;291;p35"/>
          <p:cNvSpPr/>
          <p:nvPr/>
        </p:nvSpPr>
        <p:spPr>
          <a:xfrm>
            <a:off x="685800" y="3995928"/>
            <a:ext cx="2926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MLflow</a:t>
            </a:r>
            <a:endParaRPr b="0" i="0" sz="1200" u="none" cap="none" strike="noStrike">
              <a:solidFill>
                <a:schemeClr val="dk1"/>
              </a:solidFill>
              <a:latin typeface="Calibri"/>
              <a:ea typeface="Calibri"/>
              <a:cs typeface="Calibri"/>
              <a:sym typeface="Calibri"/>
            </a:endParaRPr>
          </a:p>
        </p:txBody>
      </p:sp>
      <p:sp>
        <p:nvSpPr>
          <p:cNvPr id="292" name="Google Shape;292;p35"/>
          <p:cNvSpPr/>
          <p:nvPr/>
        </p:nvSpPr>
        <p:spPr>
          <a:xfrm>
            <a:off x="3703320" y="3886200"/>
            <a:ext cx="4846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Run tracking stubbed in CI (MagicMock); planned for Phase 3 reranker.</a:t>
            </a:r>
            <a:endParaRPr b="0" i="0" sz="1000" u="none" cap="none" strike="noStrike">
              <a:solidFill>
                <a:schemeClr val="dk1"/>
              </a:solidFill>
              <a:latin typeface="Calibri"/>
              <a:ea typeface="Calibri"/>
              <a:cs typeface="Calibri"/>
              <a:sym typeface="Calibri"/>
            </a:endParaRPr>
          </a:p>
        </p:txBody>
      </p:sp>
      <p:sp>
        <p:nvSpPr>
          <p:cNvPr id="293" name="Google Shape;293;p35"/>
          <p:cNvSpPr/>
          <p:nvPr/>
        </p:nvSpPr>
        <p:spPr>
          <a:xfrm>
            <a:off x="457200" y="4315968"/>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35"/>
          <p:cNvSpPr/>
          <p:nvPr/>
        </p:nvSpPr>
        <p:spPr>
          <a:xfrm>
            <a:off x="457200" y="4315968"/>
            <a:ext cx="73200"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5"/>
          <p:cNvSpPr/>
          <p:nvPr/>
        </p:nvSpPr>
        <p:spPr>
          <a:xfrm>
            <a:off x="685800" y="4361688"/>
            <a:ext cx="28347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HOSTING + SECRETS</a:t>
            </a:r>
            <a:endParaRPr b="0" i="0" sz="800" u="none" cap="none" strike="noStrike">
              <a:solidFill>
                <a:schemeClr val="dk1"/>
              </a:solidFill>
              <a:latin typeface="Calibri"/>
              <a:ea typeface="Calibri"/>
              <a:cs typeface="Calibri"/>
              <a:sym typeface="Calibri"/>
            </a:endParaRPr>
          </a:p>
        </p:txBody>
      </p:sp>
      <p:sp>
        <p:nvSpPr>
          <p:cNvPr id="296" name="Google Shape;296;p35"/>
          <p:cNvSpPr/>
          <p:nvPr/>
        </p:nvSpPr>
        <p:spPr>
          <a:xfrm>
            <a:off x="685800" y="4517136"/>
            <a:ext cx="2926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Cloud Run + Secret Manager</a:t>
            </a:r>
            <a:endParaRPr b="0" i="0" sz="1200" u="none" cap="none" strike="noStrike">
              <a:solidFill>
                <a:schemeClr val="dk1"/>
              </a:solidFill>
              <a:latin typeface="Calibri"/>
              <a:ea typeface="Calibri"/>
              <a:cs typeface="Calibri"/>
              <a:sym typeface="Calibri"/>
            </a:endParaRPr>
          </a:p>
        </p:txBody>
      </p:sp>
      <p:sp>
        <p:nvSpPr>
          <p:cNvPr id="297" name="Google Shape;297;p35"/>
          <p:cNvSpPr/>
          <p:nvPr/>
        </p:nvSpPr>
        <p:spPr>
          <a:xfrm>
            <a:off x="3703320" y="4407408"/>
            <a:ext cx="4846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Scale-to-zero target; ADC for Vertex AI + BigQuery + Cloud Logging.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302" name="Shape 302"/>
        <p:cNvGrpSpPr/>
        <p:nvPr/>
      </p:nvGrpSpPr>
      <p:grpSpPr>
        <a:xfrm>
          <a:off x="0" y="0"/>
          <a:ext cx="0" cy="0"/>
          <a:chOff x="0" y="0"/>
          <a:chExt cx="0" cy="0"/>
        </a:xfrm>
      </p:grpSpPr>
      <p:sp>
        <p:nvSpPr>
          <p:cNvPr id="303" name="Google Shape;303;p36"/>
          <p:cNvSpPr/>
          <p:nvPr/>
        </p:nvSpPr>
        <p:spPr>
          <a:xfrm>
            <a:off x="8275320" y="274320"/>
            <a:ext cx="164700" cy="164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6"/>
          <p:cNvSpPr/>
          <p:nvPr/>
        </p:nvSpPr>
        <p:spPr>
          <a:xfrm>
            <a:off x="6675120" y="246888"/>
            <a:ext cx="15546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305" name="Google Shape;305;p36"/>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SYSTEM DESIGN</a:t>
            </a:r>
            <a:endParaRPr b="0" i="0" sz="1000" u="none" cap="none" strike="noStrike">
              <a:solidFill>
                <a:schemeClr val="dk1"/>
              </a:solidFill>
              <a:latin typeface="Calibri"/>
              <a:ea typeface="Calibri"/>
              <a:cs typeface="Calibri"/>
              <a:sym typeface="Calibri"/>
            </a:endParaRPr>
          </a:p>
        </p:txBody>
      </p:sp>
      <p:sp>
        <p:nvSpPr>
          <p:cNvPr id="306" name="Google Shape;306;p36"/>
          <p:cNvSpPr/>
          <p:nvPr/>
        </p:nvSpPr>
        <p:spPr>
          <a:xfrm>
            <a:off x="8045683" y="691252"/>
            <a:ext cx="150600" cy="150600"/>
          </a:xfrm>
          <a:prstGeom prst="rect">
            <a:avLst/>
          </a:prstGeom>
          <a:solidFill>
            <a:srgbClr val="441120"/>
          </a:solidFill>
          <a:ln cap="flat" cmpd="sng" w="11600">
            <a:solidFill>
              <a:srgbClr val="441120"/>
            </a:solidFill>
            <a:prstDash val="solid"/>
            <a:round/>
            <a:headEnd len="sm" w="sm" type="none"/>
            <a:tailEnd len="sm" w="sm" type="none"/>
          </a:ln>
        </p:spPr>
        <p:txBody>
          <a:bodyPr anchorCtr="0" anchor="ctr" bIns="83625" lIns="83625" spcFirstLastPara="1" rIns="83625" wrap="square" tIns="836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36"/>
          <p:cNvSpPr/>
          <p:nvPr/>
        </p:nvSpPr>
        <p:spPr>
          <a:xfrm>
            <a:off x="6582026" y="666161"/>
            <a:ext cx="1422000" cy="209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41120"/>
              </a:buClr>
              <a:buSzPts val="823"/>
              <a:buFont typeface="Calibri"/>
              <a:buNone/>
            </a:pPr>
            <a:r>
              <a:rPr b="1" i="0" lang="en-US" sz="823" u="none" cap="none" strike="noStrike">
                <a:solidFill>
                  <a:srgbClr val="441120"/>
                </a:solidFill>
                <a:latin typeface="Calibri"/>
                <a:ea typeface="Calibri"/>
                <a:cs typeface="Calibri"/>
                <a:sym typeface="Calibri"/>
              </a:rPr>
              <a:t>THE MOBY DICKS</a:t>
            </a:r>
            <a:endParaRPr b="0" i="0" sz="823" u="none" cap="none" strike="noStrike">
              <a:solidFill>
                <a:schemeClr val="dk1"/>
              </a:solidFill>
              <a:latin typeface="Calibri"/>
              <a:ea typeface="Calibri"/>
              <a:cs typeface="Calibri"/>
              <a:sym typeface="Calibri"/>
            </a:endParaRPr>
          </a:p>
        </p:txBody>
      </p:sp>
      <p:sp>
        <p:nvSpPr>
          <p:cNvPr id="308" name="Google Shape;308;p36"/>
          <p:cNvSpPr/>
          <p:nvPr/>
        </p:nvSpPr>
        <p:spPr>
          <a:xfrm>
            <a:off x="4503852" y="470250"/>
            <a:ext cx="4305300" cy="4651800"/>
          </a:xfrm>
          <a:prstGeom prst="roundRect">
            <a:avLst>
              <a:gd fmla="val 16667" name="adj"/>
            </a:avLst>
          </a:prstGeom>
          <a:solidFill>
            <a:srgbClr val="B6D7A8"/>
          </a:solidFill>
          <a:ln cap="flat" cmpd="sng" w="26725">
            <a:solidFill>
              <a:srgbClr val="38761D"/>
            </a:solidFill>
            <a:prstDash val="solid"/>
            <a:round/>
            <a:headEnd len="sm" w="sm" type="none"/>
            <a:tailEnd len="sm" w="sm" type="none"/>
          </a:ln>
        </p:spPr>
        <p:txBody>
          <a:bodyPr anchorCtr="0" anchor="ctr" bIns="64075" lIns="64075" spcFirstLastPara="1" rIns="64075" wrap="square" tIns="64075">
            <a:noAutofit/>
          </a:bodyPr>
          <a:lstStyle/>
          <a:p>
            <a:pPr indent="0" lvl="0" marL="0" marR="0" rtl="0" algn="ctr">
              <a:lnSpc>
                <a:spcPct val="100000"/>
              </a:lnSpc>
              <a:spcBef>
                <a:spcPts val="0"/>
              </a:spcBef>
              <a:spcAft>
                <a:spcPts val="0"/>
              </a:spcAft>
              <a:buClr>
                <a:srgbClr val="000000"/>
              </a:buClr>
              <a:buSzPts val="981"/>
              <a:buFont typeface="Arial"/>
              <a:buNone/>
            </a:pPr>
            <a:r>
              <a:t/>
            </a:r>
            <a:endParaRPr b="0" i="0" sz="981" u="none" cap="none" strike="noStrike">
              <a:solidFill>
                <a:srgbClr val="000000"/>
              </a:solidFill>
              <a:latin typeface="Arial"/>
              <a:ea typeface="Arial"/>
              <a:cs typeface="Arial"/>
              <a:sym typeface="Arial"/>
            </a:endParaRPr>
          </a:p>
        </p:txBody>
      </p:sp>
      <p:sp>
        <p:nvSpPr>
          <p:cNvPr id="309" name="Google Shape;309;p36"/>
          <p:cNvSpPr/>
          <p:nvPr/>
        </p:nvSpPr>
        <p:spPr>
          <a:xfrm>
            <a:off x="1520788" y="470227"/>
            <a:ext cx="2804400" cy="4651800"/>
          </a:xfrm>
          <a:prstGeom prst="roundRect">
            <a:avLst>
              <a:gd fmla="val 16667" name="adj"/>
            </a:avLst>
          </a:prstGeom>
          <a:solidFill>
            <a:srgbClr val="B4A7D6"/>
          </a:solidFill>
          <a:ln cap="flat" cmpd="sng" w="26725">
            <a:solidFill>
              <a:srgbClr val="674EA7"/>
            </a:solidFill>
            <a:prstDash val="solid"/>
            <a:round/>
            <a:headEnd len="sm" w="sm" type="none"/>
            <a:tailEnd len="sm" w="sm" type="none"/>
          </a:ln>
        </p:spPr>
        <p:txBody>
          <a:bodyPr anchorCtr="0" anchor="ctr" bIns="64075" lIns="64075" spcFirstLastPara="1" rIns="64075" wrap="square" tIns="64075">
            <a:noAutofit/>
          </a:bodyPr>
          <a:lstStyle/>
          <a:p>
            <a:pPr indent="0" lvl="0" marL="0" marR="0" rtl="0" algn="ctr">
              <a:lnSpc>
                <a:spcPct val="100000"/>
              </a:lnSpc>
              <a:spcBef>
                <a:spcPts val="0"/>
              </a:spcBef>
              <a:spcAft>
                <a:spcPts val="0"/>
              </a:spcAft>
              <a:buClr>
                <a:srgbClr val="000000"/>
              </a:buClr>
              <a:buSzPts val="981"/>
              <a:buFont typeface="Arial"/>
              <a:buNone/>
            </a:pPr>
            <a:r>
              <a:t/>
            </a:r>
            <a:endParaRPr b="0" i="0" sz="981" u="none" cap="none" strike="noStrike">
              <a:solidFill>
                <a:srgbClr val="000000"/>
              </a:solidFill>
              <a:latin typeface="Arial"/>
              <a:ea typeface="Arial"/>
              <a:cs typeface="Arial"/>
              <a:sym typeface="Arial"/>
            </a:endParaRPr>
          </a:p>
        </p:txBody>
      </p:sp>
      <p:sp>
        <p:nvSpPr>
          <p:cNvPr id="310" name="Google Shape;310;p36"/>
          <p:cNvSpPr/>
          <p:nvPr/>
        </p:nvSpPr>
        <p:spPr>
          <a:xfrm>
            <a:off x="6602634" y="2117605"/>
            <a:ext cx="1826400" cy="1356900"/>
          </a:xfrm>
          <a:prstGeom prst="roundRect">
            <a:avLst>
              <a:gd fmla="val 16667" name="adj"/>
            </a:avLst>
          </a:prstGeom>
          <a:solidFill>
            <a:schemeClr val="lt1"/>
          </a:solidFill>
          <a:ln cap="flat" cmpd="sng" w="26725">
            <a:solidFill>
              <a:srgbClr val="6FA8DC"/>
            </a:solidFill>
            <a:prstDash val="solid"/>
            <a:round/>
            <a:headEnd len="sm" w="sm" type="none"/>
            <a:tailEnd len="sm" w="sm" type="none"/>
          </a:ln>
        </p:spPr>
        <p:txBody>
          <a:bodyPr anchorCtr="0" anchor="ctr" bIns="64075" lIns="64075" spcFirstLastPara="1" rIns="64075" wrap="square" tIns="64075">
            <a:noAutofit/>
          </a:bodyPr>
          <a:lstStyle/>
          <a:p>
            <a:pPr indent="0" lvl="0" marL="0" marR="0" rtl="0" algn="l">
              <a:lnSpc>
                <a:spcPct val="100000"/>
              </a:lnSpc>
              <a:spcBef>
                <a:spcPts val="0"/>
              </a:spcBef>
              <a:spcAft>
                <a:spcPts val="0"/>
              </a:spcAft>
              <a:buClr>
                <a:srgbClr val="000000"/>
              </a:buClr>
              <a:buSzPts val="981"/>
              <a:buFont typeface="Arial"/>
              <a:buNone/>
            </a:pPr>
            <a:r>
              <a:t/>
            </a:r>
            <a:endParaRPr b="0" i="0" sz="981" u="none" cap="none" strike="noStrike">
              <a:solidFill>
                <a:srgbClr val="000000"/>
              </a:solidFill>
              <a:latin typeface="Arial"/>
              <a:ea typeface="Arial"/>
              <a:cs typeface="Arial"/>
              <a:sym typeface="Arial"/>
            </a:endParaRPr>
          </a:p>
        </p:txBody>
      </p:sp>
      <p:sp>
        <p:nvSpPr>
          <p:cNvPr id="311" name="Google Shape;311;p36"/>
          <p:cNvSpPr/>
          <p:nvPr/>
        </p:nvSpPr>
        <p:spPr>
          <a:xfrm>
            <a:off x="5324072" y="3042530"/>
            <a:ext cx="696300" cy="705300"/>
          </a:xfrm>
          <a:prstGeom prst="roundRect">
            <a:avLst>
              <a:gd fmla="val 16667" name="adj"/>
            </a:avLst>
          </a:prstGeom>
          <a:solidFill>
            <a:schemeClr val="lt1"/>
          </a:solidFill>
          <a:ln cap="flat" cmpd="sng" w="28700">
            <a:solidFill>
              <a:srgbClr val="3D85C6"/>
            </a:solidFill>
            <a:prstDash val="solid"/>
            <a:round/>
            <a:headEnd len="sm" w="sm" type="none"/>
            <a:tailEnd len="sm" w="sm" type="none"/>
          </a:ln>
        </p:spPr>
        <p:txBody>
          <a:bodyPr anchorCtr="0" anchor="ctr" bIns="68850" lIns="68850" spcFirstLastPara="1" rIns="68850" wrap="square" tIns="68850">
            <a:noAutofit/>
          </a:bodyPr>
          <a:lstStyle/>
          <a:p>
            <a:pPr indent="0" lvl="0" marL="0" marR="0" rtl="0" algn="ctr">
              <a:lnSpc>
                <a:spcPct val="100000"/>
              </a:lnSpc>
              <a:spcBef>
                <a:spcPts val="0"/>
              </a:spcBef>
              <a:spcAft>
                <a:spcPts val="0"/>
              </a:spcAft>
              <a:buClr>
                <a:srgbClr val="000000"/>
              </a:buClr>
              <a:buSzPts val="1054"/>
              <a:buFont typeface="Arial"/>
              <a:buNone/>
            </a:pPr>
            <a:r>
              <a:t/>
            </a:r>
            <a:endParaRPr b="0" i="0" sz="1054" u="none" cap="none" strike="noStrike">
              <a:solidFill>
                <a:srgbClr val="000000"/>
              </a:solidFill>
              <a:latin typeface="Arial"/>
              <a:ea typeface="Arial"/>
              <a:cs typeface="Arial"/>
              <a:sym typeface="Arial"/>
            </a:endParaRPr>
          </a:p>
        </p:txBody>
      </p:sp>
      <p:pic>
        <p:nvPicPr>
          <p:cNvPr id="312" name="Google Shape;312;p36"/>
          <p:cNvPicPr preferRelativeResize="0"/>
          <p:nvPr/>
        </p:nvPicPr>
        <p:blipFill rotWithShape="1">
          <a:blip r:embed="rId3">
            <a:alphaModFix/>
          </a:blip>
          <a:srcRect b="8445" l="29828" r="24296" t="9080"/>
          <a:stretch/>
        </p:blipFill>
        <p:spPr>
          <a:xfrm>
            <a:off x="2549199" y="868822"/>
            <a:ext cx="747559" cy="705506"/>
          </a:xfrm>
          <a:prstGeom prst="rect">
            <a:avLst/>
          </a:prstGeom>
          <a:noFill/>
          <a:ln>
            <a:noFill/>
          </a:ln>
        </p:spPr>
      </p:pic>
      <p:sp>
        <p:nvSpPr>
          <p:cNvPr id="313" name="Google Shape;313;p36"/>
          <p:cNvSpPr/>
          <p:nvPr/>
        </p:nvSpPr>
        <p:spPr>
          <a:xfrm rot="-5400000">
            <a:off x="5277781" y="799383"/>
            <a:ext cx="783600" cy="1226700"/>
          </a:xfrm>
          <a:prstGeom prst="roundRect">
            <a:avLst>
              <a:gd fmla="val 16667" name="adj"/>
            </a:avLst>
          </a:prstGeom>
          <a:solidFill>
            <a:schemeClr val="lt1"/>
          </a:solidFill>
          <a:ln cap="flat" cmpd="sng" w="20225">
            <a:solidFill>
              <a:srgbClr val="6FA8DC"/>
            </a:solidFill>
            <a:prstDash val="solid"/>
            <a:round/>
            <a:headEnd len="sm" w="sm" type="none"/>
            <a:tailEnd len="sm" w="sm" type="none"/>
          </a:ln>
        </p:spPr>
        <p:txBody>
          <a:bodyPr anchorCtr="0" anchor="ctr" bIns="48500" lIns="48500" spcFirstLastPara="1" rIns="48500" wrap="square" tIns="48500">
            <a:noAutofit/>
          </a:bodyPr>
          <a:lstStyle/>
          <a:p>
            <a:pPr indent="0" lvl="0" marL="0" marR="0" rtl="0" algn="ctr">
              <a:lnSpc>
                <a:spcPct val="100000"/>
              </a:lnSpc>
              <a:spcBef>
                <a:spcPts val="0"/>
              </a:spcBef>
              <a:spcAft>
                <a:spcPts val="0"/>
              </a:spcAft>
              <a:buClr>
                <a:srgbClr val="000000"/>
              </a:buClr>
              <a:buSzPts val="742"/>
              <a:buFont typeface="Arial"/>
              <a:buNone/>
            </a:pPr>
            <a:r>
              <a:t/>
            </a:r>
            <a:endParaRPr b="0" i="0" sz="742" u="none" cap="none" strike="noStrike">
              <a:solidFill>
                <a:srgbClr val="000000"/>
              </a:solidFill>
              <a:latin typeface="Arial"/>
              <a:ea typeface="Arial"/>
              <a:cs typeface="Arial"/>
              <a:sym typeface="Arial"/>
            </a:endParaRPr>
          </a:p>
        </p:txBody>
      </p:sp>
      <p:sp>
        <p:nvSpPr>
          <p:cNvPr id="314" name="Google Shape;314;p36"/>
          <p:cNvSpPr txBox="1"/>
          <p:nvPr/>
        </p:nvSpPr>
        <p:spPr>
          <a:xfrm>
            <a:off x="4507741" y="2494774"/>
            <a:ext cx="2283300" cy="456600"/>
          </a:xfrm>
          <a:prstGeom prst="rect">
            <a:avLst/>
          </a:prstGeom>
          <a:noFill/>
          <a:ln>
            <a:noFill/>
          </a:ln>
        </p:spPr>
        <p:txBody>
          <a:bodyPr anchorCtr="0" anchor="t" bIns="68850" lIns="68850" spcFirstLastPara="1" rIns="68850" wrap="square" tIns="68850">
            <a:noAutofit/>
          </a:bodyPr>
          <a:lstStyle/>
          <a:p>
            <a:pPr indent="0" lvl="0" marL="0" marR="0" rtl="0" algn="l">
              <a:lnSpc>
                <a:spcPct val="100000"/>
              </a:lnSpc>
              <a:spcBef>
                <a:spcPts val="0"/>
              </a:spcBef>
              <a:spcAft>
                <a:spcPts val="0"/>
              </a:spcAft>
              <a:buClr>
                <a:srgbClr val="000000"/>
              </a:buClr>
              <a:buSzPts val="1103"/>
              <a:buFont typeface="Arial"/>
              <a:buNone/>
            </a:pPr>
            <a:r>
              <a:t/>
            </a:r>
            <a:endParaRPr b="1" i="0" sz="1103" u="none" cap="none" strike="noStrike">
              <a:solidFill>
                <a:schemeClr val="dk1"/>
              </a:solidFill>
              <a:latin typeface="Arial"/>
              <a:ea typeface="Arial"/>
              <a:cs typeface="Arial"/>
              <a:sym typeface="Arial"/>
            </a:endParaRPr>
          </a:p>
        </p:txBody>
      </p:sp>
      <p:pic>
        <p:nvPicPr>
          <p:cNvPr id="315" name="Google Shape;315;p36"/>
          <p:cNvPicPr preferRelativeResize="0"/>
          <p:nvPr/>
        </p:nvPicPr>
        <p:blipFill rotWithShape="1">
          <a:blip r:embed="rId4">
            <a:alphaModFix/>
          </a:blip>
          <a:srcRect b="7036" l="32194" r="32126" t="6838"/>
          <a:stretch/>
        </p:blipFill>
        <p:spPr>
          <a:xfrm>
            <a:off x="7253420" y="2157782"/>
            <a:ext cx="524834" cy="665143"/>
          </a:xfrm>
          <a:prstGeom prst="rect">
            <a:avLst/>
          </a:prstGeom>
          <a:noFill/>
          <a:ln>
            <a:noFill/>
          </a:ln>
        </p:spPr>
      </p:pic>
      <p:pic>
        <p:nvPicPr>
          <p:cNvPr id="316" name="Google Shape;316;p36"/>
          <p:cNvPicPr preferRelativeResize="0"/>
          <p:nvPr/>
        </p:nvPicPr>
        <p:blipFill rotWithShape="1">
          <a:blip r:embed="rId5">
            <a:alphaModFix/>
          </a:blip>
          <a:srcRect b="0" l="0" r="60038" t="0"/>
          <a:stretch/>
        </p:blipFill>
        <p:spPr>
          <a:xfrm>
            <a:off x="5206321" y="1104356"/>
            <a:ext cx="363945" cy="351822"/>
          </a:xfrm>
          <a:prstGeom prst="rect">
            <a:avLst/>
          </a:prstGeom>
          <a:noFill/>
          <a:ln>
            <a:noFill/>
          </a:ln>
        </p:spPr>
      </p:pic>
      <p:sp>
        <p:nvSpPr>
          <p:cNvPr id="317" name="Google Shape;317;p36"/>
          <p:cNvSpPr/>
          <p:nvPr/>
        </p:nvSpPr>
        <p:spPr>
          <a:xfrm>
            <a:off x="528919" y="2465691"/>
            <a:ext cx="860100" cy="783600"/>
          </a:xfrm>
          <a:prstGeom prst="roundRect">
            <a:avLst>
              <a:gd fmla="val 16667" name="adj"/>
            </a:avLst>
          </a:prstGeom>
          <a:noFill/>
          <a:ln cap="flat" cmpd="sng" w="17225">
            <a:solidFill>
              <a:srgbClr val="6FA8DC"/>
            </a:solidFill>
            <a:prstDash val="solid"/>
            <a:round/>
            <a:headEnd len="sm" w="sm" type="none"/>
            <a:tailEnd len="sm" w="sm" type="none"/>
          </a:ln>
        </p:spPr>
        <p:txBody>
          <a:bodyPr anchorCtr="0" anchor="ctr" bIns="41400" lIns="41400" spcFirstLastPara="1" rIns="41400" wrap="square" tIns="41400">
            <a:noAutofit/>
          </a:bodyPr>
          <a:lstStyle/>
          <a:p>
            <a:pPr indent="0" lvl="0" marL="0" marR="0" rtl="0" algn="ctr">
              <a:lnSpc>
                <a:spcPct val="100000"/>
              </a:lnSpc>
              <a:spcBef>
                <a:spcPts val="0"/>
              </a:spcBef>
              <a:spcAft>
                <a:spcPts val="0"/>
              </a:spcAft>
              <a:buClr>
                <a:srgbClr val="000000"/>
              </a:buClr>
              <a:buSzPts val="634"/>
              <a:buFont typeface="Arial"/>
              <a:buNone/>
            </a:pPr>
            <a:r>
              <a:t/>
            </a:r>
            <a:endParaRPr b="0" i="0" sz="634" u="none" cap="none" strike="noStrike">
              <a:solidFill>
                <a:srgbClr val="000000"/>
              </a:solidFill>
              <a:latin typeface="Arial"/>
              <a:ea typeface="Arial"/>
              <a:cs typeface="Arial"/>
              <a:sym typeface="Arial"/>
            </a:endParaRPr>
          </a:p>
        </p:txBody>
      </p:sp>
      <p:pic>
        <p:nvPicPr>
          <p:cNvPr id="318" name="Google Shape;318;p36"/>
          <p:cNvPicPr preferRelativeResize="0"/>
          <p:nvPr/>
        </p:nvPicPr>
        <p:blipFill rotWithShape="1">
          <a:blip r:embed="rId6">
            <a:alphaModFix/>
          </a:blip>
          <a:srcRect b="0" l="0" r="0" t="0"/>
          <a:stretch/>
        </p:blipFill>
        <p:spPr>
          <a:xfrm>
            <a:off x="5264549" y="1502324"/>
            <a:ext cx="747559" cy="321452"/>
          </a:xfrm>
          <a:prstGeom prst="rect">
            <a:avLst/>
          </a:prstGeom>
          <a:noFill/>
          <a:ln>
            <a:noFill/>
          </a:ln>
        </p:spPr>
      </p:pic>
      <p:pic>
        <p:nvPicPr>
          <p:cNvPr id="319" name="Google Shape;319;p36"/>
          <p:cNvPicPr preferRelativeResize="0"/>
          <p:nvPr/>
        </p:nvPicPr>
        <p:blipFill rotWithShape="1">
          <a:blip r:embed="rId7">
            <a:alphaModFix/>
          </a:blip>
          <a:srcRect b="0" l="0" r="0" t="0"/>
          <a:stretch/>
        </p:blipFill>
        <p:spPr>
          <a:xfrm>
            <a:off x="611028" y="2509381"/>
            <a:ext cx="696033" cy="696033"/>
          </a:xfrm>
          <a:prstGeom prst="rect">
            <a:avLst/>
          </a:prstGeom>
          <a:noFill/>
          <a:ln>
            <a:noFill/>
          </a:ln>
        </p:spPr>
      </p:pic>
      <p:pic>
        <p:nvPicPr>
          <p:cNvPr id="320" name="Google Shape;320;p36"/>
          <p:cNvPicPr preferRelativeResize="0"/>
          <p:nvPr/>
        </p:nvPicPr>
        <p:blipFill rotWithShape="1">
          <a:blip r:embed="rId8">
            <a:alphaModFix/>
          </a:blip>
          <a:srcRect b="0" l="0" r="0" t="0"/>
          <a:stretch/>
        </p:blipFill>
        <p:spPr>
          <a:xfrm>
            <a:off x="5680961" y="1064490"/>
            <a:ext cx="413146" cy="431537"/>
          </a:xfrm>
          <a:prstGeom prst="rect">
            <a:avLst/>
          </a:prstGeom>
          <a:noFill/>
          <a:ln>
            <a:noFill/>
          </a:ln>
        </p:spPr>
      </p:pic>
      <p:sp>
        <p:nvSpPr>
          <p:cNvPr id="321" name="Google Shape;321;p36"/>
          <p:cNvSpPr txBox="1"/>
          <p:nvPr/>
        </p:nvSpPr>
        <p:spPr>
          <a:xfrm>
            <a:off x="202959" y="3848075"/>
            <a:ext cx="1679400" cy="349200"/>
          </a:xfrm>
          <a:prstGeom prst="rect">
            <a:avLst/>
          </a:prstGeom>
          <a:noFill/>
          <a:ln>
            <a:noFill/>
          </a:ln>
        </p:spPr>
        <p:txBody>
          <a:bodyPr anchorCtr="0" anchor="t"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1006"/>
              <a:buFont typeface="Arial"/>
              <a:buNone/>
            </a:pPr>
            <a:r>
              <a:rPr b="1" i="0" lang="en-US" sz="1006" u="none" cap="none" strike="noStrike">
                <a:solidFill>
                  <a:schemeClr val="dk1"/>
                </a:solidFill>
                <a:latin typeface="Arial"/>
                <a:ea typeface="Arial"/>
                <a:cs typeface="Arial"/>
                <a:sym typeface="Arial"/>
              </a:rPr>
              <a:t>Final</a:t>
            </a:r>
            <a:endParaRPr b="1" i="0" sz="1006"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6"/>
              <a:buFont typeface="Arial"/>
              <a:buNone/>
            </a:pPr>
            <a:r>
              <a:rPr b="1" i="0" lang="en-US" sz="1006" u="none" cap="none" strike="noStrike">
                <a:solidFill>
                  <a:schemeClr val="dk1"/>
                </a:solidFill>
                <a:latin typeface="Arial"/>
                <a:ea typeface="Arial"/>
                <a:cs typeface="Arial"/>
                <a:sym typeface="Arial"/>
              </a:rPr>
              <a:t>Curriculum</a:t>
            </a:r>
            <a:endParaRPr b="1" i="0" sz="1006" u="none" cap="none" strike="noStrike">
              <a:solidFill>
                <a:schemeClr val="dk1"/>
              </a:solidFill>
              <a:latin typeface="Arial"/>
              <a:ea typeface="Arial"/>
              <a:cs typeface="Arial"/>
              <a:sym typeface="Arial"/>
            </a:endParaRPr>
          </a:p>
        </p:txBody>
      </p:sp>
      <p:sp>
        <p:nvSpPr>
          <p:cNvPr id="322" name="Google Shape;322;p36"/>
          <p:cNvSpPr txBox="1"/>
          <p:nvPr/>
        </p:nvSpPr>
        <p:spPr>
          <a:xfrm>
            <a:off x="6326850" y="934424"/>
            <a:ext cx="1679400" cy="431700"/>
          </a:xfrm>
          <a:prstGeom prst="rect">
            <a:avLst/>
          </a:prstGeom>
          <a:noFill/>
          <a:ln>
            <a:noFill/>
          </a:ln>
        </p:spPr>
        <p:txBody>
          <a:bodyPr anchorCtr="0" anchor="t"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1006"/>
              <a:buFont typeface="Arial"/>
              <a:buNone/>
            </a:pPr>
            <a:r>
              <a:rPr b="1" i="0" lang="en-US" sz="1006" u="none" cap="none" strike="noStrike">
                <a:solidFill>
                  <a:schemeClr val="dk1"/>
                </a:solidFill>
                <a:latin typeface="Arial"/>
                <a:ea typeface="Arial"/>
                <a:cs typeface="Arial"/>
                <a:sym typeface="Arial"/>
              </a:rPr>
              <a:t>Scrape Book Ratings &amp; Reviewer Sentiment</a:t>
            </a:r>
            <a:endParaRPr b="1" i="0" sz="1006" u="none" cap="none" strike="noStrike">
              <a:solidFill>
                <a:schemeClr val="dk1"/>
              </a:solidFill>
              <a:latin typeface="Arial"/>
              <a:ea typeface="Arial"/>
              <a:cs typeface="Arial"/>
              <a:sym typeface="Arial"/>
            </a:endParaRPr>
          </a:p>
        </p:txBody>
      </p:sp>
      <p:sp>
        <p:nvSpPr>
          <p:cNvPr id="323" name="Google Shape;323;p36"/>
          <p:cNvSpPr/>
          <p:nvPr/>
        </p:nvSpPr>
        <p:spPr>
          <a:xfrm>
            <a:off x="6602627" y="4062585"/>
            <a:ext cx="1826400" cy="833100"/>
          </a:xfrm>
          <a:prstGeom prst="roundRect">
            <a:avLst>
              <a:gd fmla="val 16667" name="adj"/>
            </a:avLst>
          </a:prstGeom>
          <a:solidFill>
            <a:schemeClr val="lt1"/>
          </a:solidFill>
          <a:ln cap="flat" cmpd="sng" w="26725">
            <a:solidFill>
              <a:srgbClr val="6D9EEB"/>
            </a:solidFill>
            <a:prstDash val="solid"/>
            <a:round/>
            <a:headEnd len="sm" w="sm" type="none"/>
            <a:tailEnd len="sm" w="sm" type="none"/>
          </a:ln>
        </p:spPr>
        <p:txBody>
          <a:bodyPr anchorCtr="0" anchor="ctr" bIns="64075" lIns="64075" spcFirstLastPara="1" rIns="64075" wrap="square" tIns="64075">
            <a:noAutofit/>
          </a:bodyPr>
          <a:lstStyle/>
          <a:p>
            <a:pPr indent="0" lvl="0" marL="0" marR="0" rtl="0" algn="ctr">
              <a:lnSpc>
                <a:spcPct val="100000"/>
              </a:lnSpc>
              <a:spcBef>
                <a:spcPts val="0"/>
              </a:spcBef>
              <a:spcAft>
                <a:spcPts val="0"/>
              </a:spcAft>
              <a:buClr>
                <a:srgbClr val="000000"/>
              </a:buClr>
              <a:buSzPts val="1098"/>
              <a:buFont typeface="Arial"/>
              <a:buNone/>
            </a:pPr>
            <a:r>
              <a:rPr b="1" i="0" lang="en-US" sz="1098" u="none" cap="none" strike="noStrike">
                <a:solidFill>
                  <a:schemeClr val="dk1"/>
                </a:solidFill>
                <a:latin typeface="Arial"/>
                <a:ea typeface="Arial"/>
                <a:cs typeface="Arial"/>
                <a:sym typeface="Arial"/>
              </a:rPr>
              <a:t>Build LLM prompt using user survey and candidate books</a:t>
            </a:r>
            <a:endParaRPr b="0" i="0" sz="981" u="none" cap="none" strike="noStrike">
              <a:solidFill>
                <a:schemeClr val="dk1"/>
              </a:solidFill>
              <a:latin typeface="Arial"/>
              <a:ea typeface="Arial"/>
              <a:cs typeface="Arial"/>
              <a:sym typeface="Arial"/>
            </a:endParaRPr>
          </a:p>
        </p:txBody>
      </p:sp>
      <p:sp>
        <p:nvSpPr>
          <p:cNvPr id="324" name="Google Shape;324;p36"/>
          <p:cNvSpPr/>
          <p:nvPr/>
        </p:nvSpPr>
        <p:spPr>
          <a:xfrm>
            <a:off x="6671556" y="2913859"/>
            <a:ext cx="244200" cy="252000"/>
          </a:xfrm>
          <a:prstGeom prst="can">
            <a:avLst>
              <a:gd fmla="val 25000" name="adj"/>
            </a:avLst>
          </a:prstGeom>
          <a:noFill/>
          <a:ln cap="flat" cmpd="sng" w="23425">
            <a:solidFill>
              <a:srgbClr val="6FA8DC"/>
            </a:solidFill>
            <a:prstDash val="solid"/>
            <a:round/>
            <a:headEnd len="sm" w="sm" type="none"/>
            <a:tailEnd len="sm" w="sm" type="none"/>
          </a:ln>
        </p:spPr>
        <p:txBody>
          <a:bodyPr anchorCtr="0" anchor="ctr" bIns="73275" lIns="73275" spcFirstLastPara="1" rIns="73275" wrap="square" tIns="73275">
            <a:noAutofit/>
          </a:bodyPr>
          <a:lstStyle/>
          <a:p>
            <a:pPr indent="0" lvl="0" marL="0" marR="0" rtl="0" algn="ctr">
              <a:lnSpc>
                <a:spcPct val="100000"/>
              </a:lnSpc>
              <a:spcBef>
                <a:spcPts val="0"/>
              </a:spcBef>
              <a:spcAft>
                <a:spcPts val="0"/>
              </a:spcAft>
              <a:buClr>
                <a:srgbClr val="000000"/>
              </a:buClr>
              <a:buSzPts val="1122"/>
              <a:buFont typeface="Arial"/>
              <a:buNone/>
            </a:pPr>
            <a:r>
              <a:t/>
            </a:r>
            <a:endParaRPr b="0" i="0" sz="1122" u="none" cap="none" strike="noStrike">
              <a:solidFill>
                <a:srgbClr val="000000"/>
              </a:solidFill>
              <a:latin typeface="Arial"/>
              <a:ea typeface="Arial"/>
              <a:cs typeface="Arial"/>
              <a:sym typeface="Arial"/>
            </a:endParaRPr>
          </a:p>
        </p:txBody>
      </p:sp>
      <p:sp>
        <p:nvSpPr>
          <p:cNvPr id="325" name="Google Shape;325;p36"/>
          <p:cNvSpPr txBox="1"/>
          <p:nvPr/>
        </p:nvSpPr>
        <p:spPr>
          <a:xfrm>
            <a:off x="6585026" y="3169917"/>
            <a:ext cx="478500" cy="186000"/>
          </a:xfrm>
          <a:prstGeom prst="rect">
            <a:avLst/>
          </a:prstGeom>
          <a:noFill/>
          <a:ln>
            <a:noFill/>
          </a:ln>
        </p:spPr>
        <p:txBody>
          <a:bodyPr anchorCtr="0" anchor="t" bIns="73275" lIns="73275" spcFirstLastPara="1" rIns="73275" wrap="square" tIns="73275">
            <a:noAutofit/>
          </a:bodyPr>
          <a:lstStyle/>
          <a:p>
            <a:pPr indent="0" lvl="0" marL="0" marR="0" rtl="0" algn="l">
              <a:lnSpc>
                <a:spcPct val="100000"/>
              </a:lnSpc>
              <a:spcBef>
                <a:spcPts val="0"/>
              </a:spcBef>
              <a:spcAft>
                <a:spcPts val="0"/>
              </a:spcAft>
              <a:buClr>
                <a:srgbClr val="000000"/>
              </a:buClr>
              <a:buSzPts val="722"/>
              <a:buFont typeface="Arial"/>
              <a:buNone/>
            </a:pPr>
            <a:r>
              <a:rPr b="1" i="0" lang="en-US" sz="722" u="none" cap="none" strike="noStrike">
                <a:solidFill>
                  <a:schemeClr val="dk1"/>
                </a:solidFill>
                <a:latin typeface="Arial"/>
                <a:ea typeface="Arial"/>
                <a:cs typeface="Arial"/>
                <a:sym typeface="Arial"/>
              </a:rPr>
              <a:t>Profile</a:t>
            </a:r>
            <a:endParaRPr b="1" i="0" sz="722" u="none" cap="none" strike="noStrike">
              <a:solidFill>
                <a:schemeClr val="dk1"/>
              </a:solidFill>
              <a:latin typeface="Arial"/>
              <a:ea typeface="Arial"/>
              <a:cs typeface="Arial"/>
              <a:sym typeface="Arial"/>
            </a:endParaRPr>
          </a:p>
        </p:txBody>
      </p:sp>
      <p:sp>
        <p:nvSpPr>
          <p:cNvPr id="326" name="Google Shape;326;p36"/>
          <p:cNvSpPr txBox="1"/>
          <p:nvPr/>
        </p:nvSpPr>
        <p:spPr>
          <a:xfrm>
            <a:off x="6282770" y="3614652"/>
            <a:ext cx="1059600" cy="554400"/>
          </a:xfrm>
          <a:prstGeom prst="rect">
            <a:avLst/>
          </a:prstGeom>
          <a:noFill/>
          <a:ln>
            <a:noFill/>
          </a:ln>
        </p:spPr>
        <p:txBody>
          <a:bodyPr anchorCtr="0" anchor="t"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1006"/>
              <a:buFont typeface="Arial"/>
              <a:buNone/>
            </a:pPr>
            <a:r>
              <a:rPr b="1" i="0" lang="en-US" sz="1006" u="none" cap="none" strike="noStrike">
                <a:solidFill>
                  <a:schemeClr val="dk1"/>
                </a:solidFill>
                <a:latin typeface="Arial"/>
                <a:ea typeface="Arial"/>
                <a:cs typeface="Arial"/>
                <a:sym typeface="Arial"/>
              </a:rPr>
              <a:t>Prompt Vertex AI</a:t>
            </a:r>
            <a:endParaRPr b="1" i="0" sz="1006" u="none" cap="none" strike="noStrike">
              <a:solidFill>
                <a:schemeClr val="dk1"/>
              </a:solidFill>
              <a:latin typeface="Arial"/>
              <a:ea typeface="Arial"/>
              <a:cs typeface="Arial"/>
              <a:sym typeface="Arial"/>
            </a:endParaRPr>
          </a:p>
        </p:txBody>
      </p:sp>
      <p:sp>
        <p:nvSpPr>
          <p:cNvPr id="327" name="Google Shape;327;p36"/>
          <p:cNvSpPr/>
          <p:nvPr/>
        </p:nvSpPr>
        <p:spPr>
          <a:xfrm>
            <a:off x="7104685" y="2913859"/>
            <a:ext cx="244200" cy="252000"/>
          </a:xfrm>
          <a:prstGeom prst="can">
            <a:avLst>
              <a:gd fmla="val 25000" name="adj"/>
            </a:avLst>
          </a:prstGeom>
          <a:noFill/>
          <a:ln cap="flat" cmpd="sng" w="23425">
            <a:solidFill>
              <a:srgbClr val="6FA8DC"/>
            </a:solidFill>
            <a:prstDash val="solid"/>
            <a:round/>
            <a:headEnd len="sm" w="sm" type="none"/>
            <a:tailEnd len="sm" w="sm" type="none"/>
          </a:ln>
        </p:spPr>
        <p:txBody>
          <a:bodyPr anchorCtr="0" anchor="ctr" bIns="73275" lIns="73275" spcFirstLastPara="1" rIns="73275" wrap="square" tIns="73275">
            <a:noAutofit/>
          </a:bodyPr>
          <a:lstStyle/>
          <a:p>
            <a:pPr indent="0" lvl="0" marL="0" marR="0" rtl="0" algn="ctr">
              <a:lnSpc>
                <a:spcPct val="100000"/>
              </a:lnSpc>
              <a:spcBef>
                <a:spcPts val="0"/>
              </a:spcBef>
              <a:spcAft>
                <a:spcPts val="0"/>
              </a:spcAft>
              <a:buClr>
                <a:srgbClr val="000000"/>
              </a:buClr>
              <a:buSzPts val="1122"/>
              <a:buFont typeface="Arial"/>
              <a:buNone/>
            </a:pPr>
            <a:r>
              <a:t/>
            </a:r>
            <a:endParaRPr b="0" i="0" sz="1122" u="none" cap="none" strike="noStrike">
              <a:solidFill>
                <a:srgbClr val="000000"/>
              </a:solidFill>
              <a:latin typeface="Arial"/>
              <a:ea typeface="Arial"/>
              <a:cs typeface="Arial"/>
              <a:sym typeface="Arial"/>
            </a:endParaRPr>
          </a:p>
        </p:txBody>
      </p:sp>
      <p:sp>
        <p:nvSpPr>
          <p:cNvPr id="328" name="Google Shape;328;p36"/>
          <p:cNvSpPr txBox="1"/>
          <p:nvPr/>
        </p:nvSpPr>
        <p:spPr>
          <a:xfrm>
            <a:off x="6984644" y="3169917"/>
            <a:ext cx="478500" cy="186000"/>
          </a:xfrm>
          <a:prstGeom prst="rect">
            <a:avLst/>
          </a:prstGeom>
          <a:noFill/>
          <a:ln>
            <a:noFill/>
          </a:ln>
        </p:spPr>
        <p:txBody>
          <a:bodyPr anchorCtr="0" anchor="t" bIns="73275" lIns="73275" spcFirstLastPara="1" rIns="73275" wrap="square" tIns="73275">
            <a:noAutofit/>
          </a:bodyPr>
          <a:lstStyle/>
          <a:p>
            <a:pPr indent="0" lvl="0" marL="0" marR="0" rtl="0" algn="l">
              <a:lnSpc>
                <a:spcPct val="100000"/>
              </a:lnSpc>
              <a:spcBef>
                <a:spcPts val="0"/>
              </a:spcBef>
              <a:spcAft>
                <a:spcPts val="0"/>
              </a:spcAft>
              <a:buClr>
                <a:srgbClr val="000000"/>
              </a:buClr>
              <a:buSzPts val="722"/>
              <a:buFont typeface="Arial"/>
              <a:buNone/>
            </a:pPr>
            <a:r>
              <a:rPr b="1" i="0" lang="en-US" sz="722" u="none" cap="none" strike="noStrike">
                <a:solidFill>
                  <a:schemeClr val="dk1"/>
                </a:solidFill>
                <a:latin typeface="Arial"/>
                <a:ea typeface="Arial"/>
                <a:cs typeface="Arial"/>
                <a:sym typeface="Arial"/>
              </a:rPr>
              <a:t>Survey</a:t>
            </a:r>
            <a:endParaRPr b="1" i="0" sz="722" u="none" cap="none" strike="noStrike">
              <a:solidFill>
                <a:schemeClr val="dk1"/>
              </a:solidFill>
              <a:latin typeface="Arial"/>
              <a:ea typeface="Arial"/>
              <a:cs typeface="Arial"/>
              <a:sym typeface="Arial"/>
            </a:endParaRPr>
          </a:p>
        </p:txBody>
      </p:sp>
      <p:sp>
        <p:nvSpPr>
          <p:cNvPr id="329" name="Google Shape;329;p36"/>
          <p:cNvSpPr/>
          <p:nvPr/>
        </p:nvSpPr>
        <p:spPr>
          <a:xfrm>
            <a:off x="7555435" y="2913859"/>
            <a:ext cx="244200" cy="252000"/>
          </a:xfrm>
          <a:prstGeom prst="can">
            <a:avLst>
              <a:gd fmla="val 25000" name="adj"/>
            </a:avLst>
          </a:prstGeom>
          <a:noFill/>
          <a:ln cap="flat" cmpd="sng" w="23425">
            <a:solidFill>
              <a:srgbClr val="6FA8DC"/>
            </a:solidFill>
            <a:prstDash val="solid"/>
            <a:round/>
            <a:headEnd len="sm" w="sm" type="none"/>
            <a:tailEnd len="sm" w="sm" type="none"/>
          </a:ln>
        </p:spPr>
        <p:txBody>
          <a:bodyPr anchorCtr="0" anchor="ctr" bIns="73275" lIns="73275" spcFirstLastPara="1" rIns="73275" wrap="square" tIns="73275">
            <a:noAutofit/>
          </a:bodyPr>
          <a:lstStyle/>
          <a:p>
            <a:pPr indent="0" lvl="0" marL="0" marR="0" rtl="0" algn="ctr">
              <a:lnSpc>
                <a:spcPct val="100000"/>
              </a:lnSpc>
              <a:spcBef>
                <a:spcPts val="0"/>
              </a:spcBef>
              <a:spcAft>
                <a:spcPts val="0"/>
              </a:spcAft>
              <a:buClr>
                <a:srgbClr val="000000"/>
              </a:buClr>
              <a:buSzPts val="1122"/>
              <a:buFont typeface="Arial"/>
              <a:buNone/>
            </a:pPr>
            <a:r>
              <a:t/>
            </a:r>
            <a:endParaRPr b="0" i="0" sz="1122"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22"/>
              <a:buFont typeface="Arial"/>
              <a:buNone/>
            </a:pPr>
            <a:r>
              <a:t/>
            </a:r>
            <a:endParaRPr b="0" i="0" sz="1122" u="none" cap="none" strike="noStrike">
              <a:solidFill>
                <a:srgbClr val="000000"/>
              </a:solidFill>
              <a:latin typeface="Arial"/>
              <a:ea typeface="Arial"/>
              <a:cs typeface="Arial"/>
              <a:sym typeface="Arial"/>
            </a:endParaRPr>
          </a:p>
        </p:txBody>
      </p:sp>
      <p:sp>
        <p:nvSpPr>
          <p:cNvPr id="330" name="Google Shape;330;p36"/>
          <p:cNvSpPr txBox="1"/>
          <p:nvPr/>
        </p:nvSpPr>
        <p:spPr>
          <a:xfrm>
            <a:off x="7415079" y="3169917"/>
            <a:ext cx="525000" cy="186000"/>
          </a:xfrm>
          <a:prstGeom prst="rect">
            <a:avLst/>
          </a:prstGeom>
          <a:noFill/>
          <a:ln>
            <a:noFill/>
          </a:ln>
        </p:spPr>
        <p:txBody>
          <a:bodyPr anchorCtr="0" anchor="t" bIns="73275" lIns="73275" spcFirstLastPara="1" rIns="73275" wrap="square" tIns="73275">
            <a:noAutofit/>
          </a:bodyPr>
          <a:lstStyle/>
          <a:p>
            <a:pPr indent="0" lvl="0" marL="0" marR="0" rtl="0" algn="l">
              <a:lnSpc>
                <a:spcPct val="100000"/>
              </a:lnSpc>
              <a:spcBef>
                <a:spcPts val="0"/>
              </a:spcBef>
              <a:spcAft>
                <a:spcPts val="0"/>
              </a:spcAft>
              <a:buClr>
                <a:srgbClr val="000000"/>
              </a:buClr>
              <a:buSzPts val="722"/>
              <a:buFont typeface="Arial"/>
              <a:buNone/>
            </a:pPr>
            <a:r>
              <a:rPr b="1" i="0" lang="en-US" sz="722" u="none" cap="none" strike="noStrike">
                <a:solidFill>
                  <a:schemeClr val="dk1"/>
                </a:solidFill>
                <a:latin typeface="Arial"/>
                <a:ea typeface="Arial"/>
                <a:cs typeface="Arial"/>
                <a:sym typeface="Arial"/>
              </a:rPr>
              <a:t>Ratings</a:t>
            </a:r>
            <a:endParaRPr b="1" i="0" sz="722" u="none" cap="none" strike="noStrike">
              <a:solidFill>
                <a:schemeClr val="dk1"/>
              </a:solidFill>
              <a:latin typeface="Arial"/>
              <a:ea typeface="Arial"/>
              <a:cs typeface="Arial"/>
              <a:sym typeface="Arial"/>
            </a:endParaRPr>
          </a:p>
        </p:txBody>
      </p:sp>
      <p:sp>
        <p:nvSpPr>
          <p:cNvPr id="331" name="Google Shape;331;p36"/>
          <p:cNvSpPr/>
          <p:nvPr/>
        </p:nvSpPr>
        <p:spPr>
          <a:xfrm>
            <a:off x="8006201" y="2913859"/>
            <a:ext cx="244200" cy="252000"/>
          </a:xfrm>
          <a:prstGeom prst="can">
            <a:avLst>
              <a:gd fmla="val 25000" name="adj"/>
            </a:avLst>
          </a:prstGeom>
          <a:noFill/>
          <a:ln cap="flat" cmpd="sng" w="23425">
            <a:solidFill>
              <a:srgbClr val="6FA8DC"/>
            </a:solidFill>
            <a:prstDash val="solid"/>
            <a:round/>
            <a:headEnd len="sm" w="sm" type="none"/>
            <a:tailEnd len="sm" w="sm" type="none"/>
          </a:ln>
        </p:spPr>
        <p:txBody>
          <a:bodyPr anchorCtr="0" anchor="ctr" bIns="73275" lIns="73275" spcFirstLastPara="1" rIns="73275" wrap="square" tIns="73275">
            <a:noAutofit/>
          </a:bodyPr>
          <a:lstStyle/>
          <a:p>
            <a:pPr indent="0" lvl="0" marL="0" marR="0" rtl="0" algn="ctr">
              <a:lnSpc>
                <a:spcPct val="100000"/>
              </a:lnSpc>
              <a:spcBef>
                <a:spcPts val="0"/>
              </a:spcBef>
              <a:spcAft>
                <a:spcPts val="0"/>
              </a:spcAft>
              <a:buClr>
                <a:srgbClr val="000000"/>
              </a:buClr>
              <a:buSzPts val="1122"/>
              <a:buFont typeface="Arial"/>
              <a:buNone/>
            </a:pPr>
            <a:r>
              <a:t/>
            </a:r>
            <a:endParaRPr b="0" i="0" sz="1122"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22"/>
              <a:buFont typeface="Arial"/>
              <a:buNone/>
            </a:pPr>
            <a:r>
              <a:t/>
            </a:r>
            <a:endParaRPr b="0" i="0" sz="1122" u="none" cap="none" strike="noStrike">
              <a:solidFill>
                <a:srgbClr val="000000"/>
              </a:solidFill>
              <a:latin typeface="Arial"/>
              <a:ea typeface="Arial"/>
              <a:cs typeface="Arial"/>
              <a:sym typeface="Arial"/>
            </a:endParaRPr>
          </a:p>
        </p:txBody>
      </p:sp>
      <p:sp>
        <p:nvSpPr>
          <p:cNvPr id="332" name="Google Shape;332;p36"/>
          <p:cNvSpPr txBox="1"/>
          <p:nvPr/>
        </p:nvSpPr>
        <p:spPr>
          <a:xfrm>
            <a:off x="7783886" y="3169917"/>
            <a:ext cx="696300" cy="186000"/>
          </a:xfrm>
          <a:prstGeom prst="rect">
            <a:avLst/>
          </a:prstGeom>
          <a:noFill/>
          <a:ln>
            <a:noFill/>
          </a:ln>
        </p:spPr>
        <p:txBody>
          <a:bodyPr anchorCtr="0" anchor="t" bIns="73275" lIns="73275" spcFirstLastPara="1" rIns="73275" wrap="square" tIns="73275">
            <a:noAutofit/>
          </a:bodyPr>
          <a:lstStyle/>
          <a:p>
            <a:pPr indent="0" lvl="0" marL="0" marR="0" rtl="0" algn="l">
              <a:lnSpc>
                <a:spcPct val="100000"/>
              </a:lnSpc>
              <a:spcBef>
                <a:spcPts val="0"/>
              </a:spcBef>
              <a:spcAft>
                <a:spcPts val="0"/>
              </a:spcAft>
              <a:buClr>
                <a:srgbClr val="000000"/>
              </a:buClr>
              <a:buSzPts val="722"/>
              <a:buFont typeface="Arial"/>
              <a:buNone/>
            </a:pPr>
            <a:r>
              <a:rPr b="1" i="0" lang="en-US" sz="722" u="none" cap="none" strike="noStrike">
                <a:solidFill>
                  <a:schemeClr val="dk1"/>
                </a:solidFill>
                <a:latin typeface="Arial"/>
                <a:ea typeface="Arial"/>
                <a:cs typeface="Arial"/>
                <a:sym typeface="Arial"/>
              </a:rPr>
              <a:t>Curriculum</a:t>
            </a:r>
            <a:endParaRPr b="1" i="0" sz="722" u="none" cap="none" strike="noStrike">
              <a:solidFill>
                <a:schemeClr val="dk1"/>
              </a:solidFill>
              <a:latin typeface="Arial"/>
              <a:ea typeface="Arial"/>
              <a:cs typeface="Arial"/>
              <a:sym typeface="Arial"/>
            </a:endParaRPr>
          </a:p>
        </p:txBody>
      </p:sp>
      <p:sp>
        <p:nvSpPr>
          <p:cNvPr id="333" name="Google Shape;333;p36"/>
          <p:cNvSpPr txBox="1"/>
          <p:nvPr/>
        </p:nvSpPr>
        <p:spPr>
          <a:xfrm>
            <a:off x="1882287" y="440340"/>
            <a:ext cx="2081400" cy="349200"/>
          </a:xfrm>
          <a:prstGeom prst="rect">
            <a:avLst/>
          </a:prstGeom>
          <a:noFill/>
          <a:ln>
            <a:noFill/>
          </a:ln>
        </p:spPr>
        <p:txBody>
          <a:bodyPr anchorCtr="0" anchor="t"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2195"/>
              <a:buFont typeface="Arial"/>
              <a:buNone/>
            </a:pPr>
            <a:r>
              <a:rPr b="1" i="0" lang="en-US" sz="2195" u="none" cap="none" strike="noStrike">
                <a:solidFill>
                  <a:schemeClr val="lt1"/>
                </a:solidFill>
                <a:latin typeface="Arial"/>
                <a:ea typeface="Arial"/>
                <a:cs typeface="Arial"/>
                <a:sym typeface="Arial"/>
              </a:rPr>
              <a:t>Frontend</a:t>
            </a:r>
            <a:endParaRPr b="1" i="0" sz="2195" u="none" cap="none" strike="noStrike">
              <a:solidFill>
                <a:schemeClr val="lt1"/>
              </a:solidFill>
              <a:latin typeface="Arial"/>
              <a:ea typeface="Arial"/>
              <a:cs typeface="Arial"/>
              <a:sym typeface="Arial"/>
            </a:endParaRPr>
          </a:p>
        </p:txBody>
      </p:sp>
      <p:sp>
        <p:nvSpPr>
          <p:cNvPr id="334" name="Google Shape;334;p36"/>
          <p:cNvSpPr txBox="1"/>
          <p:nvPr/>
        </p:nvSpPr>
        <p:spPr>
          <a:xfrm>
            <a:off x="5615861" y="438900"/>
            <a:ext cx="2081400" cy="349200"/>
          </a:xfrm>
          <a:prstGeom prst="rect">
            <a:avLst/>
          </a:prstGeom>
          <a:noFill/>
          <a:ln>
            <a:noFill/>
          </a:ln>
        </p:spPr>
        <p:txBody>
          <a:bodyPr anchorCtr="0" anchor="t"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2195"/>
              <a:buFont typeface="Arial"/>
              <a:buNone/>
            </a:pPr>
            <a:r>
              <a:rPr b="1" i="0" lang="en-US" sz="2195" u="none" cap="none" strike="noStrike">
                <a:solidFill>
                  <a:schemeClr val="lt1"/>
                </a:solidFill>
                <a:latin typeface="Arial"/>
                <a:ea typeface="Arial"/>
                <a:cs typeface="Arial"/>
                <a:sym typeface="Arial"/>
              </a:rPr>
              <a:t>Backend</a:t>
            </a:r>
            <a:endParaRPr b="1" i="0" sz="2195" u="none" cap="none" strike="noStrike">
              <a:solidFill>
                <a:schemeClr val="lt1"/>
              </a:solidFill>
              <a:latin typeface="Arial"/>
              <a:ea typeface="Arial"/>
              <a:cs typeface="Arial"/>
              <a:sym typeface="Arial"/>
            </a:endParaRPr>
          </a:p>
        </p:txBody>
      </p:sp>
      <p:cxnSp>
        <p:nvCxnSpPr>
          <p:cNvPr id="335" name="Google Shape;335;p36"/>
          <p:cNvCxnSpPr/>
          <p:nvPr/>
        </p:nvCxnSpPr>
        <p:spPr>
          <a:xfrm>
            <a:off x="960804" y="3249104"/>
            <a:ext cx="1059600" cy="613500"/>
          </a:xfrm>
          <a:prstGeom prst="bentConnector3">
            <a:avLst>
              <a:gd fmla="val 311" name="adj1"/>
            </a:avLst>
          </a:prstGeom>
          <a:noFill/>
          <a:ln cap="flat" cmpd="sng" w="34850">
            <a:solidFill>
              <a:schemeClr val="dk2"/>
            </a:solidFill>
            <a:prstDash val="solid"/>
            <a:round/>
            <a:headEnd len="med" w="med" type="triangle"/>
            <a:tailEnd len="sm" w="sm" type="none"/>
          </a:ln>
        </p:spPr>
      </p:cxnSp>
      <p:sp>
        <p:nvSpPr>
          <p:cNvPr id="336" name="Google Shape;336;p36"/>
          <p:cNvSpPr/>
          <p:nvPr/>
        </p:nvSpPr>
        <p:spPr>
          <a:xfrm>
            <a:off x="1996783" y="1653511"/>
            <a:ext cx="1826400" cy="3135600"/>
          </a:xfrm>
          <a:prstGeom prst="roundRect">
            <a:avLst>
              <a:gd fmla="val 16667" name="adj"/>
            </a:avLst>
          </a:prstGeom>
          <a:solidFill>
            <a:schemeClr val="lt1"/>
          </a:solidFill>
          <a:ln cap="flat" cmpd="sng" w="26725">
            <a:solidFill>
              <a:schemeClr val="accent1"/>
            </a:solidFill>
            <a:prstDash val="solid"/>
            <a:round/>
            <a:headEnd len="sm" w="sm" type="none"/>
            <a:tailEnd len="sm" w="sm" type="none"/>
          </a:ln>
        </p:spPr>
        <p:txBody>
          <a:bodyPr anchorCtr="0" anchor="ctr" bIns="64075" lIns="64075" spcFirstLastPara="1" rIns="64075" wrap="square" tIns="64075">
            <a:noAutofit/>
          </a:bodyPr>
          <a:lstStyle/>
          <a:p>
            <a:pPr indent="0" lvl="0" marL="0" marR="0" rtl="0" algn="ctr">
              <a:lnSpc>
                <a:spcPct val="100000"/>
              </a:lnSpc>
              <a:spcBef>
                <a:spcPts val="0"/>
              </a:spcBef>
              <a:spcAft>
                <a:spcPts val="0"/>
              </a:spcAft>
              <a:buClr>
                <a:srgbClr val="000000"/>
              </a:buClr>
              <a:buSzPts val="981"/>
              <a:buFont typeface="Arial"/>
              <a:buNone/>
            </a:pPr>
            <a:r>
              <a:t/>
            </a:r>
            <a:endParaRPr b="0" i="0" sz="981" u="none" cap="none" strike="noStrike">
              <a:solidFill>
                <a:srgbClr val="000000"/>
              </a:solidFill>
              <a:latin typeface="Arial"/>
              <a:ea typeface="Arial"/>
              <a:cs typeface="Arial"/>
              <a:sym typeface="Arial"/>
            </a:endParaRPr>
          </a:p>
        </p:txBody>
      </p:sp>
      <p:pic>
        <p:nvPicPr>
          <p:cNvPr id="337" name="Google Shape;337;p36"/>
          <p:cNvPicPr preferRelativeResize="0"/>
          <p:nvPr/>
        </p:nvPicPr>
        <p:blipFill rotWithShape="1">
          <a:blip r:embed="rId9">
            <a:alphaModFix/>
          </a:blip>
          <a:srcRect b="0" l="0" r="0" t="0"/>
          <a:stretch/>
        </p:blipFill>
        <p:spPr>
          <a:xfrm>
            <a:off x="2224414" y="1802335"/>
            <a:ext cx="389415" cy="389415"/>
          </a:xfrm>
          <a:prstGeom prst="rect">
            <a:avLst/>
          </a:prstGeom>
          <a:noFill/>
          <a:ln>
            <a:noFill/>
          </a:ln>
        </p:spPr>
      </p:pic>
      <p:sp>
        <p:nvSpPr>
          <p:cNvPr id="338" name="Google Shape;338;p36"/>
          <p:cNvSpPr txBox="1"/>
          <p:nvPr/>
        </p:nvSpPr>
        <p:spPr>
          <a:xfrm>
            <a:off x="2538072" y="1802359"/>
            <a:ext cx="1130700" cy="389400"/>
          </a:xfrm>
          <a:prstGeom prst="rect">
            <a:avLst/>
          </a:prstGeom>
          <a:noFill/>
          <a:ln>
            <a:noFill/>
          </a:ln>
        </p:spPr>
        <p:txBody>
          <a:bodyPr anchorCtr="0" anchor="t" bIns="83625" lIns="83625" spcFirstLastPara="1" rIns="83625" wrap="square" tIns="83625">
            <a:noAutofit/>
          </a:bodyPr>
          <a:lstStyle/>
          <a:p>
            <a:pPr indent="0" lvl="0" marL="0" marR="0" rtl="0" algn="l">
              <a:lnSpc>
                <a:spcPct val="100000"/>
              </a:lnSpc>
              <a:spcBef>
                <a:spcPts val="0"/>
              </a:spcBef>
              <a:spcAft>
                <a:spcPts val="0"/>
              </a:spcAft>
              <a:buClr>
                <a:srgbClr val="000000"/>
              </a:buClr>
              <a:buSzPts val="1829"/>
              <a:buFont typeface="Arial"/>
              <a:buNone/>
            </a:pPr>
            <a:r>
              <a:rPr b="1" i="0" lang="en-US" sz="1829" u="none" cap="none" strike="noStrike">
                <a:solidFill>
                  <a:schemeClr val="dk2"/>
                </a:solidFill>
                <a:latin typeface="Arial"/>
                <a:ea typeface="Arial"/>
                <a:cs typeface="Arial"/>
                <a:sym typeface="Arial"/>
              </a:rPr>
              <a:t>eflex UI</a:t>
            </a:r>
            <a:endParaRPr b="1" i="0" sz="1829" u="none" cap="none" strike="noStrike">
              <a:solidFill>
                <a:schemeClr val="dk2"/>
              </a:solidFill>
              <a:latin typeface="Arial"/>
              <a:ea typeface="Arial"/>
              <a:cs typeface="Arial"/>
              <a:sym typeface="Arial"/>
            </a:endParaRPr>
          </a:p>
        </p:txBody>
      </p:sp>
      <p:cxnSp>
        <p:nvCxnSpPr>
          <p:cNvPr id="339" name="Google Shape;339;p36"/>
          <p:cNvCxnSpPr/>
          <p:nvPr/>
        </p:nvCxnSpPr>
        <p:spPr>
          <a:xfrm flipH="1" rot="10800000">
            <a:off x="959043" y="1894191"/>
            <a:ext cx="1052700" cy="571500"/>
          </a:xfrm>
          <a:prstGeom prst="bentConnector3">
            <a:avLst>
              <a:gd fmla="val 480" name="adj1"/>
            </a:avLst>
          </a:prstGeom>
          <a:noFill/>
          <a:ln cap="flat" cmpd="sng" w="34850">
            <a:solidFill>
              <a:schemeClr val="dk2"/>
            </a:solidFill>
            <a:prstDash val="solid"/>
            <a:round/>
            <a:headEnd len="sm" w="sm" type="none"/>
            <a:tailEnd len="med" w="med" type="triangle"/>
          </a:ln>
        </p:spPr>
      </p:cxnSp>
      <p:sp>
        <p:nvSpPr>
          <p:cNvPr id="340" name="Google Shape;340;p36"/>
          <p:cNvSpPr txBox="1"/>
          <p:nvPr/>
        </p:nvSpPr>
        <p:spPr>
          <a:xfrm>
            <a:off x="172220" y="1453004"/>
            <a:ext cx="1740600" cy="349200"/>
          </a:xfrm>
          <a:prstGeom prst="rect">
            <a:avLst/>
          </a:prstGeom>
          <a:noFill/>
          <a:ln>
            <a:noFill/>
          </a:ln>
        </p:spPr>
        <p:txBody>
          <a:bodyPr anchorCtr="0" anchor="t"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1006"/>
              <a:buFont typeface="Arial"/>
              <a:buNone/>
            </a:pPr>
            <a:r>
              <a:rPr b="1" i="0" lang="en-US" sz="1006" u="none" cap="none" strike="noStrike">
                <a:solidFill>
                  <a:schemeClr val="dk1"/>
                </a:solidFill>
                <a:latin typeface="Arial"/>
                <a:ea typeface="Arial"/>
                <a:cs typeface="Arial"/>
                <a:sym typeface="Arial"/>
              </a:rPr>
              <a:t>Survey</a:t>
            </a:r>
            <a:endParaRPr b="1" i="0" sz="1006"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6"/>
              <a:buFont typeface="Arial"/>
              <a:buNone/>
            </a:pPr>
            <a:r>
              <a:rPr b="1" i="0" lang="en-US" sz="1006" u="none" cap="none" strike="noStrike">
                <a:solidFill>
                  <a:schemeClr val="dk1"/>
                </a:solidFill>
                <a:latin typeface="Arial"/>
                <a:ea typeface="Arial"/>
                <a:cs typeface="Arial"/>
                <a:sym typeface="Arial"/>
              </a:rPr>
              <a:t>Response</a:t>
            </a:r>
            <a:endParaRPr b="1" i="0" sz="1006" u="none" cap="none" strike="noStrike">
              <a:solidFill>
                <a:schemeClr val="dk1"/>
              </a:solidFill>
              <a:latin typeface="Arial"/>
              <a:ea typeface="Arial"/>
              <a:cs typeface="Arial"/>
              <a:sym typeface="Arial"/>
            </a:endParaRPr>
          </a:p>
        </p:txBody>
      </p:sp>
      <p:sp>
        <p:nvSpPr>
          <p:cNvPr id="341" name="Google Shape;341;p36"/>
          <p:cNvSpPr/>
          <p:nvPr/>
        </p:nvSpPr>
        <p:spPr>
          <a:xfrm>
            <a:off x="2201613" y="2395947"/>
            <a:ext cx="1407600" cy="481800"/>
          </a:xfrm>
          <a:prstGeom prst="roundRect">
            <a:avLst>
              <a:gd fmla="val 16667" name="adj"/>
            </a:avLst>
          </a:prstGeom>
          <a:solidFill>
            <a:srgbClr val="8E7CC3"/>
          </a:solidFill>
          <a:ln>
            <a:noFill/>
          </a:ln>
        </p:spPr>
        <p:txBody>
          <a:bodyPr anchorCtr="0" anchor="ctr"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1555"/>
              <a:buFont typeface="Arial"/>
              <a:buNone/>
            </a:pPr>
            <a:r>
              <a:rPr b="1" i="0" lang="en-US" sz="1555" u="none" cap="none" strike="noStrike">
                <a:solidFill>
                  <a:schemeClr val="lt1"/>
                </a:solidFill>
                <a:latin typeface="Arial"/>
                <a:ea typeface="Arial"/>
                <a:cs typeface="Arial"/>
                <a:sym typeface="Arial"/>
              </a:rPr>
              <a:t>User Survey</a:t>
            </a:r>
            <a:endParaRPr b="1" i="0" sz="1555" u="none" cap="none" strike="noStrike">
              <a:solidFill>
                <a:schemeClr val="lt1"/>
              </a:solidFill>
              <a:latin typeface="Arial"/>
              <a:ea typeface="Arial"/>
              <a:cs typeface="Arial"/>
              <a:sym typeface="Arial"/>
            </a:endParaRPr>
          </a:p>
        </p:txBody>
      </p:sp>
      <p:sp>
        <p:nvSpPr>
          <p:cNvPr id="342" name="Google Shape;342;p36"/>
          <p:cNvSpPr/>
          <p:nvPr/>
        </p:nvSpPr>
        <p:spPr>
          <a:xfrm>
            <a:off x="2201613" y="3155853"/>
            <a:ext cx="1407600" cy="481800"/>
          </a:xfrm>
          <a:prstGeom prst="roundRect">
            <a:avLst>
              <a:gd fmla="val 16667" name="adj"/>
            </a:avLst>
          </a:prstGeom>
          <a:solidFill>
            <a:srgbClr val="8E7CC3"/>
          </a:solidFill>
          <a:ln>
            <a:noFill/>
          </a:ln>
        </p:spPr>
        <p:txBody>
          <a:bodyPr anchorCtr="0" anchor="ctr"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1555"/>
              <a:buFont typeface="Arial"/>
              <a:buNone/>
            </a:pPr>
            <a:r>
              <a:rPr b="1" i="0" lang="en-US" sz="1555" u="none" cap="none" strike="noStrike">
                <a:solidFill>
                  <a:schemeClr val="lt1"/>
                </a:solidFill>
                <a:latin typeface="Arial"/>
                <a:ea typeface="Arial"/>
                <a:cs typeface="Arial"/>
                <a:sym typeface="Arial"/>
              </a:rPr>
              <a:t>Curriculum</a:t>
            </a:r>
            <a:endParaRPr b="1" i="0" sz="1555" u="none" cap="none" strike="noStrike">
              <a:solidFill>
                <a:schemeClr val="lt1"/>
              </a:solidFill>
              <a:latin typeface="Arial"/>
              <a:ea typeface="Arial"/>
              <a:cs typeface="Arial"/>
              <a:sym typeface="Arial"/>
            </a:endParaRPr>
          </a:p>
        </p:txBody>
      </p:sp>
      <p:sp>
        <p:nvSpPr>
          <p:cNvPr id="343" name="Google Shape;343;p36"/>
          <p:cNvSpPr/>
          <p:nvPr/>
        </p:nvSpPr>
        <p:spPr>
          <a:xfrm>
            <a:off x="2206152" y="3938417"/>
            <a:ext cx="1407600" cy="481800"/>
          </a:xfrm>
          <a:prstGeom prst="roundRect">
            <a:avLst>
              <a:gd fmla="val 16667" name="adj"/>
            </a:avLst>
          </a:prstGeom>
          <a:solidFill>
            <a:srgbClr val="8E7CC3"/>
          </a:solidFill>
          <a:ln>
            <a:noFill/>
          </a:ln>
        </p:spPr>
        <p:txBody>
          <a:bodyPr anchorCtr="0" anchor="ctr"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1555"/>
              <a:buFont typeface="Arial"/>
              <a:buNone/>
            </a:pPr>
            <a:r>
              <a:rPr b="1" i="0" lang="en-US" sz="1555" u="none" cap="none" strike="noStrike">
                <a:solidFill>
                  <a:schemeClr val="lt1"/>
                </a:solidFill>
                <a:latin typeface="Arial"/>
                <a:ea typeface="Arial"/>
                <a:cs typeface="Arial"/>
                <a:sym typeface="Arial"/>
              </a:rPr>
              <a:t>Progress Dashboard</a:t>
            </a:r>
            <a:endParaRPr b="1" i="0" sz="1555" u="none" cap="none" strike="noStrike">
              <a:solidFill>
                <a:schemeClr val="lt1"/>
              </a:solidFill>
              <a:latin typeface="Arial"/>
              <a:ea typeface="Arial"/>
              <a:cs typeface="Arial"/>
              <a:sym typeface="Arial"/>
            </a:endParaRPr>
          </a:p>
        </p:txBody>
      </p:sp>
      <p:cxnSp>
        <p:nvCxnSpPr>
          <p:cNvPr id="344" name="Google Shape;344;p36"/>
          <p:cNvCxnSpPr/>
          <p:nvPr/>
        </p:nvCxnSpPr>
        <p:spPr>
          <a:xfrm>
            <a:off x="3835547" y="2472108"/>
            <a:ext cx="2736300" cy="0"/>
          </a:xfrm>
          <a:prstGeom prst="straightConnector1">
            <a:avLst/>
          </a:prstGeom>
          <a:noFill/>
          <a:ln cap="flat" cmpd="sng" w="34850">
            <a:solidFill>
              <a:schemeClr val="dk2"/>
            </a:solidFill>
            <a:prstDash val="solid"/>
            <a:round/>
            <a:headEnd len="sm" w="sm" type="none"/>
            <a:tailEnd len="med" w="med" type="triangle"/>
          </a:ln>
        </p:spPr>
      </p:cxnSp>
      <p:cxnSp>
        <p:nvCxnSpPr>
          <p:cNvPr id="345" name="Google Shape;345;p36"/>
          <p:cNvCxnSpPr>
            <a:stCxn id="310" idx="2"/>
            <a:endCxn id="323" idx="0"/>
          </p:cNvCxnSpPr>
          <p:nvPr/>
        </p:nvCxnSpPr>
        <p:spPr>
          <a:xfrm>
            <a:off x="7515834" y="3474505"/>
            <a:ext cx="0" cy="588000"/>
          </a:xfrm>
          <a:prstGeom prst="straightConnector1">
            <a:avLst/>
          </a:prstGeom>
          <a:noFill/>
          <a:ln cap="flat" cmpd="sng" w="34850">
            <a:solidFill>
              <a:schemeClr val="dk2"/>
            </a:solidFill>
            <a:prstDash val="solid"/>
            <a:round/>
            <a:headEnd len="sm" w="sm" type="none"/>
            <a:tailEnd len="med" w="med" type="triangle"/>
          </a:ln>
        </p:spPr>
      </p:cxnSp>
      <p:pic>
        <p:nvPicPr>
          <p:cNvPr id="346" name="Google Shape;346;p36"/>
          <p:cNvPicPr preferRelativeResize="0"/>
          <p:nvPr/>
        </p:nvPicPr>
        <p:blipFill rotWithShape="1">
          <a:blip r:embed="rId10">
            <a:alphaModFix/>
          </a:blip>
          <a:srcRect b="0" l="0" r="0" t="0"/>
          <a:stretch/>
        </p:blipFill>
        <p:spPr>
          <a:xfrm>
            <a:off x="5361486" y="3087512"/>
            <a:ext cx="615551" cy="615551"/>
          </a:xfrm>
          <a:prstGeom prst="rect">
            <a:avLst/>
          </a:prstGeom>
          <a:noFill/>
          <a:ln>
            <a:noFill/>
          </a:ln>
        </p:spPr>
      </p:pic>
      <p:sp>
        <p:nvSpPr>
          <p:cNvPr id="347" name="Google Shape;347;p36"/>
          <p:cNvSpPr txBox="1"/>
          <p:nvPr/>
        </p:nvSpPr>
        <p:spPr>
          <a:xfrm>
            <a:off x="4147831" y="2856643"/>
            <a:ext cx="1530600" cy="456600"/>
          </a:xfrm>
          <a:prstGeom prst="rect">
            <a:avLst/>
          </a:prstGeom>
          <a:noFill/>
          <a:ln>
            <a:noFill/>
          </a:ln>
        </p:spPr>
        <p:txBody>
          <a:bodyPr anchorCtr="0" anchor="t" bIns="68850" lIns="68850" spcFirstLastPara="1" rIns="68850" wrap="square" tIns="68850">
            <a:noAutofit/>
          </a:bodyPr>
          <a:lstStyle/>
          <a:p>
            <a:pPr indent="0" lvl="0" marL="0" marR="0" rtl="0" algn="ctr">
              <a:lnSpc>
                <a:spcPct val="100000"/>
              </a:lnSpc>
              <a:spcBef>
                <a:spcPts val="0"/>
              </a:spcBef>
              <a:spcAft>
                <a:spcPts val="0"/>
              </a:spcAft>
              <a:buClr>
                <a:srgbClr val="000000"/>
              </a:buClr>
              <a:buSzPts val="1103"/>
              <a:buFont typeface="Arial"/>
              <a:buNone/>
            </a:pPr>
            <a:r>
              <a:rPr b="1" i="0" lang="en-US" sz="1103" u="none" cap="none" strike="noStrike">
                <a:solidFill>
                  <a:schemeClr val="dk1"/>
                </a:solidFill>
                <a:latin typeface="Arial"/>
                <a:ea typeface="Arial"/>
                <a:cs typeface="Arial"/>
                <a:sym typeface="Arial"/>
              </a:rPr>
              <a:t>Generate</a:t>
            </a:r>
            <a:endParaRPr b="1" i="0" sz="1103"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3"/>
              <a:buFont typeface="Arial"/>
              <a:buNone/>
            </a:pPr>
            <a:r>
              <a:rPr b="1" i="0" lang="en-US" sz="1103" u="none" cap="none" strike="noStrike">
                <a:solidFill>
                  <a:schemeClr val="dk1"/>
                </a:solidFill>
                <a:latin typeface="Arial"/>
                <a:ea typeface="Arial"/>
                <a:cs typeface="Arial"/>
                <a:sym typeface="Arial"/>
              </a:rPr>
              <a:t>Curriculum</a:t>
            </a:r>
            <a:endParaRPr b="1" i="0" sz="1103" u="none" cap="none" strike="noStrike">
              <a:solidFill>
                <a:schemeClr val="dk1"/>
              </a:solidFill>
              <a:latin typeface="Arial"/>
              <a:ea typeface="Arial"/>
              <a:cs typeface="Arial"/>
              <a:sym typeface="Arial"/>
            </a:endParaRPr>
          </a:p>
        </p:txBody>
      </p:sp>
      <p:cxnSp>
        <p:nvCxnSpPr>
          <p:cNvPr id="348" name="Google Shape;348;p36"/>
          <p:cNvCxnSpPr/>
          <p:nvPr/>
        </p:nvCxnSpPr>
        <p:spPr>
          <a:xfrm rot="10800000">
            <a:off x="3863766" y="3370846"/>
            <a:ext cx="1468800" cy="5100"/>
          </a:xfrm>
          <a:prstGeom prst="straightConnector1">
            <a:avLst/>
          </a:prstGeom>
          <a:noFill/>
          <a:ln cap="flat" cmpd="sng" w="34850">
            <a:solidFill>
              <a:schemeClr val="dk2"/>
            </a:solidFill>
            <a:prstDash val="solid"/>
            <a:round/>
            <a:headEnd len="sm" w="sm" type="none"/>
            <a:tailEnd len="med" w="med" type="triangle"/>
          </a:ln>
        </p:spPr>
      </p:cxnSp>
      <p:cxnSp>
        <p:nvCxnSpPr>
          <p:cNvPr id="349" name="Google Shape;349;p36"/>
          <p:cNvCxnSpPr>
            <a:stCxn id="311" idx="0"/>
            <a:endCxn id="310" idx="1"/>
          </p:cNvCxnSpPr>
          <p:nvPr/>
        </p:nvCxnSpPr>
        <p:spPr>
          <a:xfrm rot="-5400000">
            <a:off x="6014072" y="2454080"/>
            <a:ext cx="246600" cy="930300"/>
          </a:xfrm>
          <a:prstGeom prst="bentConnector2">
            <a:avLst/>
          </a:prstGeom>
          <a:noFill/>
          <a:ln cap="flat" cmpd="sng" w="34850">
            <a:solidFill>
              <a:schemeClr val="dk2"/>
            </a:solidFill>
            <a:prstDash val="solid"/>
            <a:round/>
            <a:headEnd len="sm" w="sm" type="none"/>
            <a:tailEnd len="med" w="med" type="triangle"/>
          </a:ln>
        </p:spPr>
      </p:cxnSp>
      <p:sp>
        <p:nvSpPr>
          <p:cNvPr id="350" name="Google Shape;350;p36"/>
          <p:cNvSpPr/>
          <p:nvPr/>
        </p:nvSpPr>
        <p:spPr>
          <a:xfrm>
            <a:off x="5326437" y="4318435"/>
            <a:ext cx="696300" cy="705300"/>
          </a:xfrm>
          <a:prstGeom prst="roundRect">
            <a:avLst>
              <a:gd fmla="val 16667" name="adj"/>
            </a:avLst>
          </a:prstGeom>
          <a:solidFill>
            <a:schemeClr val="lt1"/>
          </a:solidFill>
          <a:ln cap="flat" cmpd="sng" w="28700">
            <a:solidFill>
              <a:srgbClr val="3D85C6"/>
            </a:solidFill>
            <a:prstDash val="solid"/>
            <a:round/>
            <a:headEnd len="sm" w="sm" type="none"/>
            <a:tailEnd len="sm" w="sm" type="none"/>
          </a:ln>
        </p:spPr>
        <p:txBody>
          <a:bodyPr anchorCtr="0" anchor="ctr" bIns="68850" lIns="68850" spcFirstLastPara="1" rIns="68850" wrap="square" tIns="68850">
            <a:noAutofit/>
          </a:bodyPr>
          <a:lstStyle/>
          <a:p>
            <a:pPr indent="0" lvl="0" marL="0" marR="0" rtl="0" algn="ctr">
              <a:lnSpc>
                <a:spcPct val="100000"/>
              </a:lnSpc>
              <a:spcBef>
                <a:spcPts val="0"/>
              </a:spcBef>
              <a:spcAft>
                <a:spcPts val="0"/>
              </a:spcAft>
              <a:buClr>
                <a:srgbClr val="000000"/>
              </a:buClr>
              <a:buSzPts val="1054"/>
              <a:buFont typeface="Arial"/>
              <a:buNone/>
            </a:pPr>
            <a:r>
              <a:t/>
            </a:r>
            <a:endParaRPr b="0" i="0" sz="1054" u="none" cap="none" strike="noStrike">
              <a:solidFill>
                <a:srgbClr val="000000"/>
              </a:solidFill>
              <a:latin typeface="Arial"/>
              <a:ea typeface="Arial"/>
              <a:cs typeface="Arial"/>
              <a:sym typeface="Arial"/>
            </a:endParaRPr>
          </a:p>
        </p:txBody>
      </p:sp>
      <p:pic>
        <p:nvPicPr>
          <p:cNvPr descr="Centralized Log Management with Terraform: Streamlining Log Export to  Supported Destinations | by Saloni Patidar | Google Cloud - Community |  Medium" id="351" name="Google Shape;351;p36"/>
          <p:cNvPicPr preferRelativeResize="0"/>
          <p:nvPr/>
        </p:nvPicPr>
        <p:blipFill rotWithShape="1">
          <a:blip r:embed="rId11">
            <a:alphaModFix/>
          </a:blip>
          <a:srcRect b="0" l="0" r="0" t="0"/>
          <a:stretch/>
        </p:blipFill>
        <p:spPr>
          <a:xfrm>
            <a:off x="5364008" y="4389895"/>
            <a:ext cx="615549" cy="562575"/>
          </a:xfrm>
          <a:prstGeom prst="rect">
            <a:avLst/>
          </a:prstGeom>
          <a:noFill/>
          <a:ln>
            <a:noFill/>
          </a:ln>
        </p:spPr>
      </p:pic>
      <p:cxnSp>
        <p:nvCxnSpPr>
          <p:cNvPr id="352" name="Google Shape;352;p36"/>
          <p:cNvCxnSpPr>
            <a:stCxn id="323" idx="1"/>
            <a:endCxn id="311" idx="3"/>
          </p:cNvCxnSpPr>
          <p:nvPr/>
        </p:nvCxnSpPr>
        <p:spPr>
          <a:xfrm rot="10800000">
            <a:off x="6020327" y="3395235"/>
            <a:ext cx="582300" cy="1083900"/>
          </a:xfrm>
          <a:prstGeom prst="bentConnector3">
            <a:avLst>
              <a:gd fmla="val 50010" name="adj1"/>
            </a:avLst>
          </a:prstGeom>
          <a:noFill/>
          <a:ln cap="flat" cmpd="sng" w="34850">
            <a:solidFill>
              <a:schemeClr val="dk2"/>
            </a:solidFill>
            <a:prstDash val="solid"/>
            <a:round/>
            <a:headEnd len="sm" w="sm" type="none"/>
            <a:tailEnd len="med" w="med" type="triangle"/>
          </a:ln>
        </p:spPr>
      </p:cxnSp>
      <p:cxnSp>
        <p:nvCxnSpPr>
          <p:cNvPr id="353" name="Google Shape;353;p36"/>
          <p:cNvCxnSpPr>
            <a:stCxn id="311" idx="2"/>
            <a:endCxn id="350" idx="0"/>
          </p:cNvCxnSpPr>
          <p:nvPr/>
        </p:nvCxnSpPr>
        <p:spPr>
          <a:xfrm>
            <a:off x="5672222" y="3747830"/>
            <a:ext cx="2400" cy="570600"/>
          </a:xfrm>
          <a:prstGeom prst="straightConnector1">
            <a:avLst/>
          </a:prstGeom>
          <a:noFill/>
          <a:ln cap="flat" cmpd="sng" w="34850">
            <a:solidFill>
              <a:schemeClr val="dk2"/>
            </a:solidFill>
            <a:prstDash val="solid"/>
            <a:round/>
            <a:headEnd len="sm" w="sm" type="none"/>
            <a:tailEnd len="med" w="med" type="triangle"/>
          </a:ln>
        </p:spPr>
      </p:cxnSp>
      <p:sp>
        <p:nvSpPr>
          <p:cNvPr id="354" name="Google Shape;354;p36"/>
          <p:cNvSpPr txBox="1"/>
          <p:nvPr/>
        </p:nvSpPr>
        <p:spPr>
          <a:xfrm>
            <a:off x="7445458" y="3491285"/>
            <a:ext cx="1407600" cy="554400"/>
          </a:xfrm>
          <a:prstGeom prst="rect">
            <a:avLst/>
          </a:prstGeom>
          <a:noFill/>
          <a:ln>
            <a:noFill/>
          </a:ln>
        </p:spPr>
        <p:txBody>
          <a:bodyPr anchorCtr="0" anchor="t" bIns="83625" lIns="83625" spcFirstLastPara="1" rIns="83625" wrap="square" tIns="83625">
            <a:noAutofit/>
          </a:bodyPr>
          <a:lstStyle/>
          <a:p>
            <a:pPr indent="0" lvl="0" marL="0" marR="0" rtl="0" algn="ctr">
              <a:lnSpc>
                <a:spcPct val="100000"/>
              </a:lnSpc>
              <a:spcBef>
                <a:spcPts val="0"/>
              </a:spcBef>
              <a:spcAft>
                <a:spcPts val="0"/>
              </a:spcAft>
              <a:buClr>
                <a:srgbClr val="000000"/>
              </a:buClr>
              <a:buSzPts val="1006"/>
              <a:buFont typeface="Arial"/>
              <a:buNone/>
            </a:pPr>
            <a:r>
              <a:rPr b="1" i="0" lang="en-US" sz="1006" u="none" cap="none" strike="noStrike">
                <a:solidFill>
                  <a:schemeClr val="dk1"/>
                </a:solidFill>
                <a:latin typeface="Arial"/>
                <a:ea typeface="Arial"/>
                <a:cs typeface="Arial"/>
                <a:sym typeface="Arial"/>
              </a:rPr>
              <a:t>Curriculum Candidate Books</a:t>
            </a:r>
            <a:endParaRPr b="1" i="0" sz="1006" u="none" cap="none" strike="noStrike">
              <a:solidFill>
                <a:schemeClr val="dk1"/>
              </a:solidFill>
              <a:latin typeface="Arial"/>
              <a:ea typeface="Arial"/>
              <a:cs typeface="Arial"/>
              <a:sym typeface="Arial"/>
            </a:endParaRPr>
          </a:p>
        </p:txBody>
      </p:sp>
      <p:sp>
        <p:nvSpPr>
          <p:cNvPr id="355" name="Google Shape;355;p36"/>
          <p:cNvSpPr txBox="1"/>
          <p:nvPr/>
        </p:nvSpPr>
        <p:spPr>
          <a:xfrm>
            <a:off x="4742993" y="3685310"/>
            <a:ext cx="860100" cy="456600"/>
          </a:xfrm>
          <a:prstGeom prst="rect">
            <a:avLst/>
          </a:prstGeom>
          <a:noFill/>
          <a:ln>
            <a:noFill/>
          </a:ln>
        </p:spPr>
        <p:txBody>
          <a:bodyPr anchorCtr="0" anchor="t" bIns="68850" lIns="68850" spcFirstLastPara="1" rIns="68850" wrap="square" tIns="68850">
            <a:noAutofit/>
          </a:bodyPr>
          <a:lstStyle/>
          <a:p>
            <a:pPr indent="0" lvl="0" marL="0" marR="0" rtl="0" algn="ctr">
              <a:lnSpc>
                <a:spcPct val="100000"/>
              </a:lnSpc>
              <a:spcBef>
                <a:spcPts val="0"/>
              </a:spcBef>
              <a:spcAft>
                <a:spcPts val="0"/>
              </a:spcAft>
              <a:buClr>
                <a:srgbClr val="000000"/>
              </a:buClr>
              <a:buSzPts val="1103"/>
              <a:buFont typeface="Arial"/>
              <a:buNone/>
            </a:pPr>
            <a:r>
              <a:rPr b="1" i="0" lang="en-US" sz="1103" u="none" cap="none" strike="noStrike">
                <a:solidFill>
                  <a:schemeClr val="dk1"/>
                </a:solidFill>
                <a:latin typeface="Arial"/>
                <a:ea typeface="Arial"/>
                <a:cs typeface="Arial"/>
                <a:sym typeface="Arial"/>
              </a:rPr>
              <a:t>Cloud</a:t>
            </a:r>
            <a:endParaRPr b="1" i="0" sz="1103"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3"/>
              <a:buFont typeface="Arial"/>
              <a:buNone/>
            </a:pPr>
            <a:r>
              <a:rPr b="1" i="0" lang="en-US" sz="1103" u="none" cap="none" strike="noStrike">
                <a:solidFill>
                  <a:schemeClr val="dk1"/>
                </a:solidFill>
                <a:latin typeface="Arial"/>
                <a:ea typeface="Arial"/>
                <a:cs typeface="Arial"/>
                <a:sym typeface="Arial"/>
              </a:rPr>
              <a:t>Logging</a:t>
            </a:r>
            <a:endParaRPr b="1" i="0" sz="1103" u="none" cap="none" strike="noStrike">
              <a:solidFill>
                <a:schemeClr val="dk1"/>
              </a:solidFill>
              <a:latin typeface="Arial"/>
              <a:ea typeface="Arial"/>
              <a:cs typeface="Arial"/>
              <a:sym typeface="Arial"/>
            </a:endParaRPr>
          </a:p>
        </p:txBody>
      </p:sp>
      <p:cxnSp>
        <p:nvCxnSpPr>
          <p:cNvPr id="356" name="Google Shape;356;p36"/>
          <p:cNvCxnSpPr>
            <a:stCxn id="313" idx="2"/>
            <a:endCxn id="310" idx="0"/>
          </p:cNvCxnSpPr>
          <p:nvPr/>
        </p:nvCxnSpPr>
        <p:spPr>
          <a:xfrm>
            <a:off x="6282931" y="1412733"/>
            <a:ext cx="1233000" cy="705000"/>
          </a:xfrm>
          <a:prstGeom prst="bentConnector2">
            <a:avLst/>
          </a:prstGeom>
          <a:noFill/>
          <a:ln cap="flat" cmpd="sng" w="34850">
            <a:solidFill>
              <a:schemeClr val="dk2"/>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361" name="Shape 361"/>
        <p:cNvGrpSpPr/>
        <p:nvPr/>
      </p:nvGrpSpPr>
      <p:grpSpPr>
        <a:xfrm>
          <a:off x="0" y="0"/>
          <a:ext cx="0" cy="0"/>
          <a:chOff x="0" y="0"/>
          <a:chExt cx="0" cy="0"/>
        </a:xfrm>
      </p:grpSpPr>
      <p:sp>
        <p:nvSpPr>
          <p:cNvPr id="362" name="Google Shape;362;p37"/>
          <p:cNvSpPr/>
          <p:nvPr/>
        </p:nvSpPr>
        <p:spPr>
          <a:xfrm>
            <a:off x="8275320" y="274320"/>
            <a:ext cx="164700" cy="164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7"/>
          <p:cNvSpPr/>
          <p:nvPr/>
        </p:nvSpPr>
        <p:spPr>
          <a:xfrm>
            <a:off x="6675120" y="246888"/>
            <a:ext cx="15546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364" name="Google Shape;364;p37"/>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DATA + DATABASE</a:t>
            </a:r>
            <a:endParaRPr b="0" i="0" sz="1000" u="none" cap="none" strike="noStrike">
              <a:solidFill>
                <a:schemeClr val="dk1"/>
              </a:solidFill>
              <a:latin typeface="Calibri"/>
              <a:ea typeface="Calibri"/>
              <a:cs typeface="Calibri"/>
              <a:sym typeface="Calibri"/>
            </a:endParaRPr>
          </a:p>
        </p:txBody>
      </p:sp>
      <p:sp>
        <p:nvSpPr>
          <p:cNvPr id="365" name="Google Shape;365;p37"/>
          <p:cNvSpPr/>
          <p:nvPr/>
        </p:nvSpPr>
        <p:spPr>
          <a:xfrm>
            <a:off x="457200" y="502920"/>
            <a:ext cx="82296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Three data layers: Goodreads catalog · Reddit signal · per-user state.</a:t>
            </a:r>
            <a:endParaRPr b="0" i="0" sz="2800" u="none" cap="none" strike="noStrike">
              <a:solidFill>
                <a:schemeClr val="dk1"/>
              </a:solidFill>
              <a:latin typeface="Calibri"/>
              <a:ea typeface="Calibri"/>
              <a:cs typeface="Calibri"/>
              <a:sym typeface="Calibri"/>
            </a:endParaRPr>
          </a:p>
        </p:txBody>
      </p:sp>
      <p:sp>
        <p:nvSpPr>
          <p:cNvPr id="366" name="Google Shape;366;p37"/>
          <p:cNvSpPr/>
          <p:nvPr/>
        </p:nvSpPr>
        <p:spPr>
          <a:xfrm>
            <a:off x="457200" y="1280160"/>
            <a:ext cx="2743200" cy="33375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37"/>
          <p:cNvSpPr/>
          <p:nvPr/>
        </p:nvSpPr>
        <p:spPr>
          <a:xfrm>
            <a:off x="457200" y="1417320"/>
            <a:ext cx="27432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BIGQUERY</a:t>
            </a:r>
            <a:endParaRPr b="0" i="0" sz="1000" u="none" cap="none" strike="noStrike">
              <a:solidFill>
                <a:schemeClr val="dk1"/>
              </a:solidFill>
              <a:latin typeface="Calibri"/>
              <a:ea typeface="Calibri"/>
              <a:cs typeface="Calibri"/>
              <a:sym typeface="Calibri"/>
            </a:endParaRPr>
          </a:p>
        </p:txBody>
      </p:sp>
      <p:sp>
        <p:nvSpPr>
          <p:cNvPr id="368" name="Google Shape;368;p37"/>
          <p:cNvSpPr/>
          <p:nvPr/>
        </p:nvSpPr>
        <p:spPr>
          <a:xfrm>
            <a:off x="457200" y="1691640"/>
            <a:ext cx="2743200" cy="777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DEDED"/>
              </a:buClr>
              <a:buSzPts val="5000"/>
              <a:buFont typeface="Georgia"/>
              <a:buNone/>
            </a:pPr>
            <a:r>
              <a:rPr b="1" i="1" lang="en-US" sz="5000" u="none" cap="none" strike="noStrike">
                <a:solidFill>
                  <a:srgbClr val="EDEDED"/>
                </a:solidFill>
                <a:latin typeface="Georgia"/>
                <a:ea typeface="Georgia"/>
                <a:cs typeface="Georgia"/>
                <a:sym typeface="Georgia"/>
              </a:rPr>
              <a:t>2.36M</a:t>
            </a:r>
            <a:endParaRPr b="0" i="0" sz="5000" u="none" cap="none" strike="noStrike">
              <a:solidFill>
                <a:schemeClr val="dk1"/>
              </a:solidFill>
              <a:latin typeface="Calibri"/>
              <a:ea typeface="Calibri"/>
              <a:cs typeface="Calibri"/>
              <a:sym typeface="Calibri"/>
            </a:endParaRPr>
          </a:p>
        </p:txBody>
      </p:sp>
      <p:sp>
        <p:nvSpPr>
          <p:cNvPr id="369" name="Google Shape;369;p37"/>
          <p:cNvSpPr/>
          <p:nvPr/>
        </p:nvSpPr>
        <p:spPr>
          <a:xfrm>
            <a:off x="457200" y="2514600"/>
            <a:ext cx="2743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DEDED"/>
              </a:buClr>
              <a:buSzPts val="1100"/>
              <a:buFont typeface="Calibri"/>
              <a:buNone/>
            </a:pPr>
            <a:r>
              <a:rPr b="0" i="1" lang="en-US" sz="1100" u="none" cap="none" strike="noStrike">
                <a:solidFill>
                  <a:srgbClr val="EDEDED"/>
                </a:solidFill>
                <a:latin typeface="Calibri"/>
                <a:ea typeface="Calibri"/>
                <a:cs typeface="Calibri"/>
                <a:sym typeface="Calibri"/>
              </a:rPr>
              <a:t>books · 498 Reddit posts · 628 mentions</a:t>
            </a:r>
            <a:endParaRPr b="0" i="0" sz="1100" u="none" cap="none" strike="noStrike">
              <a:solidFill>
                <a:schemeClr val="dk1"/>
              </a:solidFill>
              <a:latin typeface="Calibri"/>
              <a:ea typeface="Calibri"/>
              <a:cs typeface="Calibri"/>
              <a:sym typeface="Calibri"/>
            </a:endParaRPr>
          </a:p>
        </p:txBody>
      </p:sp>
      <p:sp>
        <p:nvSpPr>
          <p:cNvPr id="370" name="Google Shape;370;p37"/>
          <p:cNvSpPr/>
          <p:nvPr/>
        </p:nvSpPr>
        <p:spPr>
          <a:xfrm>
            <a:off x="1508760" y="2926080"/>
            <a:ext cx="640200" cy="36600"/>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7"/>
          <p:cNvSpPr/>
          <p:nvPr/>
        </p:nvSpPr>
        <p:spPr>
          <a:xfrm>
            <a:off x="594360" y="3108960"/>
            <a:ext cx="2469000" cy="141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POPULATED FROM</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EDEDED"/>
              </a:buClr>
              <a:buSzPts val="1000"/>
              <a:buFont typeface="Calibri"/>
              <a:buNone/>
            </a:pPr>
            <a:r>
              <a:rPr b="0" i="1" lang="en-US" sz="1000" u="none" cap="none" strike="noStrike">
                <a:solidFill>
                  <a:srgbClr val="EDEDED"/>
                </a:solidFill>
                <a:latin typeface="Calibri"/>
                <a:ea typeface="Calibri"/>
                <a:cs typeface="Calibri"/>
                <a:sym typeface="Calibri"/>
              </a:rPr>
              <a:t>UCSD Goodreads dump · r/books + r/suggestmeabook + r/literature via PRAW-free JSON · SQLite for user data</a:t>
            </a:r>
            <a:endParaRPr b="0" i="0" sz="1000" u="none" cap="none" strike="noStrike">
              <a:solidFill>
                <a:schemeClr val="dk1"/>
              </a:solidFill>
              <a:latin typeface="Calibri"/>
              <a:ea typeface="Calibri"/>
              <a:cs typeface="Calibri"/>
              <a:sym typeface="Calibri"/>
            </a:endParaRPr>
          </a:p>
        </p:txBody>
      </p:sp>
      <p:sp>
        <p:nvSpPr>
          <p:cNvPr id="372" name="Google Shape;372;p37"/>
          <p:cNvSpPr/>
          <p:nvPr/>
        </p:nvSpPr>
        <p:spPr>
          <a:xfrm>
            <a:off x="3383280" y="1280160"/>
            <a:ext cx="5303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ROW SHAPE  (per book)</a:t>
            </a:r>
            <a:endParaRPr b="0" i="0" sz="900" u="none" cap="none" strike="noStrike">
              <a:solidFill>
                <a:schemeClr val="dk1"/>
              </a:solidFill>
              <a:latin typeface="Calibri"/>
              <a:ea typeface="Calibri"/>
              <a:cs typeface="Calibri"/>
              <a:sym typeface="Calibri"/>
            </a:endParaRPr>
          </a:p>
        </p:txBody>
      </p:sp>
      <p:sp>
        <p:nvSpPr>
          <p:cNvPr id="373" name="Google Shape;373;p37"/>
          <p:cNvSpPr/>
          <p:nvPr/>
        </p:nvSpPr>
        <p:spPr>
          <a:xfrm>
            <a:off x="3383280" y="1508760"/>
            <a:ext cx="5303400" cy="100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100"/>
              <a:buFont typeface="Consolas"/>
              <a:buNone/>
            </a:pPr>
            <a:r>
              <a:rPr b="0" i="0" lang="en-US" sz="1100" u="none" cap="none" strike="noStrike">
                <a:solidFill>
                  <a:srgbClr val="1F1F1F"/>
                </a:solidFill>
                <a:latin typeface="Consolas"/>
                <a:ea typeface="Consolas"/>
                <a:cs typeface="Consolas"/>
                <a:sym typeface="Consolas"/>
              </a:rPr>
              <a:t>BIGQUERY  ·  Goodreads canonical book + author tables (typed)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100"/>
              </a:spcBef>
              <a:spcAft>
                <a:spcPts val="0"/>
              </a:spcAft>
              <a:buClr>
                <a:srgbClr val="1F1F1F"/>
              </a:buClr>
              <a:buSzPts val="1100"/>
              <a:buFont typeface="Consolas"/>
              <a:buNone/>
            </a:pPr>
            <a:r>
              <a:rPr b="0" i="0" lang="en-US" sz="1100" u="none" cap="none" strike="noStrike">
                <a:solidFill>
                  <a:srgbClr val="1F1F1F"/>
                </a:solidFill>
                <a:latin typeface="Consolas"/>
                <a:ea typeface="Consolas"/>
                <a:cs typeface="Consolas"/>
                <a:sym typeface="Consolas"/>
              </a:rPr>
              <a:t>BIGQUERY  ·  reddit_posts + reddit_book_mentions (Gemini-extracted)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100"/>
              </a:spcBef>
              <a:spcAft>
                <a:spcPts val="0"/>
              </a:spcAft>
              <a:buClr>
                <a:srgbClr val="1F1F1F"/>
              </a:buClr>
              <a:buSzPts val="1100"/>
              <a:buFont typeface="Consolas"/>
              <a:buNone/>
            </a:pPr>
            <a:r>
              <a:rPr b="0" i="0" lang="en-US" sz="1100" u="none" cap="none" strike="noStrike">
                <a:solidFill>
                  <a:srgbClr val="1F1F1F"/>
                </a:solidFill>
                <a:latin typeface="Consolas"/>
                <a:ea typeface="Consolas"/>
                <a:cs typeface="Consolas"/>
                <a:sym typeface="Consolas"/>
              </a:rPr>
              <a:t>BIGQUERY  ·  v_reddit_signal view — recommended / asked-similar / weighted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100"/>
              </a:spcBef>
              <a:spcAft>
                <a:spcPts val="0"/>
              </a:spcAft>
              <a:buClr>
                <a:srgbClr val="1F1F1F"/>
              </a:buClr>
              <a:buSzPts val="1100"/>
              <a:buFont typeface="Consolas"/>
              <a:buNone/>
            </a:pPr>
            <a:r>
              <a:rPr b="0" i="0" lang="en-US" sz="1100" u="none" cap="none" strike="noStrike">
                <a:solidFill>
                  <a:srgbClr val="1F1F1F"/>
                </a:solidFill>
                <a:latin typeface="Consolas"/>
                <a:ea typeface="Consolas"/>
                <a:cs typeface="Consolas"/>
                <a:sym typeface="Consolas"/>
              </a:rPr>
              <a:t>SQLITE  ·  user / curriculum / progress / read_book (Phase 2)</a:t>
            </a:r>
            <a:endParaRPr b="0" i="0" sz="1100" u="none" cap="none" strike="noStrike">
              <a:solidFill>
                <a:schemeClr val="dk1"/>
              </a:solidFill>
              <a:latin typeface="Calibri"/>
              <a:ea typeface="Calibri"/>
              <a:cs typeface="Calibri"/>
              <a:sym typeface="Calibri"/>
            </a:endParaRPr>
          </a:p>
        </p:txBody>
      </p:sp>
      <p:sp>
        <p:nvSpPr>
          <p:cNvPr id="374" name="Google Shape;374;p37"/>
          <p:cNvSpPr/>
          <p:nvPr/>
        </p:nvSpPr>
        <p:spPr>
          <a:xfrm>
            <a:off x="3383280" y="2606040"/>
            <a:ext cx="5303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CANDIDATE SCAN  (candidates.py)</a:t>
            </a:r>
            <a:endParaRPr b="0" i="0" sz="900" u="none" cap="none" strike="noStrike">
              <a:solidFill>
                <a:schemeClr val="dk1"/>
              </a:solidFill>
              <a:latin typeface="Calibri"/>
              <a:ea typeface="Calibri"/>
              <a:cs typeface="Calibri"/>
              <a:sym typeface="Calibri"/>
            </a:endParaRPr>
          </a:p>
        </p:txBody>
      </p:sp>
      <p:sp>
        <p:nvSpPr>
          <p:cNvPr id="375" name="Google Shape;375;p37"/>
          <p:cNvSpPr/>
          <p:nvPr/>
        </p:nvSpPr>
        <p:spPr>
          <a:xfrm>
            <a:off x="3383280" y="2834640"/>
            <a:ext cx="5303400" cy="169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100"/>
              <a:buFont typeface="Calibri"/>
              <a:buNone/>
            </a:pPr>
            <a:r>
              <a:rPr b="1" i="0" lang="en-US" sz="1100" u="none" cap="none" strike="noStrike">
                <a:solidFill>
                  <a:srgbClr val="441120"/>
                </a:solidFill>
                <a:latin typeface="Calibri"/>
                <a:ea typeface="Calibri"/>
                <a:cs typeface="Calibri"/>
                <a:sym typeface="Calibri"/>
              </a:rPr>
              <a:t>1. </a:t>
            </a:r>
            <a:r>
              <a:rPr b="0" i="0" lang="en-US" sz="1100" u="none" cap="none" strike="noStrike">
                <a:solidFill>
                  <a:srgbClr val="1F1F1F"/>
                </a:solidFill>
                <a:latin typeface="Calibri"/>
                <a:ea typeface="Calibri"/>
                <a:cs typeface="Calibri"/>
                <a:sym typeface="Calibri"/>
              </a:rPr>
              <a:t>Filter by language, page range, ratings_count &gt;= 100</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100"/>
              <a:buFont typeface="Calibri"/>
              <a:buNone/>
            </a:pPr>
            <a:r>
              <a:rPr b="1" i="0" lang="en-US" sz="1100" u="none" cap="none" strike="noStrike">
                <a:solidFill>
                  <a:srgbClr val="441120"/>
                </a:solidFill>
                <a:latin typeface="Calibri"/>
                <a:ea typeface="Calibri"/>
                <a:cs typeface="Calibri"/>
                <a:sym typeface="Calibri"/>
              </a:rPr>
              <a:t>2. </a:t>
            </a:r>
            <a:r>
              <a:rPr b="0" i="0" lang="en-US" sz="1100" u="none" cap="none" strike="noStrike">
                <a:solidFill>
                  <a:srgbClr val="1F1F1F"/>
                </a:solidFill>
                <a:latin typeface="Calibri"/>
                <a:ea typeface="Calibri"/>
                <a:cs typeface="Calibri"/>
                <a:sym typeface="Calibri"/>
              </a:rPr>
              <a:t>Strip noise shelves (to-read, favorites, kindle,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100"/>
              <a:buFont typeface="Calibri"/>
              <a:buNone/>
            </a:pPr>
            <a:r>
              <a:rPr b="1" i="0" lang="en-US" sz="1100" u="none" cap="none" strike="noStrike">
                <a:solidFill>
                  <a:srgbClr val="441120"/>
                </a:solidFill>
                <a:latin typeface="Calibri"/>
                <a:ea typeface="Calibri"/>
                <a:cs typeface="Calibri"/>
                <a:sym typeface="Calibri"/>
              </a:rPr>
              <a:t>3. </a:t>
            </a:r>
            <a:r>
              <a:rPr b="0" i="0" lang="en-US" sz="1100" u="none" cap="none" strike="noStrike">
                <a:solidFill>
                  <a:srgbClr val="1F1F1F"/>
                </a:solidFill>
                <a:latin typeface="Calibri"/>
                <a:ea typeface="Calibri"/>
                <a:cs typeface="Calibri"/>
                <a:sym typeface="Calibri"/>
              </a:rPr>
              <a:t>Score by overlap between user keywords and shelf tokens</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100"/>
              <a:buFont typeface="Calibri"/>
              <a:buNone/>
            </a:pPr>
            <a:r>
              <a:rPr b="1" i="0" lang="en-US" sz="1100" u="none" cap="none" strike="noStrike">
                <a:solidFill>
                  <a:srgbClr val="441120"/>
                </a:solidFill>
                <a:latin typeface="Calibri"/>
                <a:ea typeface="Calibri"/>
                <a:cs typeface="Calibri"/>
                <a:sym typeface="Calibri"/>
              </a:rPr>
              <a:t>4. </a:t>
            </a:r>
            <a:r>
              <a:rPr b="0" i="0" lang="en-US" sz="1100" u="none" cap="none" strike="noStrike">
                <a:solidFill>
                  <a:srgbClr val="1F1F1F"/>
                </a:solidFill>
                <a:latin typeface="Calibri"/>
                <a:ea typeface="Calibri"/>
                <a:cs typeface="Calibri"/>
                <a:sym typeface="Calibri"/>
              </a:rPr>
              <a:t>Deduplicate by work_id, return top 200, take top 25 to model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380" name="Shape 380"/>
        <p:cNvGrpSpPr/>
        <p:nvPr/>
      </p:nvGrpSpPr>
      <p:grpSpPr>
        <a:xfrm>
          <a:off x="0" y="0"/>
          <a:ext cx="0" cy="0"/>
          <a:chOff x="0" y="0"/>
          <a:chExt cx="0" cy="0"/>
        </a:xfrm>
      </p:grpSpPr>
      <p:sp>
        <p:nvSpPr>
          <p:cNvPr id="381" name="Google Shape;381;p38"/>
          <p:cNvSpPr/>
          <p:nvPr/>
        </p:nvSpPr>
        <p:spPr>
          <a:xfrm>
            <a:off x="8275320" y="274320"/>
            <a:ext cx="164700" cy="164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8"/>
          <p:cNvSpPr/>
          <p:nvPr/>
        </p:nvSpPr>
        <p:spPr>
          <a:xfrm>
            <a:off x="6675120" y="246888"/>
            <a:ext cx="15546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383" name="Google Shape;383;p38"/>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MODELS</a:t>
            </a:r>
            <a:endParaRPr b="0" i="0" sz="1000" u="none" cap="none" strike="noStrike">
              <a:solidFill>
                <a:schemeClr val="dk1"/>
              </a:solidFill>
              <a:latin typeface="Calibri"/>
              <a:ea typeface="Calibri"/>
              <a:cs typeface="Calibri"/>
              <a:sym typeface="Calibri"/>
            </a:endParaRPr>
          </a:p>
        </p:txBody>
      </p:sp>
      <p:sp>
        <p:nvSpPr>
          <p:cNvPr id="384" name="Google Shape;384;p38"/>
          <p:cNvSpPr/>
          <p:nvPr/>
        </p:nvSpPr>
        <p:spPr>
          <a:xfrm>
            <a:off x="457200" y="502920"/>
            <a:ext cx="82296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Two schema-enforced Gemini Flash calls + one offline extraction.</a:t>
            </a:r>
            <a:endParaRPr b="0" i="0" sz="2800" u="none" cap="none" strike="noStrike">
              <a:solidFill>
                <a:schemeClr val="dk1"/>
              </a:solidFill>
              <a:latin typeface="Calibri"/>
              <a:ea typeface="Calibri"/>
              <a:cs typeface="Calibri"/>
              <a:sym typeface="Calibri"/>
            </a:endParaRPr>
          </a:p>
        </p:txBody>
      </p:sp>
      <p:sp>
        <p:nvSpPr>
          <p:cNvPr id="385" name="Google Shape;385;p38"/>
          <p:cNvSpPr/>
          <p:nvPr/>
        </p:nvSpPr>
        <p:spPr>
          <a:xfrm>
            <a:off x="457200" y="1325880"/>
            <a:ext cx="4023300" cy="324600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00">
                <a:alpha val="784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8"/>
          <p:cNvSpPr/>
          <p:nvPr/>
        </p:nvSpPr>
        <p:spPr>
          <a:xfrm>
            <a:off x="457200" y="1325880"/>
            <a:ext cx="73200" cy="32460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8"/>
          <p:cNvSpPr/>
          <p:nvPr/>
        </p:nvSpPr>
        <p:spPr>
          <a:xfrm>
            <a:off x="685800" y="1417320"/>
            <a:ext cx="3657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CALL 1 · EXTRACT</a:t>
            </a:r>
            <a:endParaRPr b="0" i="0" sz="1000" u="none" cap="none" strike="noStrike">
              <a:solidFill>
                <a:schemeClr val="dk1"/>
              </a:solidFill>
              <a:latin typeface="Calibri"/>
              <a:ea typeface="Calibri"/>
              <a:cs typeface="Calibri"/>
              <a:sym typeface="Calibri"/>
            </a:endParaRPr>
          </a:p>
        </p:txBody>
      </p:sp>
      <p:sp>
        <p:nvSpPr>
          <p:cNvPr id="388" name="Google Shape;388;p38"/>
          <p:cNvSpPr/>
          <p:nvPr/>
        </p:nvSpPr>
        <p:spPr>
          <a:xfrm>
            <a:off x="685800" y="1664208"/>
            <a:ext cx="36576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500"/>
              <a:buFont typeface="Georgia"/>
              <a:buNone/>
            </a:pPr>
            <a:r>
              <a:rPr b="1" i="1" lang="en-US" sz="1500" u="none" cap="none" strike="noStrike">
                <a:solidFill>
                  <a:srgbClr val="441120"/>
                </a:solidFill>
                <a:latin typeface="Georgia"/>
                <a:ea typeface="Georgia"/>
                <a:cs typeface="Georgia"/>
                <a:sym typeface="Georgia"/>
              </a:rPr>
              <a:t>Survey → structured filters</a:t>
            </a:r>
            <a:endParaRPr b="0" i="0" sz="1500" u="none" cap="none" strike="noStrike">
              <a:solidFill>
                <a:schemeClr val="dk1"/>
              </a:solidFill>
              <a:latin typeface="Calibri"/>
              <a:ea typeface="Calibri"/>
              <a:cs typeface="Calibri"/>
              <a:sym typeface="Calibri"/>
            </a:endParaRPr>
          </a:p>
        </p:txBody>
      </p:sp>
      <p:sp>
        <p:nvSpPr>
          <p:cNvPr id="389" name="Google Shape;389;p38"/>
          <p:cNvSpPr/>
          <p:nvPr/>
        </p:nvSpPr>
        <p:spPr>
          <a:xfrm>
            <a:off x="685800" y="2011680"/>
            <a:ext cx="3657600" cy="96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Model: </a:t>
            </a:r>
            <a:r>
              <a:rPr b="0" i="1" lang="en-US" sz="1000" u="none" cap="none" strike="noStrike">
                <a:solidFill>
                  <a:srgbClr val="1F1F1F"/>
                </a:solidFill>
                <a:latin typeface="Calibri"/>
                <a:ea typeface="Calibri"/>
                <a:cs typeface="Calibri"/>
                <a:sym typeface="Calibri"/>
              </a:rPr>
              <a:t>gemini-2.5-flash via Vertex AI</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Temperature: </a:t>
            </a:r>
            <a:r>
              <a:rPr b="0" i="0" lang="en-US" sz="1000" u="none" cap="none" strike="noStrike">
                <a:solidFill>
                  <a:srgbClr val="1F1F1F"/>
                </a:solidFill>
                <a:latin typeface="Calibri"/>
                <a:ea typeface="Calibri"/>
                <a:cs typeface="Calibri"/>
                <a:sym typeface="Calibri"/>
              </a:rPr>
              <a:t>0.2  ·  </a:t>
            </a:r>
            <a:r>
              <a:rPr b="1" i="0" lang="en-US" sz="1000" u="none" cap="none" strike="noStrike">
                <a:solidFill>
                  <a:srgbClr val="441120"/>
                </a:solidFill>
                <a:latin typeface="Calibri"/>
                <a:ea typeface="Calibri"/>
                <a:cs typeface="Calibri"/>
                <a:sym typeface="Calibri"/>
              </a:rPr>
              <a:t>Output: </a:t>
            </a:r>
            <a:r>
              <a:rPr b="0" i="1" lang="en-US" sz="1000" u="none" cap="none" strike="noStrike">
                <a:solidFill>
                  <a:srgbClr val="1F1F1F"/>
                </a:solidFill>
                <a:latin typeface="Calibri"/>
                <a:ea typeface="Calibri"/>
                <a:cs typeface="Calibri"/>
                <a:sym typeface="Calibri"/>
              </a:rPr>
              <a:t>JSON</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Schema: </a:t>
            </a:r>
            <a:r>
              <a:rPr b="0" i="1" lang="en-US" sz="1000" u="none" cap="none" strike="noStrike">
                <a:solidFill>
                  <a:srgbClr val="1F1F1F"/>
                </a:solidFill>
                <a:latin typeface="Calibri"/>
                <a:ea typeface="Calibri"/>
                <a:cs typeface="Calibri"/>
                <a:sym typeface="Calibri"/>
              </a:rPr>
              <a:t>SurveyFilters (Pydantic)</a:t>
            </a:r>
            <a:endParaRPr b="0" i="0" sz="1000" u="none" cap="none" strike="noStrike">
              <a:solidFill>
                <a:schemeClr val="dk1"/>
              </a:solidFill>
              <a:latin typeface="Calibri"/>
              <a:ea typeface="Calibri"/>
              <a:cs typeface="Calibri"/>
              <a:sym typeface="Calibri"/>
            </a:endParaRPr>
          </a:p>
        </p:txBody>
      </p:sp>
      <p:sp>
        <p:nvSpPr>
          <p:cNvPr id="390" name="Google Shape;390;p38"/>
          <p:cNvSpPr/>
          <p:nvPr/>
        </p:nvSpPr>
        <p:spPr>
          <a:xfrm>
            <a:off x="685800" y="3017520"/>
            <a:ext cx="3657600" cy="15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Maps "evening read" / "18th-century Russian lit" → keywords + page-range + era + difficulty.</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Why separate: </a:t>
            </a:r>
            <a:r>
              <a:rPr b="0" i="1" lang="en-US" sz="1000" u="none" cap="none" strike="noStrike">
                <a:solidFill>
                  <a:srgbClr val="1F1F1F"/>
                </a:solidFill>
                <a:latin typeface="Calibri"/>
                <a:ea typeface="Calibri"/>
                <a:cs typeface="Calibri"/>
                <a:sym typeface="Calibri"/>
              </a:rPr>
              <a:t>lets us run a deterministic SQL query before the model sees any books — cheaper and grounded.</a:t>
            </a:r>
            <a:endParaRPr b="0" i="0" sz="1000" u="none" cap="none" strike="noStrike">
              <a:solidFill>
                <a:schemeClr val="dk1"/>
              </a:solidFill>
              <a:latin typeface="Calibri"/>
              <a:ea typeface="Calibri"/>
              <a:cs typeface="Calibri"/>
              <a:sym typeface="Calibri"/>
            </a:endParaRPr>
          </a:p>
        </p:txBody>
      </p:sp>
      <p:sp>
        <p:nvSpPr>
          <p:cNvPr id="391" name="Google Shape;391;p38"/>
          <p:cNvSpPr/>
          <p:nvPr/>
        </p:nvSpPr>
        <p:spPr>
          <a:xfrm>
            <a:off x="4663440" y="1325880"/>
            <a:ext cx="4023300" cy="324600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00">
                <a:alpha val="784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38"/>
          <p:cNvSpPr/>
          <p:nvPr/>
        </p:nvSpPr>
        <p:spPr>
          <a:xfrm>
            <a:off x="4663440" y="1325880"/>
            <a:ext cx="73200" cy="3246000"/>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38"/>
          <p:cNvSpPr/>
          <p:nvPr/>
        </p:nvSpPr>
        <p:spPr>
          <a:xfrm>
            <a:off x="4892040" y="1417320"/>
            <a:ext cx="3657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CALL 2 · CURATE</a:t>
            </a:r>
            <a:endParaRPr b="0" i="0" sz="1000" u="none" cap="none" strike="noStrike">
              <a:solidFill>
                <a:schemeClr val="dk1"/>
              </a:solidFill>
              <a:latin typeface="Calibri"/>
              <a:ea typeface="Calibri"/>
              <a:cs typeface="Calibri"/>
              <a:sym typeface="Calibri"/>
            </a:endParaRPr>
          </a:p>
        </p:txBody>
      </p:sp>
      <p:sp>
        <p:nvSpPr>
          <p:cNvPr id="394" name="Google Shape;394;p38"/>
          <p:cNvSpPr/>
          <p:nvPr/>
        </p:nvSpPr>
        <p:spPr>
          <a:xfrm>
            <a:off x="4892040" y="1664208"/>
            <a:ext cx="36576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500"/>
              <a:buFont typeface="Georgia"/>
              <a:buNone/>
            </a:pPr>
            <a:r>
              <a:rPr b="1" i="1" lang="en-US" sz="1500" u="none" cap="none" strike="noStrike">
                <a:solidFill>
                  <a:srgbClr val="441120"/>
                </a:solidFill>
                <a:latin typeface="Georgia"/>
                <a:ea typeface="Georgia"/>
                <a:cs typeface="Georgia"/>
                <a:sym typeface="Georgia"/>
              </a:rPr>
              <a:t>25 candidates → 5-book curriculum</a:t>
            </a:r>
            <a:endParaRPr b="0" i="0" sz="1500" u="none" cap="none" strike="noStrike">
              <a:solidFill>
                <a:schemeClr val="dk1"/>
              </a:solidFill>
              <a:latin typeface="Calibri"/>
              <a:ea typeface="Calibri"/>
              <a:cs typeface="Calibri"/>
              <a:sym typeface="Calibri"/>
            </a:endParaRPr>
          </a:p>
        </p:txBody>
      </p:sp>
      <p:sp>
        <p:nvSpPr>
          <p:cNvPr id="395" name="Google Shape;395;p38"/>
          <p:cNvSpPr/>
          <p:nvPr/>
        </p:nvSpPr>
        <p:spPr>
          <a:xfrm>
            <a:off x="4892040" y="2011680"/>
            <a:ext cx="3657600" cy="96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Model: </a:t>
            </a:r>
            <a:r>
              <a:rPr b="0" i="1" lang="en-US" sz="1000" u="none" cap="none" strike="noStrike">
                <a:solidFill>
                  <a:srgbClr val="1F1F1F"/>
                </a:solidFill>
                <a:latin typeface="Calibri"/>
                <a:ea typeface="Calibri"/>
                <a:cs typeface="Calibri"/>
                <a:sym typeface="Calibri"/>
              </a:rPr>
              <a:t>gemini-2.5-flash via Vertex AI</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Temperature: </a:t>
            </a:r>
            <a:r>
              <a:rPr b="0" i="0" lang="en-US" sz="1000" u="none" cap="none" strike="noStrike">
                <a:solidFill>
                  <a:srgbClr val="1F1F1F"/>
                </a:solidFill>
                <a:latin typeface="Calibri"/>
                <a:ea typeface="Calibri"/>
                <a:cs typeface="Calibri"/>
                <a:sym typeface="Calibri"/>
              </a:rPr>
              <a:t>0.3  ·  </a:t>
            </a:r>
            <a:r>
              <a:rPr b="1" i="0" lang="en-US" sz="1000" u="none" cap="none" strike="noStrike">
                <a:solidFill>
                  <a:srgbClr val="441120"/>
                </a:solidFill>
                <a:latin typeface="Calibri"/>
                <a:ea typeface="Calibri"/>
                <a:cs typeface="Calibri"/>
                <a:sym typeface="Calibri"/>
              </a:rPr>
              <a:t>Output: </a:t>
            </a:r>
            <a:r>
              <a:rPr b="0" i="1" lang="en-US" sz="1000" u="none" cap="none" strike="noStrike">
                <a:solidFill>
                  <a:srgbClr val="1F1F1F"/>
                </a:solidFill>
                <a:latin typeface="Calibri"/>
                <a:ea typeface="Calibri"/>
                <a:cs typeface="Calibri"/>
                <a:sym typeface="Calibri"/>
              </a:rPr>
              <a:t>JSON</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Schema: </a:t>
            </a:r>
            <a:r>
              <a:rPr b="0" i="1" lang="en-US" sz="1000" u="none" cap="none" strike="noStrike">
                <a:solidFill>
                  <a:srgbClr val="1F1F1F"/>
                </a:solidFill>
                <a:latin typeface="Calibri"/>
                <a:ea typeface="Calibri"/>
                <a:cs typeface="Calibri"/>
                <a:sym typeface="Calibri"/>
              </a:rPr>
              <a:t>Curriculum (week, title, author, reason, overall_arc)</a:t>
            </a:r>
            <a:endParaRPr b="0" i="0" sz="1000" u="none" cap="none" strike="noStrike">
              <a:solidFill>
                <a:schemeClr val="dk1"/>
              </a:solidFill>
              <a:latin typeface="Calibri"/>
              <a:ea typeface="Calibri"/>
              <a:cs typeface="Calibri"/>
              <a:sym typeface="Calibri"/>
            </a:endParaRPr>
          </a:p>
        </p:txBody>
      </p:sp>
      <p:sp>
        <p:nvSpPr>
          <p:cNvPr id="396" name="Google Shape;396;p38"/>
          <p:cNvSpPr/>
          <p:nvPr/>
        </p:nvSpPr>
        <p:spPr>
          <a:xfrm>
            <a:off x="4892040" y="3017520"/>
            <a:ext cx="3657600" cy="15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Receives the top-25 candidates and orders by progressive difficulty.</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No hallucinations: </a:t>
            </a:r>
            <a:r>
              <a:rPr b="0" i="1" lang="en-US" sz="1000" u="none" cap="none" strike="noStrike">
                <a:solidFill>
                  <a:srgbClr val="1F1F1F"/>
                </a:solidFill>
                <a:latin typeface="Calibri"/>
                <a:ea typeface="Calibri"/>
                <a:cs typeface="Calibri"/>
                <a:sym typeface="Calibri"/>
              </a:rPr>
              <a:t>the model can only choose from real book_ids in the pool. Phase 2 will add an MLflow-tracked reranker over check-in data.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401" name="Shape 401"/>
        <p:cNvGrpSpPr/>
        <p:nvPr/>
      </p:nvGrpSpPr>
      <p:grpSpPr>
        <a:xfrm>
          <a:off x="0" y="0"/>
          <a:ext cx="0" cy="0"/>
          <a:chOff x="0" y="0"/>
          <a:chExt cx="0" cy="0"/>
        </a:xfrm>
      </p:grpSpPr>
      <p:sp>
        <p:nvSpPr>
          <p:cNvPr id="402" name="Google Shape;402;p39"/>
          <p:cNvSpPr/>
          <p:nvPr/>
        </p:nvSpPr>
        <p:spPr>
          <a:xfrm>
            <a:off x="8275320" y="274320"/>
            <a:ext cx="164700" cy="164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39"/>
          <p:cNvSpPr/>
          <p:nvPr/>
        </p:nvSpPr>
        <p:spPr>
          <a:xfrm>
            <a:off x="6675120" y="246888"/>
            <a:ext cx="15546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404" name="Google Shape;404;p39"/>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TECH TOPIC</a:t>
            </a:r>
            <a:endParaRPr b="0" i="0" sz="1000" u="none" cap="none" strike="noStrike">
              <a:solidFill>
                <a:schemeClr val="dk1"/>
              </a:solidFill>
              <a:latin typeface="Calibri"/>
              <a:ea typeface="Calibri"/>
              <a:cs typeface="Calibri"/>
              <a:sym typeface="Calibri"/>
            </a:endParaRPr>
          </a:p>
        </p:txBody>
      </p:sp>
      <p:sp>
        <p:nvSpPr>
          <p:cNvPr id="405" name="Google Shape;405;p39"/>
          <p:cNvSpPr/>
          <p:nvPr/>
        </p:nvSpPr>
        <p:spPr>
          <a:xfrm>
            <a:off x="457200" y="502920"/>
            <a:ext cx="82296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Testing &amp; nightly evaluation.</a:t>
            </a:r>
            <a:endParaRPr b="0" i="0" sz="2800" u="none" cap="none" strike="noStrike">
              <a:solidFill>
                <a:schemeClr val="dk1"/>
              </a:solidFill>
              <a:latin typeface="Calibri"/>
              <a:ea typeface="Calibri"/>
              <a:cs typeface="Calibri"/>
              <a:sym typeface="Calibri"/>
            </a:endParaRPr>
          </a:p>
        </p:txBody>
      </p:sp>
      <p:sp>
        <p:nvSpPr>
          <p:cNvPr id="406" name="Google Shape;406;p39"/>
          <p:cNvSpPr/>
          <p:nvPr/>
        </p:nvSpPr>
        <p:spPr>
          <a:xfrm>
            <a:off x="457200" y="1280160"/>
            <a:ext cx="1783200" cy="10059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39"/>
          <p:cNvSpPr/>
          <p:nvPr/>
        </p:nvSpPr>
        <p:spPr>
          <a:xfrm>
            <a:off x="457200" y="1325880"/>
            <a:ext cx="1783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DEDED"/>
              </a:buClr>
              <a:buSzPts val="3800"/>
              <a:buFont typeface="Georgia"/>
              <a:buNone/>
            </a:pPr>
            <a:r>
              <a:rPr b="1" i="1" lang="en-US" sz="3800" u="none" cap="none" strike="noStrike">
                <a:solidFill>
                  <a:srgbClr val="EDEDED"/>
                </a:solidFill>
                <a:latin typeface="Georgia"/>
                <a:ea typeface="Georgia"/>
                <a:cs typeface="Georgia"/>
                <a:sym typeface="Georgia"/>
              </a:rPr>
              <a:t>38</a:t>
            </a:r>
            <a:endParaRPr b="0" i="0" sz="3800" u="none" cap="none" strike="noStrike">
              <a:solidFill>
                <a:schemeClr val="dk1"/>
              </a:solidFill>
              <a:latin typeface="Calibri"/>
              <a:ea typeface="Calibri"/>
              <a:cs typeface="Calibri"/>
              <a:sym typeface="Calibri"/>
            </a:endParaRPr>
          </a:p>
        </p:txBody>
      </p:sp>
      <p:sp>
        <p:nvSpPr>
          <p:cNvPr id="408" name="Google Shape;408;p39"/>
          <p:cNvSpPr/>
          <p:nvPr/>
        </p:nvSpPr>
        <p:spPr>
          <a:xfrm>
            <a:off x="457200" y="1920240"/>
            <a:ext cx="1783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6"/>
              </a:buClr>
              <a:buSzPts val="900"/>
              <a:buFont typeface="Calibri"/>
              <a:buNone/>
            </a:pPr>
            <a:r>
              <a:rPr b="0" i="1" lang="en-US" sz="900" u="none" cap="none" strike="noStrike">
                <a:solidFill>
                  <a:srgbClr val="D9D9D6"/>
                </a:solidFill>
                <a:latin typeface="Calibri"/>
                <a:ea typeface="Calibri"/>
                <a:cs typeface="Calibri"/>
                <a:sym typeface="Calibri"/>
              </a:rPr>
              <a:t>pytest cases</a:t>
            </a:r>
            <a:endParaRPr b="0" i="0" sz="900" u="none" cap="none" strike="noStrike">
              <a:solidFill>
                <a:schemeClr val="dk1"/>
              </a:solidFill>
              <a:latin typeface="Calibri"/>
              <a:ea typeface="Calibri"/>
              <a:cs typeface="Calibri"/>
              <a:sym typeface="Calibri"/>
            </a:endParaRPr>
          </a:p>
        </p:txBody>
      </p:sp>
      <p:sp>
        <p:nvSpPr>
          <p:cNvPr id="409" name="Google Shape;409;p39"/>
          <p:cNvSpPr/>
          <p:nvPr/>
        </p:nvSpPr>
        <p:spPr>
          <a:xfrm>
            <a:off x="2606040" y="1280160"/>
            <a:ext cx="1783200" cy="10059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39"/>
          <p:cNvSpPr/>
          <p:nvPr/>
        </p:nvSpPr>
        <p:spPr>
          <a:xfrm>
            <a:off x="2606040" y="1325880"/>
            <a:ext cx="1783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DEDED"/>
              </a:buClr>
              <a:buSzPts val="3800"/>
              <a:buFont typeface="Georgia"/>
              <a:buNone/>
            </a:pPr>
            <a:r>
              <a:rPr b="1" i="1" lang="en-US" sz="3800" u="none" cap="none" strike="noStrike">
                <a:solidFill>
                  <a:srgbClr val="EDEDED"/>
                </a:solidFill>
                <a:latin typeface="Georgia"/>
                <a:ea typeface="Georgia"/>
                <a:cs typeface="Georgia"/>
                <a:sym typeface="Georgia"/>
              </a:rPr>
              <a:t>9</a:t>
            </a:r>
            <a:endParaRPr b="0" i="0" sz="3800" u="none" cap="none" strike="noStrike">
              <a:solidFill>
                <a:schemeClr val="dk1"/>
              </a:solidFill>
              <a:latin typeface="Calibri"/>
              <a:ea typeface="Calibri"/>
              <a:cs typeface="Calibri"/>
              <a:sym typeface="Calibri"/>
            </a:endParaRPr>
          </a:p>
        </p:txBody>
      </p:sp>
      <p:sp>
        <p:nvSpPr>
          <p:cNvPr id="411" name="Google Shape;411;p39"/>
          <p:cNvSpPr/>
          <p:nvPr/>
        </p:nvSpPr>
        <p:spPr>
          <a:xfrm>
            <a:off x="2606040" y="1920240"/>
            <a:ext cx="1783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6"/>
              </a:buClr>
              <a:buSzPts val="900"/>
              <a:buFont typeface="Calibri"/>
              <a:buNone/>
            </a:pPr>
            <a:r>
              <a:rPr b="0" i="1" lang="en-US" sz="900" u="none" cap="none" strike="noStrike">
                <a:solidFill>
                  <a:srgbClr val="D9D9D6"/>
                </a:solidFill>
                <a:latin typeface="Calibri"/>
                <a:ea typeface="Calibri"/>
                <a:cs typeface="Calibri"/>
                <a:sym typeface="Calibri"/>
              </a:rPr>
              <a:t>test classes</a:t>
            </a:r>
            <a:endParaRPr b="0" i="0" sz="900" u="none" cap="none" strike="noStrike">
              <a:solidFill>
                <a:schemeClr val="dk1"/>
              </a:solidFill>
              <a:latin typeface="Calibri"/>
              <a:ea typeface="Calibri"/>
              <a:cs typeface="Calibri"/>
              <a:sym typeface="Calibri"/>
            </a:endParaRPr>
          </a:p>
        </p:txBody>
      </p:sp>
      <p:sp>
        <p:nvSpPr>
          <p:cNvPr id="412" name="Google Shape;412;p39"/>
          <p:cNvSpPr/>
          <p:nvPr/>
        </p:nvSpPr>
        <p:spPr>
          <a:xfrm>
            <a:off x="4754880" y="1280160"/>
            <a:ext cx="1783200" cy="10059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39"/>
          <p:cNvSpPr/>
          <p:nvPr/>
        </p:nvSpPr>
        <p:spPr>
          <a:xfrm>
            <a:off x="4754880" y="1325880"/>
            <a:ext cx="1783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DEDED"/>
              </a:buClr>
              <a:buSzPts val="3800"/>
              <a:buFont typeface="Georgia"/>
              <a:buNone/>
            </a:pPr>
            <a:r>
              <a:rPr b="1" i="1" lang="en-US" sz="3800" u="none" cap="none" strike="noStrike">
                <a:solidFill>
                  <a:srgbClr val="EDEDED"/>
                </a:solidFill>
                <a:latin typeface="Georgia"/>
                <a:ea typeface="Georgia"/>
                <a:cs typeface="Georgia"/>
                <a:sym typeface="Georgia"/>
              </a:rPr>
              <a:t>1</a:t>
            </a:r>
            <a:endParaRPr b="0" i="0" sz="3800" u="none" cap="none" strike="noStrike">
              <a:solidFill>
                <a:schemeClr val="dk1"/>
              </a:solidFill>
              <a:latin typeface="Calibri"/>
              <a:ea typeface="Calibri"/>
              <a:cs typeface="Calibri"/>
              <a:sym typeface="Calibri"/>
            </a:endParaRPr>
          </a:p>
        </p:txBody>
      </p:sp>
      <p:sp>
        <p:nvSpPr>
          <p:cNvPr id="414" name="Google Shape;414;p39"/>
          <p:cNvSpPr/>
          <p:nvPr/>
        </p:nvSpPr>
        <p:spPr>
          <a:xfrm>
            <a:off x="4754880" y="1920240"/>
            <a:ext cx="1783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6"/>
              </a:buClr>
              <a:buSzPts val="900"/>
              <a:buFont typeface="Calibri"/>
              <a:buNone/>
            </a:pPr>
            <a:r>
              <a:rPr b="0" i="1" lang="en-US" sz="900" u="none" cap="none" strike="noStrike">
                <a:solidFill>
                  <a:srgbClr val="D9D9D6"/>
                </a:solidFill>
                <a:latin typeface="Calibri"/>
                <a:ea typeface="Calibri"/>
                <a:cs typeface="Calibri"/>
                <a:sym typeface="Calibri"/>
              </a:rPr>
              <a:t>nightly cron · GH Actions</a:t>
            </a:r>
            <a:endParaRPr b="0" i="0" sz="900" u="none" cap="none" strike="noStrike">
              <a:solidFill>
                <a:schemeClr val="dk1"/>
              </a:solidFill>
              <a:latin typeface="Calibri"/>
              <a:ea typeface="Calibri"/>
              <a:cs typeface="Calibri"/>
              <a:sym typeface="Calibri"/>
            </a:endParaRPr>
          </a:p>
        </p:txBody>
      </p:sp>
      <p:sp>
        <p:nvSpPr>
          <p:cNvPr id="415" name="Google Shape;415;p39"/>
          <p:cNvSpPr/>
          <p:nvPr/>
        </p:nvSpPr>
        <p:spPr>
          <a:xfrm>
            <a:off x="6903720" y="1280160"/>
            <a:ext cx="1783200" cy="10059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39"/>
          <p:cNvSpPr/>
          <p:nvPr/>
        </p:nvSpPr>
        <p:spPr>
          <a:xfrm>
            <a:off x="6903720" y="1325880"/>
            <a:ext cx="17832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DEDED"/>
              </a:buClr>
              <a:buSzPts val="3800"/>
              <a:buFont typeface="Georgia"/>
              <a:buNone/>
            </a:pPr>
            <a:r>
              <a:rPr b="1" i="1" lang="en-US" sz="3800" u="none" cap="none" strike="noStrike">
                <a:solidFill>
                  <a:srgbClr val="EDEDED"/>
                </a:solidFill>
                <a:latin typeface="Georgia"/>
                <a:ea typeface="Georgia"/>
                <a:cs typeface="Georgia"/>
                <a:sym typeface="Georgia"/>
              </a:rPr>
              <a:t>0</a:t>
            </a:r>
            <a:endParaRPr b="0" i="0" sz="3800" u="none" cap="none" strike="noStrike">
              <a:solidFill>
                <a:schemeClr val="dk1"/>
              </a:solidFill>
              <a:latin typeface="Calibri"/>
              <a:ea typeface="Calibri"/>
              <a:cs typeface="Calibri"/>
              <a:sym typeface="Calibri"/>
            </a:endParaRPr>
          </a:p>
        </p:txBody>
      </p:sp>
      <p:sp>
        <p:nvSpPr>
          <p:cNvPr id="417" name="Google Shape;417;p39"/>
          <p:cNvSpPr/>
          <p:nvPr/>
        </p:nvSpPr>
        <p:spPr>
          <a:xfrm>
            <a:off x="6903720" y="1920240"/>
            <a:ext cx="1783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6"/>
              </a:buClr>
              <a:buSzPts val="900"/>
              <a:buFont typeface="Calibri"/>
              <a:buNone/>
            </a:pPr>
            <a:r>
              <a:rPr b="0" i="1" lang="en-US" sz="900" u="none" cap="none" strike="noStrike">
                <a:solidFill>
                  <a:srgbClr val="D9D9D6"/>
                </a:solidFill>
                <a:latin typeface="Calibri"/>
                <a:ea typeface="Calibri"/>
                <a:cs typeface="Calibri"/>
                <a:sym typeface="Calibri"/>
              </a:rPr>
              <a:t>live GCP calls in CI</a:t>
            </a:r>
            <a:endParaRPr b="0" i="0" sz="900" u="none" cap="none" strike="noStrike">
              <a:solidFill>
                <a:schemeClr val="dk1"/>
              </a:solidFill>
              <a:latin typeface="Calibri"/>
              <a:ea typeface="Calibri"/>
              <a:cs typeface="Calibri"/>
              <a:sym typeface="Calibri"/>
            </a:endParaRPr>
          </a:p>
        </p:txBody>
      </p:sp>
      <p:sp>
        <p:nvSpPr>
          <p:cNvPr id="418" name="Google Shape;418;p39"/>
          <p:cNvSpPr/>
          <p:nvPr/>
        </p:nvSpPr>
        <p:spPr>
          <a:xfrm>
            <a:off x="457200" y="2514600"/>
            <a:ext cx="4023300" cy="210300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39"/>
          <p:cNvSpPr/>
          <p:nvPr/>
        </p:nvSpPr>
        <p:spPr>
          <a:xfrm>
            <a:off x="457200" y="2514600"/>
            <a:ext cx="73200" cy="21030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39"/>
          <p:cNvSpPr/>
          <p:nvPr/>
        </p:nvSpPr>
        <p:spPr>
          <a:xfrm>
            <a:off x="685800" y="2606040"/>
            <a:ext cx="3657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WHAT WE TEST</a:t>
            </a:r>
            <a:endParaRPr b="0" i="0" sz="1000" u="none" cap="none" strike="noStrike">
              <a:solidFill>
                <a:schemeClr val="dk1"/>
              </a:solidFill>
              <a:latin typeface="Calibri"/>
              <a:ea typeface="Calibri"/>
              <a:cs typeface="Calibri"/>
              <a:sym typeface="Calibri"/>
            </a:endParaRPr>
          </a:p>
        </p:txBody>
      </p:sp>
      <p:sp>
        <p:nvSpPr>
          <p:cNvPr id="421" name="Google Shape;421;p39"/>
          <p:cNvSpPr/>
          <p:nvPr/>
        </p:nvSpPr>
        <p:spPr>
          <a:xfrm>
            <a:off x="685800" y="2880360"/>
            <a:ext cx="3657600" cy="1691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Schema contracts (EraRange, PageRange, SurveyFilters)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Curriculum structure &amp; per-pick reasoning</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Pipeline failure paths (empty pool, unrecognized topic)</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FastAPI endpoint contracts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Prompt-injection guard on extract.py</a:t>
            </a:r>
            <a:endParaRPr b="0" i="0" sz="1100" u="none" cap="none" strike="noStrike">
              <a:solidFill>
                <a:schemeClr val="dk1"/>
              </a:solidFill>
              <a:latin typeface="Calibri"/>
              <a:ea typeface="Calibri"/>
              <a:cs typeface="Calibri"/>
              <a:sym typeface="Calibri"/>
            </a:endParaRPr>
          </a:p>
        </p:txBody>
      </p:sp>
      <p:sp>
        <p:nvSpPr>
          <p:cNvPr id="422" name="Google Shape;422;p39"/>
          <p:cNvSpPr/>
          <p:nvPr/>
        </p:nvSpPr>
        <p:spPr>
          <a:xfrm>
            <a:off x="4663440" y="2514600"/>
            <a:ext cx="4023300" cy="210300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39"/>
          <p:cNvSpPr/>
          <p:nvPr/>
        </p:nvSpPr>
        <p:spPr>
          <a:xfrm>
            <a:off x="4663440" y="2514600"/>
            <a:ext cx="73200" cy="2103000"/>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39"/>
          <p:cNvSpPr/>
          <p:nvPr/>
        </p:nvSpPr>
        <p:spPr>
          <a:xfrm>
            <a:off x="4892040" y="2606040"/>
            <a:ext cx="3657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HOW IT RUNS</a:t>
            </a:r>
            <a:endParaRPr b="0" i="0" sz="1000" u="none" cap="none" strike="noStrike">
              <a:solidFill>
                <a:schemeClr val="dk1"/>
              </a:solidFill>
              <a:latin typeface="Calibri"/>
              <a:ea typeface="Calibri"/>
              <a:cs typeface="Calibri"/>
              <a:sym typeface="Calibri"/>
            </a:endParaRPr>
          </a:p>
        </p:txBody>
      </p:sp>
      <p:sp>
        <p:nvSpPr>
          <p:cNvPr id="425" name="Google Shape;425;p39"/>
          <p:cNvSpPr/>
          <p:nvPr/>
        </p:nvSpPr>
        <p:spPr>
          <a:xfrm>
            <a:off x="4892040" y="2880360"/>
            <a:ext cx="3657600" cy="169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GitHub Actions </a:t>
            </a:r>
            <a:r>
              <a:rPr b="0" i="1" lang="en-US" sz="1000" u="none" cap="none" strike="noStrike">
                <a:solidFill>
                  <a:srgbClr val="1F1F1F"/>
                </a:solidFill>
                <a:latin typeface="Calibri"/>
                <a:ea typeface="Calibri"/>
                <a:cs typeface="Calibri"/>
                <a:sym typeface="Calibri"/>
              </a:rPr>
              <a:t>(.github/workflows/nightly.yml)</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Cron: </a:t>
            </a:r>
            <a:r>
              <a:rPr b="0" i="1" lang="en-US" sz="1000" u="none" cap="none" strike="noStrike">
                <a:solidFill>
                  <a:srgbClr val="1F1F1F"/>
                </a:solidFill>
                <a:latin typeface="Calibri"/>
                <a:ea typeface="Calibri"/>
                <a:cs typeface="Calibri"/>
                <a:sym typeface="Calibri"/>
              </a:rPr>
              <a:t>0 6 * * *  (2 AM ET / 11 PM PT)</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Manual: </a:t>
            </a:r>
            <a:r>
              <a:rPr b="0" i="1" lang="en-US" sz="1000" u="none" cap="none" strike="noStrike">
                <a:solidFill>
                  <a:srgbClr val="1F1F1F"/>
                </a:solidFill>
                <a:latin typeface="Calibri"/>
                <a:ea typeface="Calibri"/>
                <a:cs typeface="Calibri"/>
                <a:sym typeface="Calibri"/>
              </a:rPr>
              <a:t>workflow_dispatch from the Actions tab</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Isolation: </a:t>
            </a:r>
            <a:r>
              <a:rPr b="0" i="1" lang="en-US" sz="1000" u="none" cap="none" strike="noStrike">
                <a:solidFill>
                  <a:srgbClr val="1F1F1F"/>
                </a:solidFill>
                <a:latin typeface="Calibri"/>
                <a:ea typeface="Calibri"/>
                <a:cs typeface="Calibri"/>
                <a:sym typeface="Calibri"/>
              </a:rPr>
              <a:t>google.cloud + mlflow stubbed via MagicMock — zero live cost in CI</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Failure: </a:t>
            </a:r>
            <a:r>
              <a:rPr b="0" i="1" lang="en-US" sz="1000" u="none" cap="none" strike="noStrike">
                <a:solidFill>
                  <a:srgbClr val="1F1F1F"/>
                </a:solidFill>
                <a:latin typeface="Calibri"/>
                <a:ea typeface="Calibri"/>
                <a:cs typeface="Calibri"/>
                <a:sym typeface="Calibri"/>
              </a:rPr>
              <a:t>::error:: annotation surfaces in the PR check</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430" name="Shape 430"/>
        <p:cNvGrpSpPr/>
        <p:nvPr/>
      </p:nvGrpSpPr>
      <p:grpSpPr>
        <a:xfrm>
          <a:off x="0" y="0"/>
          <a:ext cx="0" cy="0"/>
          <a:chOff x="0" y="0"/>
          <a:chExt cx="0" cy="0"/>
        </a:xfrm>
      </p:grpSpPr>
      <p:sp>
        <p:nvSpPr>
          <p:cNvPr id="431" name="Google Shape;431;p40"/>
          <p:cNvSpPr/>
          <p:nvPr/>
        </p:nvSpPr>
        <p:spPr>
          <a:xfrm>
            <a:off x="8275320" y="274320"/>
            <a:ext cx="164700" cy="164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0"/>
          <p:cNvSpPr/>
          <p:nvPr/>
        </p:nvSpPr>
        <p:spPr>
          <a:xfrm>
            <a:off x="6675120" y="246888"/>
            <a:ext cx="15546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433" name="Google Shape;433;p40"/>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DIFFERENTIATORS</a:t>
            </a:r>
            <a:endParaRPr b="0" i="0" sz="1000" u="none" cap="none" strike="noStrike">
              <a:solidFill>
                <a:schemeClr val="dk1"/>
              </a:solidFill>
              <a:latin typeface="Calibri"/>
              <a:ea typeface="Calibri"/>
              <a:cs typeface="Calibri"/>
              <a:sym typeface="Calibri"/>
            </a:endParaRPr>
          </a:p>
        </p:txBody>
      </p:sp>
      <p:sp>
        <p:nvSpPr>
          <p:cNvPr id="434" name="Google Shape;434;p40"/>
          <p:cNvSpPr/>
          <p:nvPr/>
        </p:nvSpPr>
        <p:spPr>
          <a:xfrm>
            <a:off x="457200" y="502920"/>
            <a:ext cx="82296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Why this isn't just "ask ChatGPT."  (Phase 2 shipped)</a:t>
            </a:r>
            <a:endParaRPr b="0" i="0" sz="2800" u="none" cap="none" strike="noStrike">
              <a:solidFill>
                <a:schemeClr val="dk1"/>
              </a:solidFill>
              <a:latin typeface="Calibri"/>
              <a:ea typeface="Calibri"/>
              <a:cs typeface="Calibri"/>
              <a:sym typeface="Calibri"/>
            </a:endParaRPr>
          </a:p>
        </p:txBody>
      </p:sp>
      <p:sp>
        <p:nvSpPr>
          <p:cNvPr id="435" name="Google Shape;435;p40"/>
          <p:cNvSpPr/>
          <p:nvPr/>
        </p:nvSpPr>
        <p:spPr>
          <a:xfrm>
            <a:off x="457200" y="1280160"/>
            <a:ext cx="4023300" cy="1033200"/>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0"/>
          <p:cNvSpPr/>
          <p:nvPr/>
        </p:nvSpPr>
        <p:spPr>
          <a:xfrm>
            <a:off x="594360" y="1371600"/>
            <a:ext cx="594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01</a:t>
            </a:r>
            <a:endParaRPr b="0" i="0" sz="2200" u="none" cap="none" strike="noStrike">
              <a:solidFill>
                <a:schemeClr val="dk1"/>
              </a:solidFill>
              <a:latin typeface="Calibri"/>
              <a:ea typeface="Calibri"/>
              <a:cs typeface="Calibri"/>
              <a:sym typeface="Calibri"/>
            </a:endParaRPr>
          </a:p>
        </p:txBody>
      </p:sp>
      <p:sp>
        <p:nvSpPr>
          <p:cNvPr id="437" name="Google Shape;437;p40"/>
          <p:cNvSpPr/>
          <p:nvPr/>
        </p:nvSpPr>
        <p:spPr>
          <a:xfrm>
            <a:off x="1234440" y="1389888"/>
            <a:ext cx="3108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One form vs eight messages</a:t>
            </a:r>
            <a:endParaRPr b="0" i="0" sz="1300" u="none" cap="none" strike="noStrike">
              <a:solidFill>
                <a:schemeClr val="dk1"/>
              </a:solidFill>
              <a:latin typeface="Calibri"/>
              <a:ea typeface="Calibri"/>
              <a:cs typeface="Calibri"/>
              <a:sym typeface="Calibri"/>
            </a:endParaRPr>
          </a:p>
        </p:txBody>
      </p:sp>
      <p:sp>
        <p:nvSpPr>
          <p:cNvPr id="438" name="Google Shape;438;p40"/>
          <p:cNvSpPr/>
          <p:nvPr/>
        </p:nvSpPr>
        <p:spPr>
          <a:xfrm>
            <a:off x="1234440" y="1700784"/>
            <a:ext cx="31089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Structured survey replaces 8 back-and-forth chat turns about reading level, time, and history.</a:t>
            </a:r>
            <a:endParaRPr b="0" i="0" sz="1000" u="none" cap="none" strike="noStrike">
              <a:solidFill>
                <a:schemeClr val="dk1"/>
              </a:solidFill>
              <a:latin typeface="Calibri"/>
              <a:ea typeface="Calibri"/>
              <a:cs typeface="Calibri"/>
              <a:sym typeface="Calibri"/>
            </a:endParaRPr>
          </a:p>
        </p:txBody>
      </p:sp>
      <p:sp>
        <p:nvSpPr>
          <p:cNvPr id="439" name="Google Shape;439;p40"/>
          <p:cNvSpPr/>
          <p:nvPr/>
        </p:nvSpPr>
        <p:spPr>
          <a:xfrm>
            <a:off x="4663440" y="1280160"/>
            <a:ext cx="4023300" cy="1033200"/>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40"/>
          <p:cNvSpPr/>
          <p:nvPr/>
        </p:nvSpPr>
        <p:spPr>
          <a:xfrm>
            <a:off x="4800600" y="1371600"/>
            <a:ext cx="594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02</a:t>
            </a:r>
            <a:endParaRPr b="0" i="0" sz="2200" u="none" cap="none" strike="noStrike">
              <a:solidFill>
                <a:schemeClr val="dk1"/>
              </a:solidFill>
              <a:latin typeface="Calibri"/>
              <a:ea typeface="Calibri"/>
              <a:cs typeface="Calibri"/>
              <a:sym typeface="Calibri"/>
            </a:endParaRPr>
          </a:p>
        </p:txBody>
      </p:sp>
      <p:sp>
        <p:nvSpPr>
          <p:cNvPr id="441" name="Google Shape;441;p40"/>
          <p:cNvSpPr/>
          <p:nvPr/>
        </p:nvSpPr>
        <p:spPr>
          <a:xfrm>
            <a:off x="5440680" y="1389888"/>
            <a:ext cx="3108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Grounded in a real catalog</a:t>
            </a:r>
            <a:endParaRPr b="0" i="0" sz="1300" u="none" cap="none" strike="noStrike">
              <a:solidFill>
                <a:schemeClr val="dk1"/>
              </a:solidFill>
              <a:latin typeface="Calibri"/>
              <a:ea typeface="Calibri"/>
              <a:cs typeface="Calibri"/>
              <a:sym typeface="Calibri"/>
            </a:endParaRPr>
          </a:p>
        </p:txBody>
      </p:sp>
      <p:sp>
        <p:nvSpPr>
          <p:cNvPr id="442" name="Google Shape;442;p40"/>
          <p:cNvSpPr/>
          <p:nvPr/>
        </p:nvSpPr>
        <p:spPr>
          <a:xfrm>
            <a:off x="5440680" y="1700784"/>
            <a:ext cx="31089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Every recommendation maps to a real book_id in BigQuery — no hallucinated titles, no fake editions.</a:t>
            </a:r>
            <a:endParaRPr b="0" i="0" sz="1000" u="none" cap="none" strike="noStrike">
              <a:solidFill>
                <a:schemeClr val="dk1"/>
              </a:solidFill>
              <a:latin typeface="Calibri"/>
              <a:ea typeface="Calibri"/>
              <a:cs typeface="Calibri"/>
              <a:sym typeface="Calibri"/>
            </a:endParaRPr>
          </a:p>
        </p:txBody>
      </p:sp>
      <p:sp>
        <p:nvSpPr>
          <p:cNvPr id="443" name="Google Shape;443;p40"/>
          <p:cNvSpPr/>
          <p:nvPr/>
        </p:nvSpPr>
        <p:spPr>
          <a:xfrm>
            <a:off x="457200" y="2423160"/>
            <a:ext cx="4023300" cy="1033200"/>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0"/>
          <p:cNvSpPr/>
          <p:nvPr/>
        </p:nvSpPr>
        <p:spPr>
          <a:xfrm>
            <a:off x="594360" y="2514600"/>
            <a:ext cx="594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03</a:t>
            </a:r>
            <a:endParaRPr b="0" i="0" sz="2200" u="none" cap="none" strike="noStrike">
              <a:solidFill>
                <a:schemeClr val="dk1"/>
              </a:solidFill>
              <a:latin typeface="Calibri"/>
              <a:ea typeface="Calibri"/>
              <a:cs typeface="Calibri"/>
              <a:sym typeface="Calibri"/>
            </a:endParaRPr>
          </a:p>
        </p:txBody>
      </p:sp>
      <p:sp>
        <p:nvSpPr>
          <p:cNvPr id="445" name="Google Shape;445;p40"/>
          <p:cNvSpPr/>
          <p:nvPr/>
        </p:nvSpPr>
        <p:spPr>
          <a:xfrm>
            <a:off x="1234440" y="2532888"/>
            <a:ext cx="3108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Completion, not preference</a:t>
            </a:r>
            <a:endParaRPr b="0" i="0" sz="1300" u="none" cap="none" strike="noStrike">
              <a:solidFill>
                <a:schemeClr val="dk1"/>
              </a:solidFill>
              <a:latin typeface="Calibri"/>
              <a:ea typeface="Calibri"/>
              <a:cs typeface="Calibri"/>
              <a:sym typeface="Calibri"/>
            </a:endParaRPr>
          </a:p>
        </p:txBody>
      </p:sp>
      <p:sp>
        <p:nvSpPr>
          <p:cNvPr id="446" name="Google Shape;446;p40"/>
          <p:cNvSpPr/>
          <p:nvPr/>
        </p:nvSpPr>
        <p:spPr>
          <a:xfrm>
            <a:off x="1234440" y="2843784"/>
            <a:ext cx="31089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Curriculum is built for finishing. Page counts, difficulty, and time budget are hard constraints.</a:t>
            </a:r>
            <a:endParaRPr b="0" i="0" sz="1000" u="none" cap="none" strike="noStrike">
              <a:solidFill>
                <a:schemeClr val="dk1"/>
              </a:solidFill>
              <a:latin typeface="Calibri"/>
              <a:ea typeface="Calibri"/>
              <a:cs typeface="Calibri"/>
              <a:sym typeface="Calibri"/>
            </a:endParaRPr>
          </a:p>
        </p:txBody>
      </p:sp>
      <p:sp>
        <p:nvSpPr>
          <p:cNvPr id="447" name="Google Shape;447;p40"/>
          <p:cNvSpPr/>
          <p:nvPr/>
        </p:nvSpPr>
        <p:spPr>
          <a:xfrm>
            <a:off x="4663440" y="2423160"/>
            <a:ext cx="4023300" cy="1033200"/>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0"/>
          <p:cNvSpPr/>
          <p:nvPr/>
        </p:nvSpPr>
        <p:spPr>
          <a:xfrm>
            <a:off x="4800600" y="2514600"/>
            <a:ext cx="594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04</a:t>
            </a:r>
            <a:endParaRPr b="0" i="0" sz="2200" u="none" cap="none" strike="noStrike">
              <a:solidFill>
                <a:schemeClr val="dk1"/>
              </a:solidFill>
              <a:latin typeface="Calibri"/>
              <a:ea typeface="Calibri"/>
              <a:cs typeface="Calibri"/>
              <a:sym typeface="Calibri"/>
            </a:endParaRPr>
          </a:p>
        </p:txBody>
      </p:sp>
      <p:sp>
        <p:nvSpPr>
          <p:cNvPr id="449" name="Google Shape;449;p40"/>
          <p:cNvSpPr/>
          <p:nvPr/>
        </p:nvSpPr>
        <p:spPr>
          <a:xfrm>
            <a:off x="5440680" y="2532888"/>
            <a:ext cx="3108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The check-in loop</a:t>
            </a:r>
            <a:endParaRPr b="0" i="0" sz="1300" u="none" cap="none" strike="noStrike">
              <a:solidFill>
                <a:schemeClr val="dk1"/>
              </a:solidFill>
              <a:latin typeface="Calibri"/>
              <a:ea typeface="Calibri"/>
              <a:cs typeface="Calibri"/>
              <a:sym typeface="Calibri"/>
            </a:endParaRPr>
          </a:p>
        </p:txBody>
      </p:sp>
      <p:sp>
        <p:nvSpPr>
          <p:cNvPr id="450" name="Google Shape;450;p40"/>
          <p:cNvSpPr/>
          <p:nvPr/>
        </p:nvSpPr>
        <p:spPr>
          <a:xfrm>
            <a:off x="5440680" y="2843784"/>
            <a:ext cx="31089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Per-book check-ins (status / rating / difficulty / comment) write to SQLite and gate future recommendations.</a:t>
            </a:r>
            <a:endParaRPr b="0" i="0" sz="1000" u="none" cap="none" strike="noStrike">
              <a:solidFill>
                <a:schemeClr val="dk1"/>
              </a:solidFill>
              <a:latin typeface="Calibri"/>
              <a:ea typeface="Calibri"/>
              <a:cs typeface="Calibri"/>
              <a:sym typeface="Calibri"/>
            </a:endParaRPr>
          </a:p>
        </p:txBody>
      </p:sp>
      <p:sp>
        <p:nvSpPr>
          <p:cNvPr id="451" name="Google Shape;451;p40"/>
          <p:cNvSpPr/>
          <p:nvPr/>
        </p:nvSpPr>
        <p:spPr>
          <a:xfrm>
            <a:off x="457200" y="3566160"/>
            <a:ext cx="4023300" cy="1033200"/>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0"/>
          <p:cNvSpPr/>
          <p:nvPr/>
        </p:nvSpPr>
        <p:spPr>
          <a:xfrm>
            <a:off x="594360" y="3657600"/>
            <a:ext cx="594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05</a:t>
            </a:r>
            <a:endParaRPr b="0" i="0" sz="2200" u="none" cap="none" strike="noStrike">
              <a:solidFill>
                <a:schemeClr val="dk1"/>
              </a:solidFill>
              <a:latin typeface="Calibri"/>
              <a:ea typeface="Calibri"/>
              <a:cs typeface="Calibri"/>
              <a:sym typeface="Calibri"/>
            </a:endParaRPr>
          </a:p>
        </p:txBody>
      </p:sp>
      <p:sp>
        <p:nvSpPr>
          <p:cNvPr id="453" name="Google Shape;453;p40"/>
          <p:cNvSpPr/>
          <p:nvPr/>
        </p:nvSpPr>
        <p:spPr>
          <a:xfrm>
            <a:off x="1234440" y="3675888"/>
            <a:ext cx="3108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Persistent reading memory</a:t>
            </a:r>
            <a:endParaRPr b="0" i="0" sz="1300" u="none" cap="none" strike="noStrike">
              <a:solidFill>
                <a:schemeClr val="dk1"/>
              </a:solidFill>
              <a:latin typeface="Calibri"/>
              <a:ea typeface="Calibri"/>
              <a:cs typeface="Calibri"/>
              <a:sym typeface="Calibri"/>
            </a:endParaRPr>
          </a:p>
        </p:txBody>
      </p:sp>
      <p:sp>
        <p:nvSpPr>
          <p:cNvPr id="454" name="Google Shape;454;p40"/>
          <p:cNvSpPr/>
          <p:nvPr/>
        </p:nvSpPr>
        <p:spPr>
          <a:xfrm>
            <a:off x="1234440" y="3986784"/>
            <a:ext cx="31089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Finished + abandoned books auto-exclude from future curricula. The feedback loop is closed.</a:t>
            </a:r>
            <a:endParaRPr b="0" i="0" sz="1000" u="none" cap="none" strike="noStrike">
              <a:solidFill>
                <a:schemeClr val="dk1"/>
              </a:solidFill>
              <a:latin typeface="Calibri"/>
              <a:ea typeface="Calibri"/>
              <a:cs typeface="Calibri"/>
              <a:sym typeface="Calibri"/>
            </a:endParaRPr>
          </a:p>
        </p:txBody>
      </p:sp>
      <p:sp>
        <p:nvSpPr>
          <p:cNvPr id="455" name="Google Shape;455;p40"/>
          <p:cNvSpPr/>
          <p:nvPr/>
        </p:nvSpPr>
        <p:spPr>
          <a:xfrm>
            <a:off x="4663440" y="3566160"/>
            <a:ext cx="4023300" cy="1033200"/>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40"/>
          <p:cNvSpPr/>
          <p:nvPr/>
        </p:nvSpPr>
        <p:spPr>
          <a:xfrm>
            <a:off x="4800600" y="3657600"/>
            <a:ext cx="594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06</a:t>
            </a:r>
            <a:endParaRPr b="0" i="0" sz="2200" u="none" cap="none" strike="noStrike">
              <a:solidFill>
                <a:schemeClr val="dk1"/>
              </a:solidFill>
              <a:latin typeface="Calibri"/>
              <a:ea typeface="Calibri"/>
              <a:cs typeface="Calibri"/>
              <a:sym typeface="Calibri"/>
            </a:endParaRPr>
          </a:p>
        </p:txBody>
      </p:sp>
      <p:sp>
        <p:nvSpPr>
          <p:cNvPr id="457" name="Google Shape;457;p40"/>
          <p:cNvSpPr/>
          <p:nvPr/>
        </p:nvSpPr>
        <p:spPr>
          <a:xfrm>
            <a:off x="5440680" y="3675888"/>
            <a:ext cx="3108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Cost-controlled by design</a:t>
            </a:r>
            <a:endParaRPr b="0" i="0" sz="1300" u="none" cap="none" strike="noStrike">
              <a:solidFill>
                <a:schemeClr val="dk1"/>
              </a:solidFill>
              <a:latin typeface="Calibri"/>
              <a:ea typeface="Calibri"/>
              <a:cs typeface="Calibri"/>
              <a:sym typeface="Calibri"/>
            </a:endParaRPr>
          </a:p>
        </p:txBody>
      </p:sp>
      <p:sp>
        <p:nvSpPr>
          <p:cNvPr id="458" name="Google Shape;458;p40"/>
          <p:cNvSpPr/>
          <p:nvPr/>
        </p:nvSpPr>
        <p:spPr>
          <a:xfrm>
            <a:off x="5440680" y="3986784"/>
            <a:ext cx="31089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Two narrowly-scoped Gemini Flash calls + (user, survey) cache. ~$0.0003 per request.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463" name="Shape 463"/>
        <p:cNvGrpSpPr/>
        <p:nvPr/>
      </p:nvGrpSpPr>
      <p:grpSpPr>
        <a:xfrm>
          <a:off x="0" y="0"/>
          <a:ext cx="0" cy="0"/>
          <a:chOff x="0" y="0"/>
          <a:chExt cx="0" cy="0"/>
        </a:xfrm>
      </p:grpSpPr>
      <p:sp>
        <p:nvSpPr>
          <p:cNvPr id="464" name="Google Shape;464;p41"/>
          <p:cNvSpPr/>
          <p:nvPr/>
        </p:nvSpPr>
        <p:spPr>
          <a:xfrm>
            <a:off x="8275320" y="274320"/>
            <a:ext cx="164700" cy="1647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41"/>
          <p:cNvSpPr/>
          <p:nvPr/>
        </p:nvSpPr>
        <p:spPr>
          <a:xfrm>
            <a:off x="6675120" y="246888"/>
            <a:ext cx="15546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466" name="Google Shape;466;p41"/>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DEMO VIDEO</a:t>
            </a:r>
            <a:endParaRPr b="0" i="0" sz="1000" u="none" cap="none" strike="noStrike">
              <a:solidFill>
                <a:schemeClr val="dk1"/>
              </a:solidFill>
              <a:latin typeface="Calibri"/>
              <a:ea typeface="Calibri"/>
              <a:cs typeface="Calibri"/>
              <a:sym typeface="Calibri"/>
            </a:endParaRPr>
          </a:p>
        </p:txBody>
      </p:sp>
      <p:sp>
        <p:nvSpPr>
          <p:cNvPr id="467" name="Google Shape;467;p41"/>
          <p:cNvSpPr/>
          <p:nvPr/>
        </p:nvSpPr>
        <p:spPr>
          <a:xfrm>
            <a:off x="457200" y="502920"/>
            <a:ext cx="82296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Two-minute walkthrough.</a:t>
            </a:r>
            <a:endParaRPr b="0" i="0" sz="2800" u="none" cap="none" strike="noStrike">
              <a:solidFill>
                <a:schemeClr val="dk1"/>
              </a:solidFill>
              <a:latin typeface="Calibri"/>
              <a:ea typeface="Calibri"/>
              <a:cs typeface="Calibri"/>
              <a:sym typeface="Calibri"/>
            </a:endParaRPr>
          </a:p>
        </p:txBody>
      </p:sp>
      <p:sp>
        <p:nvSpPr>
          <p:cNvPr id="468" name="Google Shape;468;p41">
            <a:hlinkClick r:id="rId3"/>
          </p:cNvPr>
          <p:cNvSpPr/>
          <p:nvPr/>
        </p:nvSpPr>
        <p:spPr>
          <a:xfrm>
            <a:off x="457200" y="1325880"/>
            <a:ext cx="4937700" cy="32460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41"/>
          <p:cNvSpPr/>
          <p:nvPr/>
        </p:nvSpPr>
        <p:spPr>
          <a:xfrm>
            <a:off x="2423160" y="2331720"/>
            <a:ext cx="1005900" cy="1005900"/>
          </a:xfrm>
          <a:prstGeom prst="ellipse">
            <a:avLst/>
          </a:prstGeom>
          <a:solidFill>
            <a:srgbClr val="EDEDED"/>
          </a:solidFill>
          <a:ln cap="flat" cmpd="sng" w="12700">
            <a:solidFill>
              <a:srgbClr val="EDED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1">
            <a:hlinkClick r:id="rId4"/>
          </p:cNvPr>
          <p:cNvSpPr/>
          <p:nvPr/>
        </p:nvSpPr>
        <p:spPr>
          <a:xfrm>
            <a:off x="2423160" y="2331720"/>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41120"/>
              </a:buClr>
              <a:buSzPts val="3600"/>
              <a:buFont typeface="Calibri"/>
              <a:buNone/>
            </a:pPr>
            <a:r>
              <a:rPr b="1" i="0" lang="en-US" sz="3600" u="none" cap="none" strike="noStrike">
                <a:solidFill>
                  <a:srgbClr val="441120"/>
                </a:solidFill>
                <a:latin typeface="Calibri"/>
                <a:ea typeface="Calibri"/>
                <a:cs typeface="Calibri"/>
                <a:sym typeface="Calibri"/>
              </a:rPr>
              <a:t>▶</a:t>
            </a:r>
            <a:endParaRPr b="0" i="0" sz="3600" u="none" cap="none" strike="noStrike">
              <a:solidFill>
                <a:schemeClr val="dk1"/>
              </a:solidFill>
              <a:latin typeface="Calibri"/>
              <a:ea typeface="Calibri"/>
              <a:cs typeface="Calibri"/>
              <a:sym typeface="Calibri"/>
            </a:endParaRPr>
          </a:p>
        </p:txBody>
      </p:sp>
      <p:sp>
        <p:nvSpPr>
          <p:cNvPr id="471" name="Google Shape;471;p41"/>
          <p:cNvSpPr/>
          <p:nvPr/>
        </p:nvSpPr>
        <p:spPr>
          <a:xfrm>
            <a:off x="457200" y="1508760"/>
            <a:ext cx="49377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6"/>
              </a:buClr>
              <a:buSzPts val="1100"/>
              <a:buFont typeface="Calibri"/>
              <a:buNone/>
            </a:pPr>
            <a:r>
              <a:rPr b="1" i="0" lang="en-US" sz="1100" u="none" cap="none" strike="noStrike">
                <a:solidFill>
                  <a:srgbClr val="D9D9D6"/>
                </a:solidFill>
                <a:latin typeface="Calibri"/>
                <a:ea typeface="Calibri"/>
                <a:cs typeface="Calibri"/>
                <a:sym typeface="Calibri"/>
              </a:rPr>
              <a:t>2-MIN APP DEMO</a:t>
            </a:r>
            <a:endParaRPr b="0" i="0" sz="1100" u="none" cap="none" strike="noStrike">
              <a:solidFill>
                <a:schemeClr val="dk1"/>
              </a:solidFill>
              <a:latin typeface="Calibri"/>
              <a:ea typeface="Calibri"/>
              <a:cs typeface="Calibri"/>
              <a:sym typeface="Calibri"/>
            </a:endParaRPr>
          </a:p>
        </p:txBody>
      </p:sp>
      <p:sp>
        <p:nvSpPr>
          <p:cNvPr id="472" name="Google Shape;472;p41"/>
          <p:cNvSpPr/>
          <p:nvPr/>
        </p:nvSpPr>
        <p:spPr>
          <a:xfrm>
            <a:off x="457200" y="3749040"/>
            <a:ext cx="49377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DEDED"/>
              </a:buClr>
              <a:buSzPts val="1400"/>
              <a:buFont typeface="Georgia"/>
              <a:buNone/>
            </a:pPr>
            <a:r>
              <a:rPr b="0" i="1" lang="en-US" sz="1400" u="none" cap="none" strike="noStrike">
                <a:solidFill>
                  <a:srgbClr val="EDEDED"/>
                </a:solidFill>
                <a:latin typeface="Georgia"/>
                <a:ea typeface="Georgia"/>
                <a:cs typeface="Georgia"/>
                <a:sym typeface="Georgia"/>
              </a:rPr>
              <a:t>Embedded in our GitHub repo</a:t>
            </a:r>
            <a:endParaRPr b="0" i="0" sz="1400" u="none" cap="none" strike="noStrike">
              <a:solidFill>
                <a:schemeClr val="dk1"/>
              </a:solidFill>
              <a:latin typeface="Calibri"/>
              <a:ea typeface="Calibri"/>
              <a:cs typeface="Calibri"/>
              <a:sym typeface="Calibri"/>
            </a:endParaRPr>
          </a:p>
        </p:txBody>
      </p:sp>
      <p:sp>
        <p:nvSpPr>
          <p:cNvPr id="473" name="Google Shape;473;p41">
            <a:hlinkClick r:id="rId5"/>
          </p:cNvPr>
          <p:cNvSpPr/>
          <p:nvPr/>
        </p:nvSpPr>
        <p:spPr>
          <a:xfrm>
            <a:off x="457200" y="4069080"/>
            <a:ext cx="49377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DEDED"/>
              </a:buClr>
              <a:buSzPts val="1100"/>
              <a:buFont typeface="Calibri"/>
              <a:buNone/>
            </a:pPr>
            <a:r>
              <a:rPr b="0" i="0" lang="en-US" sz="1100" u="sng" cap="none" strike="noStrike">
                <a:solidFill>
                  <a:schemeClr val="hlink"/>
                </a:solidFill>
                <a:latin typeface="Calibri"/>
                <a:ea typeface="Calibri"/>
                <a:cs typeface="Calibri"/>
                <a:sym typeface="Calibri"/>
                <a:hlinkClick r:id="rId6"/>
              </a:rPr>
              <a:t>YouTube</a:t>
            </a:r>
            <a:endParaRPr b="0" i="0" sz="1100" u="none" cap="none" strike="noStrike">
              <a:solidFill>
                <a:schemeClr val="dk1"/>
              </a:solidFill>
              <a:latin typeface="Calibri"/>
              <a:ea typeface="Calibri"/>
              <a:cs typeface="Calibri"/>
              <a:sym typeface="Calibri"/>
            </a:endParaRPr>
          </a:p>
        </p:txBody>
      </p:sp>
      <p:sp>
        <p:nvSpPr>
          <p:cNvPr id="474" name="Google Shape;474;p41"/>
          <p:cNvSpPr/>
          <p:nvPr/>
        </p:nvSpPr>
        <p:spPr>
          <a:xfrm>
            <a:off x="5669280" y="1325880"/>
            <a:ext cx="3017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WHAT'S IN THE VIDEO</a:t>
            </a:r>
            <a:endParaRPr b="0" i="0" sz="1000" u="none" cap="none" strike="noStrike">
              <a:solidFill>
                <a:schemeClr val="dk1"/>
              </a:solidFill>
              <a:latin typeface="Calibri"/>
              <a:ea typeface="Calibri"/>
              <a:cs typeface="Calibri"/>
              <a:sym typeface="Calibri"/>
            </a:endParaRPr>
          </a:p>
        </p:txBody>
      </p:sp>
      <p:sp>
        <p:nvSpPr>
          <p:cNvPr id="475" name="Google Shape;475;p41"/>
          <p:cNvSpPr/>
          <p:nvPr/>
        </p:nvSpPr>
        <p:spPr>
          <a:xfrm>
            <a:off x="5669280" y="1627632"/>
            <a:ext cx="3017400" cy="21945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Survey form: topic, time, difficulty</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Live Gemini call — extract filters</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BigQuery candidate scan</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Curriculum returned with reasons</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End-to-end in ~10 seconds</a:t>
            </a:r>
            <a:endParaRPr b="0" i="0" sz="1200" u="none" cap="none" strike="noStrike">
              <a:solidFill>
                <a:schemeClr val="dk1"/>
              </a:solidFill>
              <a:latin typeface="Calibri"/>
              <a:ea typeface="Calibri"/>
              <a:cs typeface="Calibri"/>
              <a:sym typeface="Calibri"/>
            </a:endParaRPr>
          </a:p>
        </p:txBody>
      </p:sp>
      <p:sp>
        <p:nvSpPr>
          <p:cNvPr id="476" name="Google Shape;476;p41"/>
          <p:cNvSpPr/>
          <p:nvPr/>
        </p:nvSpPr>
        <p:spPr>
          <a:xfrm>
            <a:off x="5669280" y="3931920"/>
            <a:ext cx="3017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15251"/>
              </a:buClr>
              <a:buSzPts val="1000"/>
              <a:buFont typeface="Calibri"/>
              <a:buNone/>
            </a:pPr>
            <a:r>
              <a:rPr b="0" i="1" lang="en-US" sz="1000" u="none" cap="none" strike="noStrike">
                <a:solidFill>
                  <a:srgbClr val="515251"/>
                </a:solidFill>
                <a:latin typeface="Calibri"/>
                <a:ea typeface="Calibri"/>
                <a:cs typeface="Calibri"/>
                <a:sym typeface="Calibri"/>
              </a:rPr>
              <a:t>Linked from the README of the GitHub repo, as required by the milestone rubric.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1120"/>
        </a:solidFill>
      </p:bgPr>
    </p:bg>
    <p:spTree>
      <p:nvGrpSpPr>
        <p:cNvPr id="481" name="Shape 481"/>
        <p:cNvGrpSpPr/>
        <p:nvPr/>
      </p:nvGrpSpPr>
      <p:grpSpPr>
        <a:xfrm>
          <a:off x="0" y="0"/>
          <a:ext cx="0" cy="0"/>
          <a:chOff x="0" y="0"/>
          <a:chExt cx="0" cy="0"/>
        </a:xfrm>
      </p:grpSpPr>
      <p:sp>
        <p:nvSpPr>
          <p:cNvPr id="482" name="Google Shape;482;p42"/>
          <p:cNvSpPr/>
          <p:nvPr/>
        </p:nvSpPr>
        <p:spPr>
          <a:xfrm>
            <a:off x="457200" y="777240"/>
            <a:ext cx="8229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6"/>
              </a:buClr>
              <a:buSzPts val="1200"/>
              <a:buFont typeface="Calibri"/>
              <a:buNone/>
            </a:pPr>
            <a:r>
              <a:rPr b="1" i="0" lang="en-US" sz="1200" u="none" cap="none" strike="noStrike">
                <a:solidFill>
                  <a:srgbClr val="D9D9D6"/>
                </a:solidFill>
                <a:latin typeface="Calibri"/>
                <a:ea typeface="Calibri"/>
                <a:cs typeface="Calibri"/>
                <a:sym typeface="Calibri"/>
              </a:rPr>
              <a:t>CODE  ·  TESTS  ·  DEMO</a:t>
            </a:r>
            <a:endParaRPr b="0" i="0" sz="1200" u="none" cap="none" strike="noStrike">
              <a:solidFill>
                <a:schemeClr val="dk1"/>
              </a:solidFill>
              <a:latin typeface="Calibri"/>
              <a:ea typeface="Calibri"/>
              <a:cs typeface="Calibri"/>
              <a:sym typeface="Calibri"/>
            </a:endParaRPr>
          </a:p>
        </p:txBody>
      </p:sp>
      <p:sp>
        <p:nvSpPr>
          <p:cNvPr id="483" name="Google Shape;483;p42">
            <a:hlinkClick r:id="rId3"/>
          </p:cNvPr>
          <p:cNvSpPr/>
          <p:nvPr/>
        </p:nvSpPr>
        <p:spPr>
          <a:xfrm>
            <a:off x="457200" y="1097280"/>
            <a:ext cx="82296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DEDED"/>
              </a:buClr>
              <a:buSzPts val="3200"/>
              <a:buFont typeface="Georgia"/>
              <a:buNone/>
            </a:pPr>
            <a:r>
              <a:rPr b="1" i="1" lang="en-US" sz="3200" u="sng" cap="none" strike="noStrike">
                <a:solidFill>
                  <a:schemeClr val="hlink"/>
                </a:solidFill>
                <a:latin typeface="Georgia"/>
                <a:ea typeface="Georgia"/>
                <a:cs typeface="Georgia"/>
                <a:sym typeface="Georgia"/>
                <a:hlinkClick r:id="rId4"/>
              </a:rPr>
              <a:t>github.com/SaiMulagan/mobydick</a:t>
            </a:r>
            <a:endParaRPr b="0" i="0" sz="3200" u="none" cap="none" strike="noStrike">
              <a:solidFill>
                <a:schemeClr val="dk1"/>
              </a:solidFill>
              <a:latin typeface="Calibri"/>
              <a:ea typeface="Calibri"/>
              <a:cs typeface="Calibri"/>
              <a:sym typeface="Calibri"/>
            </a:endParaRPr>
          </a:p>
        </p:txBody>
      </p:sp>
      <p:sp>
        <p:nvSpPr>
          <p:cNvPr id="484" name="Google Shape;484;p42"/>
          <p:cNvSpPr/>
          <p:nvPr/>
        </p:nvSpPr>
        <p:spPr>
          <a:xfrm>
            <a:off x="475488" y="2011680"/>
            <a:ext cx="548700" cy="36600"/>
          </a:xfrm>
          <a:prstGeom prst="rect">
            <a:avLst/>
          </a:prstGeom>
          <a:solidFill>
            <a:srgbClr val="D9D9D6"/>
          </a:solidFill>
          <a:ln cap="flat" cmpd="sng" w="12700">
            <a:solidFill>
              <a:srgbClr val="D9D9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42"/>
          <p:cNvSpPr/>
          <p:nvPr/>
        </p:nvSpPr>
        <p:spPr>
          <a:xfrm>
            <a:off x="457200" y="2331720"/>
            <a:ext cx="21030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DEMO VIDEO</a:t>
            </a:r>
            <a:endParaRPr b="0" i="0" sz="1000" u="none" cap="none" strike="noStrike">
              <a:solidFill>
                <a:schemeClr val="dk1"/>
              </a:solidFill>
              <a:latin typeface="Calibri"/>
              <a:ea typeface="Calibri"/>
              <a:cs typeface="Calibri"/>
              <a:sym typeface="Calibri"/>
            </a:endParaRPr>
          </a:p>
        </p:txBody>
      </p:sp>
      <p:sp>
        <p:nvSpPr>
          <p:cNvPr id="486" name="Google Shape;486;p42">
            <a:hlinkClick r:id="rId5"/>
          </p:cNvPr>
          <p:cNvSpPr/>
          <p:nvPr/>
        </p:nvSpPr>
        <p:spPr>
          <a:xfrm>
            <a:off x="2606040" y="2331720"/>
            <a:ext cx="6080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DEDED"/>
              </a:buClr>
              <a:buSzPts val="1300"/>
              <a:buFont typeface="Calibri"/>
              <a:buNone/>
            </a:pPr>
            <a:r>
              <a:rPr i="1" lang="en-US" sz="1300">
                <a:solidFill>
                  <a:schemeClr val="lt1"/>
                </a:solidFill>
                <a:latin typeface="Calibri"/>
                <a:ea typeface="Calibri"/>
                <a:cs typeface="Calibri"/>
                <a:sym typeface="Calibri"/>
              </a:rPr>
              <a:t>https://youtu.be/hFVhIdpcWMs</a:t>
            </a:r>
            <a:endParaRPr b="0" i="0" sz="1300" u="none" cap="none" strike="noStrike">
              <a:solidFill>
                <a:schemeClr val="lt1"/>
              </a:solidFill>
              <a:latin typeface="Calibri"/>
              <a:ea typeface="Calibri"/>
              <a:cs typeface="Calibri"/>
              <a:sym typeface="Calibri"/>
            </a:endParaRPr>
          </a:p>
        </p:txBody>
      </p:sp>
      <p:sp>
        <p:nvSpPr>
          <p:cNvPr id="487" name="Google Shape;487;p42"/>
          <p:cNvSpPr/>
          <p:nvPr/>
        </p:nvSpPr>
        <p:spPr>
          <a:xfrm>
            <a:off x="457200" y="2743200"/>
            <a:ext cx="21030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488" name="Google Shape;488;p42">
            <a:hlinkClick r:id="rId6"/>
          </p:cNvPr>
          <p:cNvSpPr/>
          <p:nvPr/>
        </p:nvSpPr>
        <p:spPr>
          <a:xfrm>
            <a:off x="2606040" y="2743200"/>
            <a:ext cx="6080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DEDED"/>
              </a:buClr>
              <a:buSzPts val="1300"/>
              <a:buFont typeface="Calibri"/>
              <a:buNone/>
            </a:pPr>
            <a:r>
              <a:rPr b="0" i="1" lang="en-US" sz="1300" u="sng" cap="none" strike="noStrike">
                <a:solidFill>
                  <a:schemeClr val="hlink"/>
                </a:solidFill>
                <a:latin typeface="Calibri"/>
                <a:ea typeface="Calibri"/>
                <a:cs typeface="Calibri"/>
                <a:sym typeface="Calibri"/>
                <a:hlinkClick r:id="rId7"/>
              </a:rPr>
              <a:t>context/ARCHITECTURE.md</a:t>
            </a:r>
            <a:endParaRPr b="0" i="0" sz="1300" u="none" cap="none" strike="noStrike">
              <a:solidFill>
                <a:schemeClr val="dk1"/>
              </a:solidFill>
              <a:latin typeface="Calibri"/>
              <a:ea typeface="Calibri"/>
              <a:cs typeface="Calibri"/>
              <a:sym typeface="Calibri"/>
            </a:endParaRPr>
          </a:p>
        </p:txBody>
      </p:sp>
      <p:sp>
        <p:nvSpPr>
          <p:cNvPr id="489" name="Google Shape;489;p42"/>
          <p:cNvSpPr/>
          <p:nvPr/>
        </p:nvSpPr>
        <p:spPr>
          <a:xfrm>
            <a:off x="457200" y="3154680"/>
            <a:ext cx="21030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PIPELINE</a:t>
            </a:r>
            <a:endParaRPr b="0" i="0" sz="1000" u="none" cap="none" strike="noStrike">
              <a:solidFill>
                <a:schemeClr val="dk1"/>
              </a:solidFill>
              <a:latin typeface="Calibri"/>
              <a:ea typeface="Calibri"/>
              <a:cs typeface="Calibri"/>
              <a:sym typeface="Calibri"/>
            </a:endParaRPr>
          </a:p>
        </p:txBody>
      </p:sp>
      <p:sp>
        <p:nvSpPr>
          <p:cNvPr id="490" name="Google Shape;490;p42">
            <a:hlinkClick r:id="rId8"/>
          </p:cNvPr>
          <p:cNvSpPr/>
          <p:nvPr/>
        </p:nvSpPr>
        <p:spPr>
          <a:xfrm>
            <a:off x="2606040" y="3154680"/>
            <a:ext cx="6080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DEDED"/>
              </a:buClr>
              <a:buSzPts val="1300"/>
              <a:buFont typeface="Calibri"/>
              <a:buNone/>
            </a:pPr>
            <a:r>
              <a:rPr b="0" i="1" lang="en-US" sz="1300" u="sng" cap="none" strike="noStrike">
                <a:solidFill>
                  <a:schemeClr val="hlink"/>
                </a:solidFill>
                <a:latin typeface="Calibri"/>
                <a:ea typeface="Calibri"/>
                <a:cs typeface="Calibri"/>
                <a:sym typeface="Calibri"/>
                <a:hlinkClick r:id="rId9"/>
              </a:rPr>
              <a:t>pipeline.py · candidates.py · curriculum.py · reddit_extract.py · db.py</a:t>
            </a:r>
            <a:endParaRPr b="0" i="0" sz="1300" u="none" cap="none" strike="noStrike">
              <a:solidFill>
                <a:schemeClr val="dk1"/>
              </a:solidFill>
              <a:latin typeface="Calibri"/>
              <a:ea typeface="Calibri"/>
              <a:cs typeface="Calibri"/>
              <a:sym typeface="Calibri"/>
            </a:endParaRPr>
          </a:p>
        </p:txBody>
      </p:sp>
      <p:sp>
        <p:nvSpPr>
          <p:cNvPr id="491" name="Google Shape;491;p42"/>
          <p:cNvSpPr/>
          <p:nvPr/>
        </p:nvSpPr>
        <p:spPr>
          <a:xfrm>
            <a:off x="457200" y="3931920"/>
            <a:ext cx="82296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DEDED"/>
              </a:buClr>
              <a:buSzPts val="2600"/>
              <a:buFont typeface="Georgia"/>
              <a:buNone/>
            </a:pPr>
            <a:r>
              <a:rPr b="0" i="1" lang="en-US" sz="2600" u="none" cap="none" strike="noStrike">
                <a:solidFill>
                  <a:srgbClr val="EDEDED"/>
                </a:solidFill>
                <a:latin typeface="Georgia"/>
                <a:ea typeface="Georgia"/>
                <a:cs typeface="Georgia"/>
                <a:sym typeface="Georgia"/>
              </a:rPr>
              <a:t>Thank you.</a:t>
            </a:r>
            <a:endParaRPr b="0" i="0" sz="2600" u="none" cap="none" strike="noStrike">
              <a:solidFill>
                <a:schemeClr val="dk1"/>
              </a:solidFill>
              <a:latin typeface="Calibri"/>
              <a:ea typeface="Calibri"/>
              <a:cs typeface="Calibri"/>
              <a:sym typeface="Calibri"/>
            </a:endParaRPr>
          </a:p>
        </p:txBody>
      </p:sp>
      <p:sp>
        <p:nvSpPr>
          <p:cNvPr id="492" name="Google Shape;492;p42"/>
          <p:cNvSpPr/>
          <p:nvPr/>
        </p:nvSpPr>
        <p:spPr>
          <a:xfrm>
            <a:off x="457200" y="4526280"/>
            <a:ext cx="82296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THE MOBY DICKS  ·  AATISH  ·  BRANDT  ·  SAI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EDEDED"/>
      </a:hlink>
      <a:folHlink>
        <a:srgbClr val="D9D9D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