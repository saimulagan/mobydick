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PJ Losiewicz"/>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7580DA6-D7D0-4BE2-9E32-055414EF5701}">
  <a:tblStyle styleId="{67580DA6-D7D0-4BE2-9E32-055414EF570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04T17:51:53.642">
    <p:pos x="3081" y="1699"/>
    <p:text>Just an idea to integrate Kindle/Amazon leaderboard data.  Proved useful to me last weekend when looking for a book</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5-04T17:58:50.769">
    <p:pos x="288" y="316"/>
    <p:text>Alignment</p:text>
  </p:cm>
</p:cmLst>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200"/>
              </a:spcBef>
              <a:spcAft>
                <a:spcPts val="1200"/>
              </a:spcAft>
              <a:buSzPts val="1100"/>
              <a:buNone/>
            </a:pPr>
            <a:r>
              <a:rPr lang="en-US" sz="1100">
                <a:latin typeface="Arial"/>
                <a:ea typeface="Arial"/>
                <a:cs typeface="Arial"/>
                <a:sym typeface="Arial"/>
              </a:rPr>
              <a:t>Hi, we're the Moby Dicks — Aatish, Brandt, and Sai. We built a reading curriculum generator. Quick demo coming up</a:t>
            </a:r>
            <a:endParaRPr/>
          </a:p>
        </p:txBody>
      </p:sp>
      <p:sp>
        <p:nvSpPr>
          <p:cNvPr id="58" name="Google Shape;5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2 — The Idea (~15s)</a:t>
            </a:r>
            <a:endParaRPr b="1" sz="1100">
              <a:latin typeface="Arial"/>
              <a:ea typeface="Arial"/>
              <a:cs typeface="Arial"/>
              <a:sym typeface="Arial"/>
            </a:endParaRPr>
          </a:p>
          <a:p>
            <a:pPr indent="0" lvl="0" marL="381000" marR="381000" rtl="0" algn="l">
              <a:lnSpc>
                <a:spcPct val="115000"/>
              </a:lnSpc>
              <a:spcBef>
                <a:spcPts val="1200"/>
              </a:spcBef>
              <a:spcAft>
                <a:spcPts val="1200"/>
              </a:spcAft>
              <a:buSzPts val="1100"/>
              <a:buNone/>
            </a:pPr>
            <a:r>
              <a:rPr lang="en-US" sz="1100">
                <a:latin typeface="Arial"/>
                <a:ea typeface="Arial"/>
                <a:cs typeface="Arial"/>
                <a:sym typeface="Arial"/>
              </a:rPr>
              <a:t>The problem we set out to solve: most people don't actually finish the books they get recommended. ChatGPT and Goodreads optimize for what you'll like — we wanted something that optimizes for what you'll actually finish</a:t>
            </a:r>
            <a:endParaRPr/>
          </a:p>
        </p:txBody>
      </p:sp>
      <p:sp>
        <p:nvSpPr>
          <p:cNvPr id="68" name="Google Shape;6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3 — SWOT (~6s)</a:t>
            </a:r>
            <a:endParaRPr b="1" sz="1100">
              <a:latin typeface="Arial"/>
              <a:ea typeface="Arial"/>
              <a:cs typeface="Arial"/>
              <a:sym typeface="Arial"/>
            </a:endParaRPr>
          </a:p>
          <a:p>
            <a:pPr indent="0" lvl="0" marL="381000" marR="381000" rtl="0" algn="l">
              <a:lnSpc>
                <a:spcPct val="115000"/>
              </a:lnSpc>
              <a:spcBef>
                <a:spcPts val="1200"/>
              </a:spcBef>
              <a:spcAft>
                <a:spcPts val="1200"/>
              </a:spcAft>
              <a:buSzPts val="1100"/>
              <a:buNone/>
            </a:pPr>
            <a:r>
              <a:rPr lang="en-US" sz="1100">
                <a:latin typeface="Arial"/>
                <a:ea typeface="Arial"/>
                <a:cs typeface="Arial"/>
                <a:sym typeface="Arial"/>
              </a:rPr>
              <a:t>Our edge is that no popular product targets completion specifically. Biggest threat is LLM memory features closing that gap.</a:t>
            </a:r>
            <a:endParaRPr/>
          </a:p>
        </p:txBody>
      </p:sp>
      <p:sp>
        <p:nvSpPr>
          <p:cNvPr id="87" name="Google Shape;8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4 — Data (pitch view) (~6s)</a:t>
            </a:r>
            <a:endParaRPr b="1" sz="1100">
              <a:latin typeface="Arial"/>
              <a:ea typeface="Arial"/>
              <a:cs typeface="Arial"/>
              <a:sym typeface="Arial"/>
            </a:endParaRPr>
          </a:p>
          <a:p>
            <a:pPr indent="0" lvl="0" marL="381000" marR="381000" rtl="0" algn="l">
              <a:lnSpc>
                <a:spcPct val="115000"/>
              </a:lnSpc>
              <a:spcBef>
                <a:spcPts val="1200"/>
              </a:spcBef>
              <a:spcAft>
                <a:spcPts val="1200"/>
              </a:spcAft>
              <a:buSzPts val="1100"/>
              <a:buNone/>
            </a:pPr>
            <a:r>
              <a:rPr lang="en-US" sz="1100">
                <a:latin typeface="Arial"/>
                <a:ea typeface="Arial"/>
                <a:cs typeface="Arial"/>
                <a:sym typeface="Arial"/>
              </a:rPr>
              <a:t>We pulled the UCSD Goodreads dataset into BigQuery — over two million books. More detail in the technical section.</a:t>
            </a:r>
            <a:endParaRPr/>
          </a:p>
        </p:txBody>
      </p:sp>
      <p:sp>
        <p:nvSpPr>
          <p:cNvPr id="112" name="Google Shape;11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5 — Timeline (~6s)</a:t>
            </a:r>
            <a:endParaRPr b="1" sz="1100">
              <a:latin typeface="Arial"/>
              <a:ea typeface="Arial"/>
              <a:cs typeface="Arial"/>
              <a:sym typeface="Arial"/>
            </a:endParaRPr>
          </a:p>
          <a:p>
            <a:pPr indent="0" lvl="0" marL="381000" marR="381000" rtl="0" algn="l">
              <a:lnSpc>
                <a:spcPct val="115000"/>
              </a:lnSpc>
              <a:spcBef>
                <a:spcPts val="1200"/>
              </a:spcBef>
              <a:spcAft>
                <a:spcPts val="0"/>
              </a:spcAft>
              <a:buSzPts val="1100"/>
              <a:buNone/>
            </a:pPr>
            <a:r>
              <a:rPr lang="en-US" sz="1100">
                <a:latin typeface="Arial"/>
                <a:ea typeface="Arial"/>
                <a:cs typeface="Arial"/>
                <a:sym typeface="Arial"/>
              </a:rPr>
              <a:t>Phases one through three are shipped. Check-in loop with reminder notifications is next.</a:t>
            </a:r>
            <a:endParaRPr/>
          </a:p>
          <a:p>
            <a:pPr indent="0" lvl="0" marL="0" rtl="0" algn="l">
              <a:spcBef>
                <a:spcPts val="1200"/>
              </a:spcBef>
              <a:spcAft>
                <a:spcPts val="0"/>
              </a:spcAft>
              <a:buClr>
                <a:schemeClr val="dk1"/>
              </a:buClr>
              <a:buFont typeface="Arial"/>
              <a:buNone/>
            </a:pPr>
            <a:r>
              <a:t/>
            </a:r>
            <a:endParaRPr/>
          </a:p>
          <a:p>
            <a:pPr indent="0" lvl="0" marL="0" rtl="0" algn="l">
              <a:spcBef>
                <a:spcPts val="0"/>
              </a:spcBef>
              <a:spcAft>
                <a:spcPts val="0"/>
              </a:spcAft>
              <a:buNone/>
            </a:pPr>
            <a:r>
              <a:t/>
            </a:r>
            <a:endParaRPr/>
          </a:p>
        </p:txBody>
      </p:sp>
      <p:sp>
        <p:nvSpPr>
          <p:cNvPr id="130" name="Google Shape;13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6 — Budget (~6s)</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Each curriculum costs us under a tenth of a cent. We're well under the hundred-fifty-dollar GCP cap.</a:t>
            </a:r>
            <a:endParaRPr sz="1100">
              <a:latin typeface="Arial"/>
              <a:ea typeface="Arial"/>
              <a:cs typeface="Arial"/>
              <a:sym typeface="Arial"/>
            </a:endParaRPr>
          </a:p>
          <a:p>
            <a:pPr indent="0" lvl="0" marL="0" rtl="0" algn="l">
              <a:spcBef>
                <a:spcPts val="1200"/>
              </a:spcBef>
              <a:spcAft>
                <a:spcPts val="0"/>
              </a:spcAft>
              <a:buClr>
                <a:schemeClr val="dk1"/>
              </a:buClr>
              <a:buFont typeface="Arial"/>
              <a:buNone/>
            </a:pPr>
            <a:r>
              <a:t/>
            </a:r>
            <a:endParaRPr/>
          </a:p>
          <a:p>
            <a:pPr indent="0" lvl="0" marL="0" rtl="0" algn="l">
              <a:spcBef>
                <a:spcPts val="0"/>
              </a:spcBef>
              <a:spcAft>
                <a:spcPts val="0"/>
              </a:spcAft>
              <a:buNone/>
            </a:pPr>
            <a:r>
              <a:t/>
            </a:r>
            <a:endParaRPr/>
          </a:p>
        </p:txBody>
      </p:sp>
      <p:sp>
        <p:nvSpPr>
          <p:cNvPr id="160" name="Google Shape;16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7 — Final Technical Slides divider (~3s)</a:t>
            </a:r>
            <a:endParaRPr b="1" sz="1100">
              <a:latin typeface="Arial"/>
              <a:ea typeface="Arial"/>
              <a:cs typeface="Arial"/>
              <a:sym typeface="Arial"/>
            </a:endParaRPr>
          </a:p>
          <a:p>
            <a:pPr indent="0" lvl="0" marL="381000" marR="381000" rtl="0" algn="l">
              <a:lnSpc>
                <a:spcPct val="115000"/>
              </a:lnSpc>
              <a:spcBef>
                <a:spcPts val="1200"/>
              </a:spcBef>
              <a:spcAft>
                <a:spcPts val="1200"/>
              </a:spcAft>
              <a:buSzPts val="1100"/>
              <a:buNone/>
            </a:pPr>
            <a:r>
              <a:rPr lang="en-US" sz="1100">
                <a:latin typeface="Arial"/>
                <a:ea typeface="Arial"/>
                <a:cs typeface="Arial"/>
                <a:sym typeface="Arial"/>
              </a:rPr>
              <a:t>That's the pitch. Now the technical side.</a:t>
            </a:r>
            <a:endParaRPr/>
          </a:p>
        </p:txBody>
      </p:sp>
      <p:sp>
        <p:nvSpPr>
          <p:cNvPr id="175" name="Google Shape;17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8 — Introduction (~55s)</a:t>
            </a:r>
            <a:r>
              <a:rPr lang="en-US" sz="1100">
                <a:latin typeface="Arial"/>
                <a:ea typeface="Arial"/>
                <a:cs typeface="Arial"/>
                <a:sym typeface="Arial"/>
              </a:rPr>
              <a:t xml:space="preserve"> </a:t>
            </a:r>
            <a:r>
              <a:rPr i="1" lang="en-US" sz="1100">
                <a:latin typeface="Arial"/>
                <a:ea typeface="Arial"/>
                <a:cs typeface="Arial"/>
                <a:sym typeface="Arial"/>
              </a:rPr>
              <a:t>(Introduction rubric)</a:t>
            </a:r>
            <a:endParaRPr i="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Moby Dicks is a reading curriculum generator. The user gives us three things — a topic, a time budget, and a difficulty level. We turn that into a five-book ordered curriculum, with a written reason for every pick and an overall reading arc. The whole flow runs in about ten seconds. The user fills out one survey instead of having an eight-message back-and-forth with ChatGPT — and every recommendation is grounded in a real book in our catalog, so there are no hallucinated titles. The differentiator that's hardest for a chat interface to copy is the check-in loop. After each book, we re-rank the rest of the curriculum based on whether the user found it too easy, too dense, or just right.</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85" name="Google Shape;18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9 — Stack (~18s)</a:t>
            </a:r>
            <a:endParaRPr b="1" sz="1100">
              <a:latin typeface="Arial"/>
              <a:ea typeface="Arial"/>
              <a:cs typeface="Arial"/>
              <a:sym typeface="Arial"/>
            </a:endParaRPr>
          </a:p>
          <a:p>
            <a:pPr indent="0" lvl="0" marL="381000" marR="38100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Quick stack tour. Reflex for front-end and back-end — pure Python, no JavaScript. BigQuery for the catalog. Vertex AI Gemini Flash for the model calls. And the four required pieces: Docker, GitHub Actions, MLflow, and GCP via Cloud Run.</a:t>
            </a:r>
            <a:endParaRPr/>
          </a:p>
        </p:txBody>
      </p:sp>
      <p:sp>
        <p:nvSpPr>
          <p:cNvPr id="211" name="Google Shape;21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10 — System Design (~60s)</a:t>
            </a:r>
            <a:r>
              <a:rPr lang="en-US" sz="1100">
                <a:latin typeface="Arial"/>
                <a:ea typeface="Arial"/>
                <a:cs typeface="Arial"/>
                <a:sym typeface="Arial"/>
              </a:rPr>
              <a:t xml:space="preserve"> </a:t>
            </a:r>
            <a:r>
              <a:rPr i="1" lang="en-US" sz="1100">
                <a:latin typeface="Arial"/>
                <a:ea typeface="Arial"/>
                <a:cs typeface="Arial"/>
                <a:sym typeface="Arial"/>
              </a:rPr>
              <a:t>(Architecture rubric)</a:t>
            </a:r>
            <a:endParaRPr i="1" sz="1100">
              <a:latin typeface="Arial"/>
              <a:ea typeface="Arial"/>
              <a:cs typeface="Arial"/>
              <a:sym typeface="Arial"/>
            </a:endParaRPr>
          </a:p>
          <a:p>
            <a:pPr indent="0" lvl="0" marL="381000" marR="38100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Two lanes here — runtime on top, build on the bottom. Runtime: a request comes in through the Reflex UI and hits pipeline.py, which has three stages. Stage one calls Gemini to extract structured filters from the survey. Stage two runs a SQL query against BigQuery to get the top 25 candidate books. Stage three calls Gemini again to order those candidates into a five-book curriculum. The whole thing returns to the UI in about ten seconds. Cloud Run hosts the service, Secret Manager injects credentials at boot, and Cloud Logging stores the AI memory. Build lane: every push goes to GitHub Actions, which runs our nightly tests, builds a Docker image with FastAPI on port eight thousand and MLflow on port five thousand, and the MLflow server tracks runs and artifacts.</a:t>
            </a:r>
            <a:endParaRPr/>
          </a:p>
        </p:txBody>
      </p:sp>
      <p:sp>
        <p:nvSpPr>
          <p:cNvPr id="255" name="Google Shape;25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11 — Data + Database (~60s)</a:t>
            </a:r>
            <a:r>
              <a:rPr lang="en-US" sz="1100">
                <a:latin typeface="Arial"/>
                <a:ea typeface="Arial"/>
                <a:cs typeface="Arial"/>
                <a:sym typeface="Arial"/>
              </a:rPr>
              <a:t xml:space="preserve"> </a:t>
            </a:r>
            <a:r>
              <a:rPr i="1" lang="en-US" sz="1100">
                <a:latin typeface="Arial"/>
                <a:ea typeface="Arial"/>
                <a:cs typeface="Arial"/>
                <a:sym typeface="Arial"/>
              </a:rPr>
              <a:t>(Data rubric)</a:t>
            </a:r>
            <a:endParaRPr i="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data: BigQuery is our warehouse. The table holds about 2.36 million Goodreads books, populated from the UCSD Wan and McAuley dataset using load_to_bigquery.sh. Each row carries the metadata we need — book ID, title, description, page count, publication year, average rating, ratings count, and language. The two interesting columns are popular_shelves, which is an array of user-applied shelf names with counts, and the authors array, which we use for de-duplication. The candidate scan in candidates.py is four steps. One: filter by language, page range, and at least one hundred ratings. Two: strip noise shelves like "to-read" or "kindle." Three: score each book by overlap between the user's keywords and the shelf tokens. Four: deduplicate by work_id, return the top two hundred, and pass the top twenty-five into the model.</a:t>
            </a:r>
            <a:endParaRPr sz="1100">
              <a:latin typeface="Arial"/>
              <a:ea typeface="Arial"/>
              <a:cs typeface="Arial"/>
              <a:sym typeface="Arial"/>
            </a:endParaRPr>
          </a:p>
          <a:p>
            <a:pPr indent="0" lvl="0" marL="0" marR="38100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
        <p:nvSpPr>
          <p:cNvPr id="314" name="Google Shape;31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12 — Models (~65s)</a:t>
            </a:r>
            <a:r>
              <a:rPr lang="en-US" sz="1100">
                <a:latin typeface="Arial"/>
                <a:ea typeface="Arial"/>
                <a:cs typeface="Arial"/>
                <a:sym typeface="Arial"/>
              </a:rPr>
              <a:t xml:space="preserve"> </a:t>
            </a:r>
            <a:r>
              <a:rPr i="1" lang="en-US" sz="1100">
                <a:latin typeface="Arial"/>
                <a:ea typeface="Arial"/>
                <a:cs typeface="Arial"/>
                <a:sym typeface="Arial"/>
              </a:rPr>
              <a:t>(Models rubric)</a:t>
            </a:r>
            <a:endParaRPr i="1" sz="1100">
              <a:latin typeface="Arial"/>
              <a:ea typeface="Arial"/>
              <a:cs typeface="Arial"/>
              <a:sym typeface="Arial"/>
            </a:endParaRPr>
          </a:p>
          <a:p>
            <a:pPr indent="0" lvl="0" marL="381000" marR="38100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For models: gemini-2.0-flash via Vertex AI for both calls, and we enforce a Pydantic schema on the output of each one. Call one is the extract step — temperature point two, output schema SurveyFilters. It maps free text like "evening read" or "eighteenth-century Russian lit" into keywords, page range, era, and difficulty. We keep this separate from candidate generation so we can run a deterministic SQL query before the model ever sees a book. Call two is the curate step — temperature point three, output schema Curriculum. It receives the top twenty-five candidates and orders them by progressive difficulty. Because the candidate pool is the only valid input space, the model can't hallucinate a title — it has to pick from real book IDs in the pool. Phase two will add a scikit-learn reranker over check-in data, tracked via MLflow.</a:t>
            </a:r>
            <a:endParaRPr/>
          </a:p>
        </p:txBody>
      </p:sp>
      <p:sp>
        <p:nvSpPr>
          <p:cNvPr id="333" name="Google Shape;33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13 — Technical Topic: Testing &amp; Nightly Evaluation (~60s)</a:t>
            </a:r>
            <a:r>
              <a:rPr lang="en-US" sz="1100">
                <a:latin typeface="Arial"/>
                <a:ea typeface="Arial"/>
                <a:cs typeface="Arial"/>
                <a:sym typeface="Arial"/>
              </a:rPr>
              <a:t xml:space="preserve"> </a:t>
            </a:r>
            <a:r>
              <a:rPr i="1" lang="en-US" sz="1100">
                <a:latin typeface="Arial"/>
                <a:ea typeface="Arial"/>
                <a:cs typeface="Arial"/>
                <a:sym typeface="Arial"/>
              </a:rPr>
              <a:t>(Tech topic rubric)</a:t>
            </a:r>
            <a:endParaRPr i="1" sz="1100">
              <a:latin typeface="Arial"/>
              <a:ea typeface="Arial"/>
              <a:cs typeface="Arial"/>
              <a:sym typeface="Arial"/>
            </a:endParaRPr>
          </a:p>
          <a:p>
            <a:pPr indent="0" lvl="0" marL="381000" marR="38100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Our technical deep-dive is testing strategy. We have 38 pytest cases across 9 test classes — schema contracts, curriculum structure, pipeline failure paths, FastAPI endpoint contracts, and a prompt-injection guard on the extract step. GitHub Actions runs the full suite every night via cron at 2 AM Eastern, plus on-demand from the Actions tab. Failures surface as a GitHub error annotation on the run. The interesting part is isolation: we stub the google.cloud and mlflow modules with MagicMock before any production code imports them. That means the nightly run costs us zero in live GCP calls — no Vertex tokens, no BigQuery scans — even though we're exercising the same code paths that hit them in production. This is what lets us run nightly tests for the full duration of the project without burning through our credits.</a:t>
            </a:r>
            <a:endParaRPr/>
          </a:p>
        </p:txBody>
      </p:sp>
      <p:sp>
        <p:nvSpPr>
          <p:cNvPr id="354" name="Google Shape;35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14 — Differentiators (~10s)</a:t>
            </a:r>
            <a:endParaRPr b="1" sz="1100">
              <a:latin typeface="Arial"/>
              <a:ea typeface="Arial"/>
              <a:cs typeface="Arial"/>
              <a:sym typeface="Arial"/>
            </a:endParaRPr>
          </a:p>
          <a:p>
            <a:pPr indent="0" lvl="0" marL="381000" marR="381000" rtl="0" algn="l">
              <a:lnSpc>
                <a:spcPct val="115000"/>
              </a:lnSpc>
              <a:spcBef>
                <a:spcPts val="1200"/>
              </a:spcBef>
              <a:spcAft>
                <a:spcPts val="1200"/>
              </a:spcAft>
              <a:buSzPts val="1100"/>
              <a:buNone/>
            </a:pPr>
            <a:r>
              <a:rPr lang="en-US" sz="1100">
                <a:latin typeface="Arial"/>
                <a:ea typeface="Arial"/>
                <a:cs typeface="Arial"/>
                <a:sym typeface="Arial"/>
              </a:rPr>
              <a:t>Six things you can't get from a single ChatGPT prompt — one form not eight, real catalog grounding, completion focus, check-in loop, persistent memory, and cost-controlled by design.</a:t>
            </a:r>
            <a:endParaRPr/>
          </a:p>
        </p:txBody>
      </p:sp>
      <p:sp>
        <p:nvSpPr>
          <p:cNvPr id="383" name="Google Shape;38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15 — Demo (~6s)</a:t>
            </a:r>
            <a:endParaRPr b="1" sz="1100">
              <a:latin typeface="Arial"/>
              <a:ea typeface="Arial"/>
              <a:cs typeface="Arial"/>
              <a:sym typeface="Arial"/>
            </a:endParaRPr>
          </a:p>
          <a:p>
            <a:pPr indent="0" lvl="0" marL="381000" marR="381000" rtl="0" algn="l">
              <a:lnSpc>
                <a:spcPct val="115000"/>
              </a:lnSpc>
              <a:spcBef>
                <a:spcPts val="1200"/>
              </a:spcBef>
              <a:spcAft>
                <a:spcPts val="1200"/>
              </a:spcAft>
              <a:buSzPts val="1100"/>
              <a:buNone/>
            </a:pPr>
            <a:r>
              <a:rPr lang="en-US" sz="1100">
                <a:latin typeface="Arial"/>
                <a:ea typeface="Arial"/>
                <a:cs typeface="Arial"/>
                <a:sym typeface="Arial"/>
              </a:rPr>
              <a:t>Here's a two-minute demo of the live app — also linked from our README.</a:t>
            </a:r>
            <a:endParaRPr/>
          </a:p>
        </p:txBody>
      </p:sp>
      <p:sp>
        <p:nvSpPr>
          <p:cNvPr id="416" name="Google Shape;41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Slide 16 — Repo + Thank You (~4s)</a:t>
            </a:r>
            <a:endParaRPr b="1" sz="1100">
              <a:latin typeface="Arial"/>
              <a:ea typeface="Arial"/>
              <a:cs typeface="Arial"/>
              <a:sym typeface="Arial"/>
            </a:endParaRPr>
          </a:p>
          <a:p>
            <a:pPr indent="0" lvl="0" marL="381000" marR="381000" rtl="0" algn="l">
              <a:lnSpc>
                <a:spcPct val="115000"/>
              </a:lnSpc>
              <a:spcBef>
                <a:spcPts val="1200"/>
              </a:spcBef>
              <a:spcAft>
                <a:spcPts val="1200"/>
              </a:spcAft>
              <a:buSzPts val="1100"/>
              <a:buNone/>
            </a:pPr>
            <a:r>
              <a:rPr lang="en-US" sz="1100">
                <a:latin typeface="Arial"/>
                <a:ea typeface="Arial"/>
                <a:cs typeface="Arial"/>
                <a:sym typeface="Arial"/>
              </a:rPr>
              <a:t>Code's on GitHub. Thank you — happy to answer questions.</a:t>
            </a:r>
            <a:endParaRPr/>
          </a:p>
        </p:txBody>
      </p:sp>
      <p:sp>
        <p:nvSpPr>
          <p:cNvPr id="434" name="Google Shape;43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4" name="Shape 54"/>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 name="Google Shape;11;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2" name="Google Shape;12;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comments" Target="../comments/comment1.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7.png"/><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1.png"/><Relationship Id="rId8" Type="http://schemas.openxmlformats.org/officeDocument/2006/relationships/image" Target="../media/image6.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comments" Target="../comments/comment2.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hyperlink" Target="https://youtu.be/hFVhIdpcWMs" TargetMode="External"/><Relationship Id="rId4" Type="http://schemas.openxmlformats.org/officeDocument/2006/relationships/hyperlink" Target="https://youtu.be/hFVhIdpcWMs" TargetMode="External"/><Relationship Id="rId5" Type="http://schemas.openxmlformats.org/officeDocument/2006/relationships/hyperlink" Target="https://youtu.be/REPLACE_ME" TargetMode="External"/><Relationship Id="rId6" Type="http://schemas.openxmlformats.org/officeDocument/2006/relationships/hyperlink" Target="https://youtu.be/hFVhIdpcWMs" TargetMode="External"/></Relationships>
</file>

<file path=ppt/slides/_rels/slide16.xml.rels><?xml version="1.0" encoding="UTF-8"?><Relationships xmlns="http://schemas.openxmlformats.org/package/2006/relationships"><Relationship Id="rId10" Type="http://schemas.openxmlformats.org/officeDocument/2006/relationships/hyperlink" Target="https://github.com/SaiMulagan/mobydick/blob/main/pipeline.py" TargetMode="External"/><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s://github.com/SaiMulagan/mobydick" TargetMode="External"/><Relationship Id="rId4" Type="http://schemas.openxmlformats.org/officeDocument/2006/relationships/hyperlink" Target="https://github.com/SaiMulagan/mobydick" TargetMode="External"/><Relationship Id="rId9" Type="http://schemas.openxmlformats.org/officeDocument/2006/relationships/hyperlink" Target="https://github.com/SaiMulagan/mobydick/blob/main/pipeline.py" TargetMode="External"/><Relationship Id="rId5" Type="http://schemas.openxmlformats.org/officeDocument/2006/relationships/hyperlink" Target="https://youtu.be/REPLACE_ME" TargetMode="External"/><Relationship Id="rId6" Type="http://schemas.openxmlformats.org/officeDocument/2006/relationships/hyperlink" Target="https://youtu.be/REPLACE_ME" TargetMode="External"/><Relationship Id="rId7" Type="http://schemas.openxmlformats.org/officeDocument/2006/relationships/hyperlink" Target="https://github.com/SaiMulagan/mobydick/blob/main/context/ARCHITECTURE.md" TargetMode="External"/><Relationship Id="rId8" Type="http://schemas.openxmlformats.org/officeDocument/2006/relationships/hyperlink" Target="https://github.com/SaiMulagan/mobydick/blob/main/context/ARCHITECTURE.m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41120"/>
        </a:solidFill>
      </p:bgPr>
    </p:bg>
    <p:spTree>
      <p:nvGrpSpPr>
        <p:cNvPr id="59" name="Shape 59"/>
        <p:cNvGrpSpPr/>
        <p:nvPr/>
      </p:nvGrpSpPr>
      <p:grpSpPr>
        <a:xfrm>
          <a:off x="0" y="0"/>
          <a:ext cx="0" cy="0"/>
          <a:chOff x="0" y="0"/>
          <a:chExt cx="0" cy="0"/>
        </a:xfrm>
      </p:grpSpPr>
      <p:sp>
        <p:nvSpPr>
          <p:cNvPr id="60" name="Google Shape;60;p14"/>
          <p:cNvSpPr/>
          <p:nvPr/>
        </p:nvSpPr>
        <p:spPr>
          <a:xfrm>
            <a:off x="457200" y="1417320"/>
            <a:ext cx="82296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DED"/>
              </a:buClr>
              <a:buSzPts val="8800"/>
              <a:buFont typeface="Georgia"/>
              <a:buNone/>
            </a:pPr>
            <a:r>
              <a:rPr b="1" i="1" lang="en-US" sz="8800" u="none" cap="none" strike="noStrike">
                <a:solidFill>
                  <a:srgbClr val="EDEDED"/>
                </a:solidFill>
                <a:latin typeface="Georgia"/>
                <a:ea typeface="Georgia"/>
                <a:cs typeface="Georgia"/>
                <a:sym typeface="Georgia"/>
              </a:rPr>
              <a:t>Moby Dicks</a:t>
            </a:r>
            <a:endParaRPr b="0" i="0" sz="8800" u="none" cap="none" strike="noStrike">
              <a:solidFill>
                <a:schemeClr val="dk1"/>
              </a:solidFill>
              <a:latin typeface="Calibri"/>
              <a:ea typeface="Calibri"/>
              <a:cs typeface="Calibri"/>
              <a:sym typeface="Calibri"/>
            </a:endParaRPr>
          </a:p>
        </p:txBody>
      </p:sp>
      <p:sp>
        <p:nvSpPr>
          <p:cNvPr id="61" name="Google Shape;61;p14"/>
          <p:cNvSpPr/>
          <p:nvPr/>
        </p:nvSpPr>
        <p:spPr>
          <a:xfrm>
            <a:off x="457200" y="2606040"/>
            <a:ext cx="8229600" cy="914400"/>
          </a:xfrm>
          <a:prstGeom prst="rect">
            <a:avLst/>
          </a:prstGeom>
          <a:noFill/>
          <a:ln>
            <a:noFill/>
          </a:ln>
        </p:spPr>
        <p:txBody>
          <a:bodyPr anchorCtr="0" anchor="ctr" bIns="0" lIns="0" spcFirstLastPara="1" rIns="0" wrap="square" tIns="0">
            <a:noAutofit/>
          </a:bodyPr>
          <a:lstStyle/>
          <a:p>
            <a:pPr indent="0" lvl="0" marL="0" marR="0" rtl="0" algn="l">
              <a:spcBef>
                <a:spcPts val="400"/>
              </a:spcBef>
              <a:spcAft>
                <a:spcPts val="0"/>
              </a:spcAft>
              <a:buClr>
                <a:srgbClr val="EDEDED"/>
              </a:buClr>
              <a:buSzPts val="2000"/>
              <a:buFont typeface="Georgia"/>
              <a:buNone/>
            </a:pPr>
            <a:r>
              <a:rPr b="0" i="1" lang="en-US" sz="2000" u="none" cap="none" strike="noStrike">
                <a:solidFill>
                  <a:srgbClr val="EDEDED"/>
                </a:solidFill>
                <a:latin typeface="Georgia"/>
                <a:ea typeface="Georgia"/>
                <a:cs typeface="Georgia"/>
                <a:sym typeface="Georgia"/>
              </a:rPr>
              <a:t xml:space="preserve">We recommend books you'll </a:t>
            </a:r>
            <a:r>
              <a:rPr i="1" lang="en-US" sz="2000" u="none" cap="none" strike="noStrike">
                <a:solidFill>
                  <a:srgbClr val="EDEDED"/>
                </a:solidFill>
                <a:latin typeface="Georgia"/>
                <a:ea typeface="Georgia"/>
                <a:cs typeface="Georgia"/>
                <a:sym typeface="Georgia"/>
              </a:rPr>
              <a:t>actually</a:t>
            </a:r>
            <a:r>
              <a:rPr b="0" i="1" lang="en-US" sz="2000" u="none" cap="none" strike="noStrike">
                <a:solidFill>
                  <a:srgbClr val="EDEDED"/>
                </a:solidFill>
                <a:latin typeface="Georgia"/>
                <a:ea typeface="Georgia"/>
                <a:cs typeface="Georgia"/>
                <a:sym typeface="Georgia"/>
              </a:rPr>
              <a:t xml:space="preserve"> finish.</a:t>
            </a:r>
            <a:endParaRPr b="0" i="0" sz="2000" u="none" cap="none" strike="noStrike">
              <a:solidFill>
                <a:schemeClr val="dk1"/>
              </a:solidFill>
              <a:latin typeface="Calibri"/>
              <a:ea typeface="Calibri"/>
              <a:cs typeface="Calibri"/>
              <a:sym typeface="Calibri"/>
            </a:endParaRPr>
          </a:p>
        </p:txBody>
      </p:sp>
      <p:sp>
        <p:nvSpPr>
          <p:cNvPr id="62" name="Google Shape;62;p14"/>
          <p:cNvSpPr/>
          <p:nvPr/>
        </p:nvSpPr>
        <p:spPr>
          <a:xfrm>
            <a:off x="475488" y="3840480"/>
            <a:ext cx="548640" cy="36576"/>
          </a:xfrm>
          <a:prstGeom prst="rect">
            <a:avLst/>
          </a:prstGeom>
          <a:solidFill>
            <a:srgbClr val="896F77"/>
          </a:solidFill>
          <a:ln cap="flat" cmpd="sng" w="12700">
            <a:solidFill>
              <a:srgbClr val="896F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457200" y="395020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DED"/>
              </a:buClr>
              <a:buSzPts val="1200"/>
              <a:buFont typeface="Calibri"/>
              <a:buNone/>
            </a:pPr>
            <a:r>
              <a:rPr b="1" i="0" lang="en-US" sz="1200" u="none" cap="none" strike="noStrike">
                <a:solidFill>
                  <a:srgbClr val="EDEDED"/>
                </a:solidFill>
                <a:latin typeface="Calibri"/>
                <a:ea typeface="Calibri"/>
                <a:cs typeface="Calibri"/>
                <a:sym typeface="Calibri"/>
              </a:rPr>
              <a:t>AATISH  ·  BRANDT  ·  SAI</a:t>
            </a:r>
            <a:endParaRPr b="0" i="0" sz="1200" u="none" cap="none" strike="noStrike">
              <a:solidFill>
                <a:schemeClr val="dk1"/>
              </a:solidFill>
              <a:latin typeface="Calibri"/>
              <a:ea typeface="Calibri"/>
              <a:cs typeface="Calibri"/>
              <a:sym typeface="Calibri"/>
            </a:endParaRPr>
          </a:p>
        </p:txBody>
      </p:sp>
      <p:sp>
        <p:nvSpPr>
          <p:cNvPr id="64" name="Google Shape;64;p14"/>
          <p:cNvSpPr/>
          <p:nvPr/>
        </p:nvSpPr>
        <p:spPr>
          <a:xfrm>
            <a:off x="457200" y="422452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6"/>
              </a:buClr>
              <a:buSzPts val="1100"/>
              <a:buFont typeface="Calibri"/>
              <a:buNone/>
            </a:pPr>
            <a:r>
              <a:rPr b="0" i="0" lang="en-US" sz="1100" u="none" cap="none" strike="noStrike">
                <a:solidFill>
                  <a:srgbClr val="D9D9D6"/>
                </a:solidFill>
                <a:latin typeface="Calibri"/>
                <a:ea typeface="Calibri"/>
                <a:cs typeface="Calibri"/>
                <a:sym typeface="Calibri"/>
              </a:rPr>
              <a:t>Advanced MLOps · Milestone 5 · Spring 2026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69" name="Shape 69"/>
        <p:cNvGrpSpPr/>
        <p:nvPr/>
      </p:nvGrpSpPr>
      <p:grpSpPr>
        <a:xfrm>
          <a:off x="0" y="0"/>
          <a:ext cx="0" cy="0"/>
          <a:chOff x="0" y="0"/>
          <a:chExt cx="0" cy="0"/>
        </a:xfrm>
      </p:grpSpPr>
      <p:sp>
        <p:nvSpPr>
          <p:cNvPr id="70" name="Google Shape;70;p15"/>
          <p:cNvSpPr/>
          <p:nvPr/>
        </p:nvSpPr>
        <p:spPr>
          <a:xfrm>
            <a:off x="8275320" y="274320"/>
            <a:ext cx="164592" cy="164592"/>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5"/>
          <p:cNvSpPr/>
          <p:nvPr/>
        </p:nvSpPr>
        <p:spPr>
          <a:xfrm>
            <a:off x="6675120" y="246888"/>
            <a:ext cx="15544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72" name="Google Shape;72;p15"/>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THE IDEA</a:t>
            </a:r>
            <a:endParaRPr b="0" i="0" sz="1000" u="none" cap="none" strike="noStrike">
              <a:solidFill>
                <a:schemeClr val="dk1"/>
              </a:solidFill>
              <a:latin typeface="Calibri"/>
              <a:ea typeface="Calibri"/>
              <a:cs typeface="Calibri"/>
              <a:sym typeface="Calibri"/>
            </a:endParaRPr>
          </a:p>
        </p:txBody>
      </p:sp>
      <p:sp>
        <p:nvSpPr>
          <p:cNvPr id="73" name="Google Shape;73;p15"/>
          <p:cNvSpPr/>
          <p:nvPr/>
        </p:nvSpPr>
        <p:spPr>
          <a:xfrm>
            <a:off x="457200" y="5029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A reading curriculum, not a recommendation list.</a:t>
            </a:r>
            <a:endParaRPr b="0" i="0" sz="2800" u="none" cap="none" strike="noStrike">
              <a:solidFill>
                <a:schemeClr val="dk1"/>
              </a:solidFill>
              <a:latin typeface="Calibri"/>
              <a:ea typeface="Calibri"/>
              <a:cs typeface="Calibri"/>
              <a:sym typeface="Calibri"/>
            </a:endParaRPr>
          </a:p>
        </p:txBody>
      </p:sp>
      <p:sp>
        <p:nvSpPr>
          <p:cNvPr id="74" name="Google Shape;74;p15"/>
          <p:cNvSpPr/>
          <p:nvPr/>
        </p:nvSpPr>
        <p:spPr>
          <a:xfrm>
            <a:off x="457200" y="1325880"/>
            <a:ext cx="4023360" cy="3246120"/>
          </a:xfrm>
          <a:prstGeom prst="rect">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p:nvPr/>
        </p:nvSpPr>
        <p:spPr>
          <a:xfrm>
            <a:off x="457200" y="1325880"/>
            <a:ext cx="73152" cy="324612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p:nvPr/>
        </p:nvSpPr>
        <p:spPr>
          <a:xfrm>
            <a:off x="685800" y="146304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77" name="Google Shape;77;p15"/>
          <p:cNvSpPr/>
          <p:nvPr/>
        </p:nvSpPr>
        <p:spPr>
          <a:xfrm>
            <a:off x="685800" y="1755648"/>
            <a:ext cx="3657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700"/>
              <a:buFont typeface="Georgia"/>
              <a:buNone/>
            </a:pPr>
            <a:r>
              <a:rPr b="1" i="1" lang="en-US" sz="1700" u="none" cap="none" strike="noStrike">
                <a:solidFill>
                  <a:srgbClr val="441120"/>
                </a:solidFill>
                <a:latin typeface="Georgia"/>
                <a:ea typeface="Georgia"/>
                <a:cs typeface="Georgia"/>
                <a:sym typeface="Georgia"/>
              </a:rPr>
              <a:t>Finding books to read is easy. Finishing them is hard.</a:t>
            </a:r>
            <a:endParaRPr b="0" i="0" sz="1700" u="none" cap="none" strike="noStrike">
              <a:solidFill>
                <a:schemeClr val="dk1"/>
              </a:solidFill>
              <a:latin typeface="Calibri"/>
              <a:ea typeface="Calibri"/>
              <a:cs typeface="Calibri"/>
              <a:sym typeface="Calibri"/>
            </a:endParaRPr>
          </a:p>
        </p:txBody>
      </p:sp>
      <p:sp>
        <p:nvSpPr>
          <p:cNvPr id="78" name="Google Shape;78;p15"/>
          <p:cNvSpPr/>
          <p:nvPr/>
        </p:nvSpPr>
        <p:spPr>
          <a:xfrm>
            <a:off x="685800" y="2697480"/>
            <a:ext cx="3657600" cy="1783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200"/>
              <a:buFont typeface="Calibri"/>
              <a:buNone/>
            </a:pPr>
            <a:r>
              <a:rPr b="0" i="0" lang="en-US" sz="1200" u="none" cap="none" strike="noStrike">
                <a:solidFill>
                  <a:srgbClr val="1F1F1F"/>
                </a:solidFill>
                <a:latin typeface="Calibri"/>
                <a:ea typeface="Calibri"/>
                <a:cs typeface="Calibri"/>
                <a:sym typeface="Calibri"/>
              </a:rPr>
              <a:t>Reddit, X, and book forums are full of people asking why they can't finish books anymore.</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F1F1F"/>
              </a:buClr>
              <a:buSzPts val="1200"/>
              <a:buFont typeface="Calibri"/>
              <a:buNone/>
            </a:pPr>
            <a:r>
              <a:rPr b="0" i="0" lang="en-US" sz="1200" u="none" cap="none" strike="noStrike">
                <a:solidFill>
                  <a:srgbClr val="1F1F1F"/>
                </a:solidFill>
                <a:latin typeface="Calibri"/>
                <a:ea typeface="Calibri"/>
                <a:cs typeface="Calibri"/>
                <a:sym typeface="Calibri"/>
              </a:rPr>
              <a:t>Goodreads, ChatGPT, and "best of" lists optimize for what you'll like — not what you'll finish.</a:t>
            </a:r>
            <a:endParaRPr b="0" i="0" sz="1200" u="none" cap="none" strike="noStrike">
              <a:solidFill>
                <a:schemeClr val="dk1"/>
              </a:solidFill>
              <a:latin typeface="Calibri"/>
              <a:ea typeface="Calibri"/>
              <a:cs typeface="Calibri"/>
              <a:sym typeface="Calibri"/>
            </a:endParaRPr>
          </a:p>
        </p:txBody>
      </p:sp>
      <p:sp>
        <p:nvSpPr>
          <p:cNvPr id="79" name="Google Shape;79;p15"/>
          <p:cNvSpPr/>
          <p:nvPr/>
        </p:nvSpPr>
        <p:spPr>
          <a:xfrm>
            <a:off x="4663440" y="1325880"/>
            <a:ext cx="4023360" cy="3246120"/>
          </a:xfrm>
          <a:prstGeom prst="rect">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p:nvPr/>
        </p:nvSpPr>
        <p:spPr>
          <a:xfrm>
            <a:off x="4663440" y="1325880"/>
            <a:ext cx="73152" cy="3246120"/>
          </a:xfrm>
          <a:prstGeom prst="rect">
            <a:avLst/>
          </a:prstGeom>
          <a:solidFill>
            <a:srgbClr val="896F77"/>
          </a:solidFill>
          <a:ln cap="flat" cmpd="sng" w="12700">
            <a:solidFill>
              <a:srgbClr val="896F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a:off x="4892040" y="146304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OUR SOLUTION</a:t>
            </a:r>
            <a:endParaRPr b="0" i="0" sz="1000" u="none" cap="none" strike="noStrike">
              <a:solidFill>
                <a:schemeClr val="dk1"/>
              </a:solidFill>
              <a:latin typeface="Calibri"/>
              <a:ea typeface="Calibri"/>
              <a:cs typeface="Calibri"/>
              <a:sym typeface="Calibri"/>
            </a:endParaRPr>
          </a:p>
        </p:txBody>
      </p:sp>
      <p:sp>
        <p:nvSpPr>
          <p:cNvPr id="82" name="Google Shape;82;p15"/>
          <p:cNvSpPr/>
          <p:nvPr/>
        </p:nvSpPr>
        <p:spPr>
          <a:xfrm>
            <a:off x="4892040" y="1755648"/>
            <a:ext cx="3657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700"/>
              <a:buFont typeface="Georgia"/>
              <a:buNone/>
            </a:pPr>
            <a:r>
              <a:rPr b="1" i="1" lang="en-US" sz="1700" u="none" cap="none" strike="noStrike">
                <a:solidFill>
                  <a:srgbClr val="441120"/>
                </a:solidFill>
                <a:latin typeface="Georgia"/>
                <a:ea typeface="Georgia"/>
                <a:cs typeface="Georgia"/>
                <a:sym typeface="Georgia"/>
              </a:rPr>
              <a:t>Three inputs. One five-book curriculum.</a:t>
            </a:r>
            <a:endParaRPr b="0" i="0" sz="1700" u="none" cap="none" strike="noStrike">
              <a:solidFill>
                <a:schemeClr val="dk1"/>
              </a:solidFill>
              <a:latin typeface="Calibri"/>
              <a:ea typeface="Calibri"/>
              <a:cs typeface="Calibri"/>
              <a:sym typeface="Calibri"/>
            </a:endParaRPr>
          </a:p>
        </p:txBody>
      </p:sp>
      <p:sp>
        <p:nvSpPr>
          <p:cNvPr id="83" name="Google Shape;83;p15"/>
          <p:cNvSpPr/>
          <p:nvPr/>
        </p:nvSpPr>
        <p:spPr>
          <a:xfrm>
            <a:off x="4892040" y="2697480"/>
            <a:ext cx="3657600" cy="1783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200"/>
              <a:buFont typeface="Calibri"/>
              <a:buNone/>
            </a:pPr>
            <a:r>
              <a:rPr b="1" i="0" lang="en-US" sz="1200" u="none" cap="none" strike="noStrike">
                <a:solidFill>
                  <a:srgbClr val="441120"/>
                </a:solidFill>
                <a:latin typeface="Calibri"/>
                <a:ea typeface="Calibri"/>
                <a:cs typeface="Calibri"/>
                <a:sym typeface="Calibri"/>
              </a:rPr>
              <a:t xml:space="preserve">Topic </a:t>
            </a:r>
            <a:r>
              <a:rPr b="0" i="0" lang="en-US" sz="1200" u="none" cap="none" strike="noStrike">
                <a:solidFill>
                  <a:srgbClr val="1F1F1F"/>
                </a:solidFill>
                <a:latin typeface="Calibri"/>
                <a:ea typeface="Calibri"/>
                <a:cs typeface="Calibri"/>
                <a:sym typeface="Calibri"/>
              </a:rPr>
              <a:t>— what you want to read about</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441120"/>
              </a:buClr>
              <a:buSzPts val="1200"/>
              <a:buFont typeface="Calibri"/>
              <a:buNone/>
            </a:pPr>
            <a:r>
              <a:rPr b="1" i="0" lang="en-US" sz="1200" u="none" cap="none" strike="noStrike">
                <a:solidFill>
                  <a:srgbClr val="441120"/>
                </a:solidFill>
                <a:latin typeface="Calibri"/>
                <a:ea typeface="Calibri"/>
                <a:cs typeface="Calibri"/>
                <a:sym typeface="Calibri"/>
              </a:rPr>
              <a:t xml:space="preserve">Time </a:t>
            </a:r>
            <a:r>
              <a:rPr b="0" i="0" lang="en-US" sz="1200" u="none" cap="none" strike="noStrike">
                <a:solidFill>
                  <a:srgbClr val="1F1F1F"/>
                </a:solidFill>
                <a:latin typeface="Calibri"/>
                <a:ea typeface="Calibri"/>
                <a:cs typeface="Calibri"/>
                <a:sym typeface="Calibri"/>
              </a:rPr>
              <a:t>— commute, evening, weekend, long project</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441120"/>
              </a:buClr>
              <a:buSzPts val="1200"/>
              <a:buFont typeface="Calibri"/>
              <a:buNone/>
            </a:pPr>
            <a:r>
              <a:rPr b="1" i="0" lang="en-US" sz="1200" u="none" cap="none" strike="noStrike">
                <a:solidFill>
                  <a:srgbClr val="441120"/>
                </a:solidFill>
                <a:latin typeface="Calibri"/>
                <a:ea typeface="Calibri"/>
                <a:cs typeface="Calibri"/>
                <a:sym typeface="Calibri"/>
              </a:rPr>
              <a:t xml:space="preserve">Difficulty </a:t>
            </a:r>
            <a:r>
              <a:rPr b="0" i="0" lang="en-US" sz="1200" u="none" cap="none" strike="noStrike">
                <a:solidFill>
                  <a:srgbClr val="1F1F1F"/>
                </a:solidFill>
                <a:latin typeface="Calibri"/>
                <a:ea typeface="Calibri"/>
                <a:cs typeface="Calibri"/>
                <a:sym typeface="Calibri"/>
              </a:rPr>
              <a:t>— casual, moderate, challenging</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1F1F1F"/>
              </a:buClr>
              <a:buSzPts val="1200"/>
              <a:buFont typeface="Calibri"/>
              <a:buNone/>
            </a:pPr>
            <a:r>
              <a:rPr b="0" i="1" lang="en-US" sz="1200" u="none" cap="none" strike="noStrike">
                <a:solidFill>
                  <a:srgbClr val="1F1F1F"/>
                </a:solidFill>
                <a:latin typeface="Calibri"/>
                <a:ea typeface="Calibri"/>
                <a:cs typeface="Calibri"/>
                <a:sym typeface="Calibri"/>
              </a:rPr>
              <a:t>Each pick comes with a written justification for why it belongs in your curriculum and where it sits in the order.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88" name="Shape 88"/>
        <p:cNvGrpSpPr/>
        <p:nvPr/>
      </p:nvGrpSpPr>
      <p:grpSpPr>
        <a:xfrm>
          <a:off x="0" y="0"/>
          <a:ext cx="0" cy="0"/>
          <a:chOff x="0" y="0"/>
          <a:chExt cx="0" cy="0"/>
        </a:xfrm>
      </p:grpSpPr>
      <p:sp>
        <p:nvSpPr>
          <p:cNvPr id="89" name="Google Shape;89;p16"/>
          <p:cNvSpPr/>
          <p:nvPr/>
        </p:nvSpPr>
        <p:spPr>
          <a:xfrm>
            <a:off x="8275320" y="274320"/>
            <a:ext cx="164592" cy="164592"/>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p:nvPr/>
        </p:nvSpPr>
        <p:spPr>
          <a:xfrm>
            <a:off x="6675120" y="246888"/>
            <a:ext cx="15544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91" name="Google Shape;91;p16"/>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SWOT</a:t>
            </a:r>
            <a:endParaRPr b="0" i="0" sz="1000" u="none" cap="none" strike="noStrike">
              <a:solidFill>
                <a:schemeClr val="dk1"/>
              </a:solidFill>
              <a:latin typeface="Calibri"/>
              <a:ea typeface="Calibri"/>
              <a:cs typeface="Calibri"/>
              <a:sym typeface="Calibri"/>
            </a:endParaRPr>
          </a:p>
        </p:txBody>
      </p:sp>
      <p:sp>
        <p:nvSpPr>
          <p:cNvPr id="92" name="Google Shape;92;p16"/>
          <p:cNvSpPr/>
          <p:nvPr/>
        </p:nvSpPr>
        <p:spPr>
          <a:xfrm>
            <a:off x="457200" y="5029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Where we stand: opportunities and risks.</a:t>
            </a:r>
            <a:endParaRPr b="0" i="0" sz="2800" u="none" cap="none" strike="noStrike">
              <a:solidFill>
                <a:schemeClr val="dk1"/>
              </a:solidFill>
              <a:latin typeface="Calibri"/>
              <a:ea typeface="Calibri"/>
              <a:cs typeface="Calibri"/>
              <a:sym typeface="Calibri"/>
            </a:endParaRPr>
          </a:p>
        </p:txBody>
      </p:sp>
      <p:sp>
        <p:nvSpPr>
          <p:cNvPr id="93" name="Google Shape;93;p16"/>
          <p:cNvSpPr/>
          <p:nvPr/>
        </p:nvSpPr>
        <p:spPr>
          <a:xfrm>
            <a:off x="457200" y="1280160"/>
            <a:ext cx="4023360" cy="1691640"/>
          </a:xfrm>
          <a:prstGeom prst="rect">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6"/>
          <p:cNvSpPr/>
          <p:nvPr/>
        </p:nvSpPr>
        <p:spPr>
          <a:xfrm>
            <a:off x="457200" y="1280160"/>
            <a:ext cx="73152" cy="169164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6"/>
          <p:cNvSpPr/>
          <p:nvPr/>
        </p:nvSpPr>
        <p:spPr>
          <a:xfrm>
            <a:off x="685800" y="137160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STRENGTHS</a:t>
            </a:r>
            <a:endParaRPr b="0" i="0" sz="1000" u="none" cap="none" strike="noStrike">
              <a:solidFill>
                <a:schemeClr val="dk1"/>
              </a:solidFill>
              <a:latin typeface="Calibri"/>
              <a:ea typeface="Calibri"/>
              <a:cs typeface="Calibri"/>
              <a:sym typeface="Calibri"/>
            </a:endParaRPr>
          </a:p>
        </p:txBody>
      </p:sp>
      <p:sp>
        <p:nvSpPr>
          <p:cNvPr id="96" name="Google Shape;96;p16"/>
          <p:cNvSpPr/>
          <p:nvPr/>
        </p:nvSpPr>
        <p:spPr>
          <a:xfrm>
            <a:off x="685800" y="1645920"/>
            <a:ext cx="3657600" cy="12801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Real, common problem — high user motivation</a:t>
            </a:r>
            <a:endParaRPr b="0" i="0" sz="11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Team genuinely cares about reading</a:t>
            </a:r>
            <a:endParaRPr b="0" i="0" sz="11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Tight scope: 1 form, 1 curriculum, 5 books</a:t>
            </a:r>
            <a:endParaRPr b="0" i="0" sz="1100" u="none" cap="none" strike="noStrike">
              <a:solidFill>
                <a:schemeClr val="dk1"/>
              </a:solidFill>
              <a:latin typeface="Calibri"/>
              <a:ea typeface="Calibri"/>
              <a:cs typeface="Calibri"/>
              <a:sym typeface="Calibri"/>
            </a:endParaRPr>
          </a:p>
        </p:txBody>
      </p:sp>
      <p:sp>
        <p:nvSpPr>
          <p:cNvPr id="97" name="Google Shape;97;p16"/>
          <p:cNvSpPr/>
          <p:nvPr/>
        </p:nvSpPr>
        <p:spPr>
          <a:xfrm>
            <a:off x="4663440" y="1280160"/>
            <a:ext cx="4023360" cy="1691640"/>
          </a:xfrm>
          <a:prstGeom prst="rect">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6"/>
          <p:cNvSpPr/>
          <p:nvPr/>
        </p:nvSpPr>
        <p:spPr>
          <a:xfrm>
            <a:off x="4663440" y="1280160"/>
            <a:ext cx="73152" cy="1691640"/>
          </a:xfrm>
          <a:prstGeom prst="rect">
            <a:avLst/>
          </a:prstGeom>
          <a:solidFill>
            <a:srgbClr val="896F77"/>
          </a:solidFill>
          <a:ln cap="flat" cmpd="sng" w="12700">
            <a:solidFill>
              <a:srgbClr val="896F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6"/>
          <p:cNvSpPr/>
          <p:nvPr/>
        </p:nvSpPr>
        <p:spPr>
          <a:xfrm>
            <a:off x="4892040" y="137160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WEAKNESSES</a:t>
            </a:r>
            <a:endParaRPr b="0" i="0" sz="1000" u="none" cap="none" strike="noStrike">
              <a:solidFill>
                <a:schemeClr val="dk1"/>
              </a:solidFill>
              <a:latin typeface="Calibri"/>
              <a:ea typeface="Calibri"/>
              <a:cs typeface="Calibri"/>
              <a:sym typeface="Calibri"/>
            </a:endParaRPr>
          </a:p>
        </p:txBody>
      </p:sp>
      <p:sp>
        <p:nvSpPr>
          <p:cNvPr id="100" name="Google Shape;100;p16"/>
          <p:cNvSpPr/>
          <p:nvPr/>
        </p:nvSpPr>
        <p:spPr>
          <a:xfrm>
            <a:off x="4892040" y="1645920"/>
            <a:ext cx="3657600" cy="1280160"/>
          </a:xfrm>
          <a:prstGeom prst="rect">
            <a:avLst/>
          </a:prstGeom>
          <a:noFill/>
          <a:ln>
            <a:noFill/>
          </a:ln>
        </p:spPr>
        <p:txBody>
          <a:bodyPr anchorCtr="0" anchor="ctr" bIns="0" lIns="0" spcFirstLastPara="1" rIns="0" wrap="square" tIns="0">
            <a:noAutofit/>
          </a:bodyPr>
          <a:lstStyle/>
          <a:p>
            <a:pPr indent="-342900" lvl="0" marL="342900" marR="0" rtl="0" algn="l">
              <a:spcBef>
                <a:spcPts val="20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Limited frontend experience (mitigated by Reflex)</a:t>
            </a:r>
            <a:endParaRPr b="0" i="0" sz="11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Cold-start: no behavioral data on day one</a:t>
            </a:r>
            <a:endParaRPr b="0" i="0" sz="1100" u="none" cap="none" strike="noStrike">
              <a:solidFill>
                <a:schemeClr val="dk1"/>
              </a:solidFill>
              <a:latin typeface="Calibri"/>
              <a:ea typeface="Calibri"/>
              <a:cs typeface="Calibri"/>
              <a:sym typeface="Calibri"/>
            </a:endParaRPr>
          </a:p>
        </p:txBody>
      </p:sp>
      <p:sp>
        <p:nvSpPr>
          <p:cNvPr id="101" name="Google Shape;101;p16"/>
          <p:cNvSpPr/>
          <p:nvPr/>
        </p:nvSpPr>
        <p:spPr>
          <a:xfrm>
            <a:off x="457200" y="3108960"/>
            <a:ext cx="4023360" cy="1691640"/>
          </a:xfrm>
          <a:prstGeom prst="rect">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p:nvPr/>
        </p:nvSpPr>
        <p:spPr>
          <a:xfrm>
            <a:off x="457200" y="3108960"/>
            <a:ext cx="73152" cy="169164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6"/>
          <p:cNvSpPr/>
          <p:nvPr/>
        </p:nvSpPr>
        <p:spPr>
          <a:xfrm>
            <a:off x="685800" y="320040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OPPORTUNITIES</a:t>
            </a:r>
            <a:endParaRPr b="0" i="0" sz="1000" u="none" cap="none" strike="noStrike">
              <a:solidFill>
                <a:schemeClr val="dk1"/>
              </a:solidFill>
              <a:latin typeface="Calibri"/>
              <a:ea typeface="Calibri"/>
              <a:cs typeface="Calibri"/>
              <a:sym typeface="Calibri"/>
            </a:endParaRPr>
          </a:p>
        </p:txBody>
      </p:sp>
      <p:sp>
        <p:nvSpPr>
          <p:cNvPr id="104" name="Google Shape;104;p16"/>
          <p:cNvSpPr/>
          <p:nvPr/>
        </p:nvSpPr>
        <p:spPr>
          <a:xfrm>
            <a:off x="685800" y="3474720"/>
            <a:ext cx="3657600" cy="12801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No popular product targets completion specifically</a:t>
            </a:r>
            <a:endParaRPr b="0" i="0" sz="11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LLMs return static lists with no follow-up loop</a:t>
            </a:r>
            <a:endParaRPr b="0" i="0" sz="11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Check-in data becomes a defensible moat</a:t>
            </a:r>
            <a:endParaRPr b="0" i="0" sz="1100" u="none" cap="none" strike="noStrike">
              <a:solidFill>
                <a:schemeClr val="dk1"/>
              </a:solidFill>
              <a:latin typeface="Calibri"/>
              <a:ea typeface="Calibri"/>
              <a:cs typeface="Calibri"/>
              <a:sym typeface="Calibri"/>
            </a:endParaRPr>
          </a:p>
        </p:txBody>
      </p:sp>
      <p:sp>
        <p:nvSpPr>
          <p:cNvPr id="105" name="Google Shape;105;p16"/>
          <p:cNvSpPr/>
          <p:nvPr/>
        </p:nvSpPr>
        <p:spPr>
          <a:xfrm>
            <a:off x="4663440" y="3108960"/>
            <a:ext cx="4023360" cy="1691640"/>
          </a:xfrm>
          <a:prstGeom prst="rect">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a:off x="4663440" y="3108960"/>
            <a:ext cx="73152" cy="1691640"/>
          </a:xfrm>
          <a:prstGeom prst="rect">
            <a:avLst/>
          </a:prstGeom>
          <a:solidFill>
            <a:srgbClr val="896F77"/>
          </a:solidFill>
          <a:ln cap="flat" cmpd="sng" w="12700">
            <a:solidFill>
              <a:srgbClr val="896F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p:nvPr/>
        </p:nvSpPr>
        <p:spPr>
          <a:xfrm>
            <a:off x="4892040" y="320040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THREATS</a:t>
            </a:r>
            <a:endParaRPr b="0" i="0" sz="1000" u="none" cap="none" strike="noStrike">
              <a:solidFill>
                <a:schemeClr val="dk1"/>
              </a:solidFill>
              <a:latin typeface="Calibri"/>
              <a:ea typeface="Calibri"/>
              <a:cs typeface="Calibri"/>
              <a:sym typeface="Calibri"/>
            </a:endParaRPr>
          </a:p>
        </p:txBody>
      </p:sp>
      <p:sp>
        <p:nvSpPr>
          <p:cNvPr id="108" name="Google Shape;108;p16"/>
          <p:cNvSpPr/>
          <p:nvPr/>
        </p:nvSpPr>
        <p:spPr>
          <a:xfrm>
            <a:off x="4892040" y="3474720"/>
            <a:ext cx="3657600" cy="12801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LLM memory features closing the gap</a:t>
            </a:r>
            <a:endParaRPr b="0" i="0" sz="11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Goodreads dataset access could change</a:t>
            </a:r>
            <a:endParaRPr b="0" i="0" sz="11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User churn if first curriculum misses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113" name="Shape 113"/>
        <p:cNvGrpSpPr/>
        <p:nvPr/>
      </p:nvGrpSpPr>
      <p:grpSpPr>
        <a:xfrm>
          <a:off x="0" y="0"/>
          <a:ext cx="0" cy="0"/>
          <a:chOff x="0" y="0"/>
          <a:chExt cx="0" cy="0"/>
        </a:xfrm>
      </p:grpSpPr>
      <p:sp>
        <p:nvSpPr>
          <p:cNvPr id="114" name="Google Shape;114;p17"/>
          <p:cNvSpPr/>
          <p:nvPr/>
        </p:nvSpPr>
        <p:spPr>
          <a:xfrm>
            <a:off x="8275320" y="274320"/>
            <a:ext cx="164592" cy="164592"/>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7"/>
          <p:cNvSpPr/>
          <p:nvPr/>
        </p:nvSpPr>
        <p:spPr>
          <a:xfrm>
            <a:off x="6675120" y="246888"/>
            <a:ext cx="15544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116" name="Google Shape;116;p17"/>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DATA</a:t>
            </a:r>
            <a:endParaRPr b="0" i="0" sz="1000" u="none" cap="none" strike="noStrike">
              <a:solidFill>
                <a:schemeClr val="dk1"/>
              </a:solidFill>
              <a:latin typeface="Calibri"/>
              <a:ea typeface="Calibri"/>
              <a:cs typeface="Calibri"/>
              <a:sym typeface="Calibri"/>
            </a:endParaRPr>
          </a:p>
        </p:txBody>
      </p:sp>
      <p:sp>
        <p:nvSpPr>
          <p:cNvPr id="117" name="Google Shape;117;p17"/>
          <p:cNvSpPr/>
          <p:nvPr/>
        </p:nvSpPr>
        <p:spPr>
          <a:xfrm>
            <a:off x="457200" y="5029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Real catalog. No hallucinated titles.</a:t>
            </a:r>
            <a:endParaRPr b="0" i="0" sz="2800" u="none" cap="none" strike="noStrike">
              <a:solidFill>
                <a:schemeClr val="dk1"/>
              </a:solidFill>
              <a:latin typeface="Calibri"/>
              <a:ea typeface="Calibri"/>
              <a:cs typeface="Calibri"/>
              <a:sym typeface="Calibri"/>
            </a:endParaRPr>
          </a:p>
        </p:txBody>
      </p:sp>
      <p:sp>
        <p:nvSpPr>
          <p:cNvPr id="118" name="Google Shape;118;p17"/>
          <p:cNvSpPr/>
          <p:nvPr/>
        </p:nvSpPr>
        <p:spPr>
          <a:xfrm>
            <a:off x="457200" y="1325880"/>
            <a:ext cx="3108960" cy="324612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7"/>
          <p:cNvSpPr/>
          <p:nvPr/>
        </p:nvSpPr>
        <p:spPr>
          <a:xfrm>
            <a:off x="457200" y="1691640"/>
            <a:ext cx="31089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DEDED"/>
              </a:buClr>
              <a:buSzPts val="5600"/>
              <a:buFont typeface="Georgia"/>
              <a:buNone/>
            </a:pPr>
            <a:r>
              <a:rPr b="1" i="1" lang="en-US" sz="5600" u="none" cap="none" strike="noStrike">
                <a:solidFill>
                  <a:srgbClr val="EDEDED"/>
                </a:solidFill>
                <a:latin typeface="Georgia"/>
                <a:ea typeface="Georgia"/>
                <a:cs typeface="Georgia"/>
                <a:sym typeface="Georgia"/>
              </a:rPr>
              <a:t>2.36M</a:t>
            </a:r>
            <a:endParaRPr b="0" i="0" sz="5600" u="none" cap="none" strike="noStrike">
              <a:solidFill>
                <a:schemeClr val="dk1"/>
              </a:solidFill>
              <a:latin typeface="Calibri"/>
              <a:ea typeface="Calibri"/>
              <a:cs typeface="Calibri"/>
              <a:sym typeface="Calibri"/>
            </a:endParaRPr>
          </a:p>
        </p:txBody>
      </p:sp>
      <p:sp>
        <p:nvSpPr>
          <p:cNvPr id="120" name="Google Shape;120;p17"/>
          <p:cNvSpPr/>
          <p:nvPr/>
        </p:nvSpPr>
        <p:spPr>
          <a:xfrm>
            <a:off x="457200" y="2697480"/>
            <a:ext cx="31089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DEDED"/>
              </a:buClr>
              <a:buSzPts val="1200"/>
              <a:buFont typeface="Calibri"/>
              <a:buNone/>
            </a:pPr>
            <a:r>
              <a:rPr b="0" i="0" lang="en-US" sz="1200" u="none" cap="none" strike="noStrike">
                <a:solidFill>
                  <a:srgbClr val="EDEDED"/>
                </a:solidFill>
                <a:latin typeface="Calibri"/>
                <a:ea typeface="Calibri"/>
                <a:cs typeface="Calibri"/>
                <a:sym typeface="Calibri"/>
              </a:rPr>
              <a:t>Goodreads books in BigQuery</a:t>
            </a:r>
            <a:endParaRPr b="0" i="0" sz="1200" u="none" cap="none" strike="noStrike">
              <a:solidFill>
                <a:schemeClr val="dk1"/>
              </a:solidFill>
              <a:latin typeface="Calibri"/>
              <a:ea typeface="Calibri"/>
              <a:cs typeface="Calibri"/>
              <a:sym typeface="Calibri"/>
            </a:endParaRPr>
          </a:p>
        </p:txBody>
      </p:sp>
      <p:sp>
        <p:nvSpPr>
          <p:cNvPr id="121" name="Google Shape;121;p17"/>
          <p:cNvSpPr/>
          <p:nvPr/>
        </p:nvSpPr>
        <p:spPr>
          <a:xfrm>
            <a:off x="1417320" y="3063240"/>
            <a:ext cx="1188720" cy="36576"/>
          </a:xfrm>
          <a:prstGeom prst="rect">
            <a:avLst/>
          </a:prstGeom>
          <a:solidFill>
            <a:srgbClr val="896F77"/>
          </a:solidFill>
          <a:ln cap="flat" cmpd="sng" w="12700">
            <a:solidFill>
              <a:srgbClr val="896F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7"/>
          <p:cNvSpPr/>
          <p:nvPr/>
        </p:nvSpPr>
        <p:spPr>
          <a:xfrm>
            <a:off x="457200" y="3200400"/>
            <a:ext cx="310896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6"/>
              </a:buClr>
              <a:buSzPts val="1000"/>
              <a:buFont typeface="Calibri"/>
              <a:buNone/>
            </a:pPr>
            <a:r>
              <a:rPr b="0" i="1" lang="en-US" sz="1000" u="none" cap="none" strike="noStrike">
                <a:solidFill>
                  <a:srgbClr val="D9D9D6"/>
                </a:solidFill>
                <a:latin typeface="Calibri"/>
                <a:ea typeface="Calibri"/>
                <a:cs typeface="Calibri"/>
                <a:sym typeface="Calibri"/>
              </a:rPr>
              <a:t>page counts · ratings · shelf labels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D9D6"/>
              </a:buClr>
              <a:buSzPts val="1000"/>
              <a:buFont typeface="Calibri"/>
              <a:buNone/>
            </a:pPr>
            <a:r>
              <a:rPr b="0" i="1" lang="en-US" sz="1000" u="none" cap="none" strike="noStrike">
                <a:solidFill>
                  <a:srgbClr val="D9D9D6"/>
                </a:solidFill>
                <a:latin typeface="Calibri"/>
                <a:ea typeface="Calibri"/>
                <a:cs typeface="Calibri"/>
                <a:sym typeface="Calibri"/>
              </a:rPr>
              <a:t>author graph · publication year · language</a:t>
            </a:r>
            <a:endParaRPr b="0" i="0" sz="1000" u="none" cap="none" strike="noStrike">
              <a:solidFill>
                <a:schemeClr val="dk1"/>
              </a:solidFill>
              <a:latin typeface="Calibri"/>
              <a:ea typeface="Calibri"/>
              <a:cs typeface="Calibri"/>
              <a:sym typeface="Calibri"/>
            </a:endParaRPr>
          </a:p>
        </p:txBody>
      </p:sp>
      <p:sp>
        <p:nvSpPr>
          <p:cNvPr id="123" name="Google Shape;123;p17"/>
          <p:cNvSpPr/>
          <p:nvPr/>
        </p:nvSpPr>
        <p:spPr>
          <a:xfrm>
            <a:off x="3749040" y="1325880"/>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HOW WE USE IT</a:t>
            </a:r>
            <a:endParaRPr b="0" i="0" sz="1000" u="none" cap="none" strike="noStrike">
              <a:solidFill>
                <a:schemeClr val="dk1"/>
              </a:solidFill>
              <a:latin typeface="Calibri"/>
              <a:ea typeface="Calibri"/>
              <a:cs typeface="Calibri"/>
              <a:sym typeface="Calibri"/>
            </a:endParaRPr>
          </a:p>
        </p:txBody>
      </p:sp>
      <p:sp>
        <p:nvSpPr>
          <p:cNvPr id="124" name="Google Shape;124;p17"/>
          <p:cNvSpPr/>
          <p:nvPr/>
        </p:nvSpPr>
        <p:spPr>
          <a:xfrm>
            <a:off x="3749040" y="1600200"/>
            <a:ext cx="4937760" cy="14173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1F1F"/>
              </a:buClr>
              <a:buSzPts val="1200"/>
              <a:buFont typeface="Calibri"/>
              <a:buChar char="•"/>
            </a:pPr>
            <a:r>
              <a:rPr b="0" i="0" lang="en-US" sz="1200" u="none" cap="none" strike="noStrike">
                <a:solidFill>
                  <a:srgbClr val="1F1F1F"/>
                </a:solidFill>
                <a:latin typeface="Calibri"/>
                <a:ea typeface="Calibri"/>
                <a:cs typeface="Calibri"/>
                <a:sym typeface="Calibri"/>
              </a:rPr>
              <a:t>Filter by language, page range, and rating count to drop noise</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F1F1F"/>
              </a:buClr>
              <a:buSzPts val="1200"/>
              <a:buFont typeface="Calibri"/>
              <a:buChar char="•"/>
            </a:pPr>
            <a:r>
              <a:rPr b="0" i="0" lang="en-US" sz="1200" u="none" cap="none" strike="noStrike">
                <a:solidFill>
                  <a:srgbClr val="1F1F1F"/>
                </a:solidFill>
                <a:latin typeface="Calibri"/>
                <a:ea typeface="Calibri"/>
                <a:cs typeface="Calibri"/>
                <a:sym typeface="Calibri"/>
              </a:rPr>
              <a:t>Score candidates by keyword matches against shelf metadata</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F1F1F"/>
              </a:buClr>
              <a:buSzPts val="1200"/>
              <a:buFont typeface="Calibri"/>
              <a:buChar char="•"/>
            </a:pPr>
            <a:r>
              <a:rPr b="0" i="0" lang="en-US" sz="1200" u="none" cap="none" strike="noStrike">
                <a:solidFill>
                  <a:srgbClr val="1F1F1F"/>
                </a:solidFill>
                <a:latin typeface="Calibri"/>
                <a:ea typeface="Calibri"/>
                <a:cs typeface="Calibri"/>
                <a:sym typeface="Calibri"/>
              </a:rPr>
              <a:t>Top 25 by relevance + popularity become Gemini's candidate pool</a:t>
            </a:r>
            <a:endParaRPr b="0" i="0" sz="1200" u="none" cap="none" strike="noStrike">
              <a:solidFill>
                <a:schemeClr val="dk1"/>
              </a:solidFill>
              <a:latin typeface="Calibri"/>
              <a:ea typeface="Calibri"/>
              <a:cs typeface="Calibri"/>
              <a:sym typeface="Calibri"/>
            </a:endParaRPr>
          </a:p>
        </p:txBody>
      </p:sp>
      <p:sp>
        <p:nvSpPr>
          <p:cNvPr id="125" name="Google Shape;125;p17"/>
          <p:cNvSpPr/>
          <p:nvPr/>
        </p:nvSpPr>
        <p:spPr>
          <a:xfrm>
            <a:off x="3749040" y="3108960"/>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PLANNED ADDITIONS</a:t>
            </a:r>
            <a:endParaRPr b="0" i="0" sz="1000" u="none" cap="none" strike="noStrike">
              <a:solidFill>
                <a:schemeClr val="dk1"/>
              </a:solidFill>
              <a:latin typeface="Calibri"/>
              <a:ea typeface="Calibri"/>
              <a:cs typeface="Calibri"/>
              <a:sym typeface="Calibri"/>
            </a:endParaRPr>
          </a:p>
        </p:txBody>
      </p:sp>
      <p:sp>
        <p:nvSpPr>
          <p:cNvPr id="126" name="Google Shape;126;p17"/>
          <p:cNvSpPr/>
          <p:nvPr/>
        </p:nvSpPr>
        <p:spPr>
          <a:xfrm>
            <a:off x="3749040" y="3383280"/>
            <a:ext cx="4937760" cy="11887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1F1F"/>
              </a:buClr>
              <a:buSzPts val="1200"/>
              <a:buFont typeface="Calibri"/>
              <a:buChar char="•"/>
            </a:pPr>
            <a:r>
              <a:rPr b="0" i="0" lang="en-US" sz="1200" u="none" cap="none" strike="noStrike">
                <a:solidFill>
                  <a:srgbClr val="1F1F1F"/>
                </a:solidFill>
                <a:latin typeface="Calibri"/>
                <a:ea typeface="Calibri"/>
                <a:cs typeface="Calibri"/>
                <a:sym typeface="Calibri"/>
              </a:rPr>
              <a:t>Reddit / X literature threads via PRAW (sequencing signals)</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F1F1F"/>
              </a:buClr>
              <a:buSzPts val="1200"/>
              <a:buFont typeface="Calibri"/>
              <a:buChar char="•"/>
            </a:pPr>
            <a:r>
              <a:rPr b="0" i="0" lang="en-US" sz="1200" u="none" cap="none" strike="noStrike">
                <a:solidFill>
                  <a:srgbClr val="1F1F1F"/>
                </a:solidFill>
                <a:latin typeface="Calibri"/>
                <a:ea typeface="Calibri"/>
                <a:cs typeface="Calibri"/>
                <a:sym typeface="Calibri"/>
              </a:rPr>
              <a:t>Open Syllabus Project (university reading order)</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F1F1F"/>
              </a:buClr>
              <a:buSzPts val="1200"/>
              <a:buFont typeface="Calibri"/>
              <a:buChar char="•"/>
            </a:pPr>
            <a:r>
              <a:rPr b="0" i="0" lang="en-US" sz="1200" u="none" cap="none" strike="noStrike">
                <a:solidFill>
                  <a:srgbClr val="1F1F1F"/>
                </a:solidFill>
                <a:latin typeface="Calibri"/>
                <a:ea typeface="Calibri"/>
                <a:cs typeface="Calibri"/>
                <a:sym typeface="Calibri"/>
              </a:rPr>
              <a:t>Project Gutenberg downloads (completion proxy for public-domain works)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131" name="Shape 131"/>
        <p:cNvGrpSpPr/>
        <p:nvPr/>
      </p:nvGrpSpPr>
      <p:grpSpPr>
        <a:xfrm>
          <a:off x="0" y="0"/>
          <a:ext cx="0" cy="0"/>
          <a:chOff x="0" y="0"/>
          <a:chExt cx="0" cy="0"/>
        </a:xfrm>
      </p:grpSpPr>
      <p:cxnSp>
        <p:nvCxnSpPr>
          <p:cNvPr id="132" name="Google Shape;132;p18"/>
          <p:cNvCxnSpPr/>
          <p:nvPr/>
        </p:nvCxnSpPr>
        <p:spPr>
          <a:xfrm>
            <a:off x="960120" y="1673352"/>
            <a:ext cx="6080760" cy="0"/>
          </a:xfrm>
          <a:prstGeom prst="straightConnector1">
            <a:avLst/>
          </a:prstGeom>
          <a:noFill/>
          <a:ln cap="flat" cmpd="sng" w="19050">
            <a:solidFill>
              <a:srgbClr val="896F77"/>
            </a:solidFill>
            <a:prstDash val="dash"/>
            <a:round/>
            <a:headEnd len="sm" w="sm" type="none"/>
            <a:tailEnd len="sm" w="sm" type="none"/>
          </a:ln>
        </p:spPr>
      </p:cxnSp>
      <p:sp>
        <p:nvSpPr>
          <p:cNvPr id="133" name="Google Shape;133;p18"/>
          <p:cNvSpPr/>
          <p:nvPr/>
        </p:nvSpPr>
        <p:spPr>
          <a:xfrm>
            <a:off x="8275320" y="274320"/>
            <a:ext cx="164592" cy="164592"/>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8"/>
          <p:cNvSpPr/>
          <p:nvPr/>
        </p:nvSpPr>
        <p:spPr>
          <a:xfrm>
            <a:off x="6675120" y="246888"/>
            <a:ext cx="15544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135" name="Google Shape;135;p18"/>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TIMELINE</a:t>
            </a:r>
            <a:endParaRPr b="0" i="0" sz="1000" u="none" cap="none" strike="noStrike">
              <a:solidFill>
                <a:schemeClr val="dk1"/>
              </a:solidFill>
              <a:latin typeface="Calibri"/>
              <a:ea typeface="Calibri"/>
              <a:cs typeface="Calibri"/>
              <a:sym typeface="Calibri"/>
            </a:endParaRPr>
          </a:p>
        </p:txBody>
      </p:sp>
      <p:sp>
        <p:nvSpPr>
          <p:cNvPr id="136" name="Google Shape;136;p18"/>
          <p:cNvSpPr/>
          <p:nvPr/>
        </p:nvSpPr>
        <p:spPr>
          <a:xfrm>
            <a:off x="457200" y="5029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Where we are, where we're going.</a:t>
            </a:r>
            <a:endParaRPr b="0" i="0" sz="2800" u="none" cap="none" strike="noStrike">
              <a:solidFill>
                <a:schemeClr val="dk1"/>
              </a:solidFill>
              <a:latin typeface="Calibri"/>
              <a:ea typeface="Calibri"/>
              <a:cs typeface="Calibri"/>
              <a:sym typeface="Calibri"/>
            </a:endParaRPr>
          </a:p>
        </p:txBody>
      </p:sp>
      <p:sp>
        <p:nvSpPr>
          <p:cNvPr id="137" name="Google Shape;137;p18"/>
          <p:cNvSpPr/>
          <p:nvPr/>
        </p:nvSpPr>
        <p:spPr>
          <a:xfrm>
            <a:off x="457200" y="1417320"/>
            <a:ext cx="502920" cy="502920"/>
          </a:xfrm>
          <a:prstGeom prst="ellipse">
            <a:avLst/>
          </a:prstGeom>
          <a:solidFill>
            <a:srgbClr val="441120"/>
          </a:solidFill>
          <a:ln cap="flat" cmpd="sng" w="254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8"/>
          <p:cNvSpPr/>
          <p:nvPr/>
        </p:nvSpPr>
        <p:spPr>
          <a:xfrm>
            <a:off x="457200" y="14173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DEDED"/>
              </a:buClr>
              <a:buSzPts val="2200"/>
              <a:buFont typeface="Georgia"/>
              <a:buNone/>
            </a:pPr>
            <a:r>
              <a:rPr b="1" i="1" lang="en-US" sz="2200" u="none" cap="none" strike="noStrike">
                <a:solidFill>
                  <a:srgbClr val="EDEDED"/>
                </a:solidFill>
                <a:latin typeface="Georgia"/>
                <a:ea typeface="Georgia"/>
                <a:cs typeface="Georgia"/>
                <a:sym typeface="Georgia"/>
              </a:rPr>
              <a:t>1</a:t>
            </a:r>
            <a:endParaRPr b="0" i="0" sz="2200" u="none" cap="none" strike="noStrike">
              <a:solidFill>
                <a:schemeClr val="dk1"/>
              </a:solidFill>
              <a:latin typeface="Calibri"/>
              <a:ea typeface="Calibri"/>
              <a:cs typeface="Calibri"/>
              <a:sym typeface="Calibri"/>
            </a:endParaRPr>
          </a:p>
        </p:txBody>
      </p:sp>
      <p:sp>
        <p:nvSpPr>
          <p:cNvPr id="139" name="Google Shape;139;p18"/>
          <p:cNvSpPr/>
          <p:nvPr/>
        </p:nvSpPr>
        <p:spPr>
          <a:xfrm>
            <a:off x="457200" y="201168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400"/>
              <a:buFont typeface="Georgia"/>
              <a:buNone/>
            </a:pPr>
            <a:r>
              <a:rPr b="1" i="0" lang="en-US" sz="1400" u="none" cap="none" strike="noStrike">
                <a:solidFill>
                  <a:srgbClr val="441120"/>
                </a:solidFill>
                <a:latin typeface="Georgia"/>
                <a:ea typeface="Georgia"/>
                <a:cs typeface="Georgia"/>
                <a:sym typeface="Georgia"/>
              </a:rPr>
              <a:t>Catalog + SQL filter</a:t>
            </a:r>
            <a:endParaRPr b="0" i="0" sz="1400" u="none" cap="none" strike="noStrike">
              <a:solidFill>
                <a:schemeClr val="dk1"/>
              </a:solidFill>
              <a:latin typeface="Calibri"/>
              <a:ea typeface="Calibri"/>
              <a:cs typeface="Calibri"/>
              <a:sym typeface="Calibri"/>
            </a:endParaRPr>
          </a:p>
        </p:txBody>
      </p:sp>
      <p:sp>
        <p:nvSpPr>
          <p:cNvPr id="140" name="Google Shape;140;p18"/>
          <p:cNvSpPr/>
          <p:nvPr/>
        </p:nvSpPr>
        <p:spPr>
          <a:xfrm>
            <a:off x="457200" y="2423160"/>
            <a:ext cx="192024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100"/>
              <a:buFont typeface="Calibri"/>
              <a:buNone/>
            </a:pPr>
            <a:r>
              <a:rPr b="0" i="0" lang="en-US" sz="1100" u="none" cap="none" strike="noStrike">
                <a:solidFill>
                  <a:srgbClr val="1F1F1F"/>
                </a:solidFill>
                <a:latin typeface="Calibri"/>
                <a:ea typeface="Calibri"/>
                <a:cs typeface="Calibri"/>
                <a:sym typeface="Calibri"/>
              </a:rPr>
              <a:t>Goodreads dataset loaded into BigQuery; SurveyFilters schema and shelf-keyword scoring shipped.</a:t>
            </a:r>
            <a:endParaRPr b="0" i="0" sz="1100" u="none" cap="none" strike="noStrike">
              <a:solidFill>
                <a:schemeClr val="dk1"/>
              </a:solidFill>
              <a:latin typeface="Calibri"/>
              <a:ea typeface="Calibri"/>
              <a:cs typeface="Calibri"/>
              <a:sym typeface="Calibri"/>
            </a:endParaRPr>
          </a:p>
        </p:txBody>
      </p:sp>
      <p:sp>
        <p:nvSpPr>
          <p:cNvPr id="141" name="Google Shape;141;p18"/>
          <p:cNvSpPr/>
          <p:nvPr/>
        </p:nvSpPr>
        <p:spPr>
          <a:xfrm>
            <a:off x="457200" y="416052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SHIPPED</a:t>
            </a:r>
            <a:endParaRPr b="0" i="0" sz="900" u="none" cap="none" strike="noStrike">
              <a:solidFill>
                <a:schemeClr val="dk1"/>
              </a:solidFill>
              <a:latin typeface="Calibri"/>
              <a:ea typeface="Calibri"/>
              <a:cs typeface="Calibri"/>
              <a:sym typeface="Calibri"/>
            </a:endParaRPr>
          </a:p>
        </p:txBody>
      </p:sp>
      <p:sp>
        <p:nvSpPr>
          <p:cNvPr id="142" name="Google Shape;142;p18"/>
          <p:cNvSpPr/>
          <p:nvPr/>
        </p:nvSpPr>
        <p:spPr>
          <a:xfrm>
            <a:off x="2560320" y="1417320"/>
            <a:ext cx="502920" cy="502920"/>
          </a:xfrm>
          <a:prstGeom prst="ellipse">
            <a:avLst/>
          </a:prstGeom>
          <a:solidFill>
            <a:srgbClr val="441120"/>
          </a:solidFill>
          <a:ln cap="flat" cmpd="sng" w="254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8"/>
          <p:cNvSpPr/>
          <p:nvPr/>
        </p:nvSpPr>
        <p:spPr>
          <a:xfrm>
            <a:off x="2560320" y="201168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400"/>
              <a:buFont typeface="Georgia"/>
              <a:buNone/>
            </a:pPr>
            <a:r>
              <a:rPr b="1" lang="en-US">
                <a:solidFill>
                  <a:srgbClr val="441120"/>
                </a:solidFill>
                <a:latin typeface="Georgia"/>
                <a:ea typeface="Georgia"/>
                <a:cs typeface="Georgia"/>
                <a:sym typeface="Georgia"/>
              </a:rPr>
              <a:t>Prediction</a:t>
            </a:r>
            <a:r>
              <a:rPr b="1" i="0" lang="en-US" sz="1400" u="none" cap="none" strike="noStrike">
                <a:solidFill>
                  <a:srgbClr val="441120"/>
                </a:solidFill>
                <a:latin typeface="Georgia"/>
                <a:ea typeface="Georgia"/>
                <a:cs typeface="Georgia"/>
                <a:sym typeface="Georgia"/>
              </a:rPr>
              <a:t xml:space="preserve"> pipeline</a:t>
            </a:r>
            <a:endParaRPr b="0" i="0" sz="1400" u="none" cap="none" strike="noStrike">
              <a:solidFill>
                <a:schemeClr val="dk1"/>
              </a:solidFill>
              <a:latin typeface="Calibri"/>
              <a:ea typeface="Calibri"/>
              <a:cs typeface="Calibri"/>
              <a:sym typeface="Calibri"/>
            </a:endParaRPr>
          </a:p>
        </p:txBody>
      </p:sp>
      <p:sp>
        <p:nvSpPr>
          <p:cNvPr id="144" name="Google Shape;144;p18"/>
          <p:cNvSpPr/>
          <p:nvPr/>
        </p:nvSpPr>
        <p:spPr>
          <a:xfrm>
            <a:off x="2560320" y="2423160"/>
            <a:ext cx="192024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100"/>
              <a:buFont typeface="Calibri"/>
              <a:buNone/>
            </a:pPr>
            <a:r>
              <a:rPr b="0" i="0" lang="en-US" sz="1100" u="none" cap="none" strike="noStrike">
                <a:solidFill>
                  <a:srgbClr val="1F1F1F"/>
                </a:solidFill>
                <a:latin typeface="Calibri"/>
                <a:ea typeface="Calibri"/>
                <a:cs typeface="Calibri"/>
                <a:sym typeface="Calibri"/>
              </a:rPr>
              <a:t>Gemini Flash extracts filters, then orders a 5-book curriculum from the candidate pool.</a:t>
            </a:r>
            <a:endParaRPr b="0" i="0" sz="1100" u="none" cap="none" strike="noStrike">
              <a:solidFill>
                <a:schemeClr val="dk1"/>
              </a:solidFill>
              <a:latin typeface="Calibri"/>
              <a:ea typeface="Calibri"/>
              <a:cs typeface="Calibri"/>
              <a:sym typeface="Calibri"/>
            </a:endParaRPr>
          </a:p>
        </p:txBody>
      </p:sp>
      <p:sp>
        <p:nvSpPr>
          <p:cNvPr id="145" name="Google Shape;145;p18"/>
          <p:cNvSpPr/>
          <p:nvPr/>
        </p:nvSpPr>
        <p:spPr>
          <a:xfrm>
            <a:off x="2560320" y="416052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SHIPPED</a:t>
            </a:r>
            <a:endParaRPr b="0" i="0" sz="900" u="none" cap="none" strike="noStrike">
              <a:solidFill>
                <a:schemeClr val="dk1"/>
              </a:solidFill>
              <a:latin typeface="Calibri"/>
              <a:ea typeface="Calibri"/>
              <a:cs typeface="Calibri"/>
              <a:sym typeface="Calibri"/>
            </a:endParaRPr>
          </a:p>
        </p:txBody>
      </p:sp>
      <p:sp>
        <p:nvSpPr>
          <p:cNvPr id="146" name="Google Shape;146;p18"/>
          <p:cNvSpPr/>
          <p:nvPr/>
        </p:nvSpPr>
        <p:spPr>
          <a:xfrm>
            <a:off x="4663440" y="1417320"/>
            <a:ext cx="502920" cy="502920"/>
          </a:xfrm>
          <a:prstGeom prst="ellipse">
            <a:avLst/>
          </a:prstGeom>
          <a:solidFill>
            <a:srgbClr val="441120"/>
          </a:solidFill>
          <a:ln cap="flat" cmpd="sng" w="254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a:off x="4663440" y="14173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DEDED"/>
              </a:buClr>
              <a:buSzPts val="2200"/>
              <a:buFont typeface="Georgia"/>
              <a:buNone/>
            </a:pPr>
            <a:r>
              <a:rPr b="1" i="1" lang="en-US" sz="2200" u="none" cap="none" strike="noStrike">
                <a:solidFill>
                  <a:srgbClr val="EDEDED"/>
                </a:solidFill>
                <a:latin typeface="Georgia"/>
                <a:ea typeface="Georgia"/>
                <a:cs typeface="Georgia"/>
                <a:sym typeface="Georgia"/>
              </a:rPr>
              <a:t>3</a:t>
            </a:r>
            <a:endParaRPr b="0" i="0" sz="2200" u="none" cap="none" strike="noStrike">
              <a:solidFill>
                <a:schemeClr val="dk1"/>
              </a:solidFill>
              <a:latin typeface="Calibri"/>
              <a:ea typeface="Calibri"/>
              <a:cs typeface="Calibri"/>
              <a:sym typeface="Calibri"/>
            </a:endParaRPr>
          </a:p>
        </p:txBody>
      </p:sp>
      <p:sp>
        <p:nvSpPr>
          <p:cNvPr id="148" name="Google Shape;148;p18"/>
          <p:cNvSpPr/>
          <p:nvPr/>
        </p:nvSpPr>
        <p:spPr>
          <a:xfrm>
            <a:off x="4663440" y="201168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400"/>
              <a:buFont typeface="Georgia"/>
              <a:buNone/>
            </a:pPr>
            <a:r>
              <a:rPr b="1" i="0" lang="en-US" sz="1400" u="none" cap="none" strike="noStrike">
                <a:solidFill>
                  <a:srgbClr val="441120"/>
                </a:solidFill>
                <a:latin typeface="Georgia"/>
                <a:ea typeface="Georgia"/>
                <a:cs typeface="Georgia"/>
                <a:sym typeface="Georgia"/>
              </a:rPr>
              <a:t>Reflex frontend</a:t>
            </a:r>
            <a:endParaRPr b="0" i="0" sz="1400" u="none" cap="none" strike="noStrike">
              <a:solidFill>
                <a:schemeClr val="dk1"/>
              </a:solidFill>
              <a:latin typeface="Calibri"/>
              <a:ea typeface="Calibri"/>
              <a:cs typeface="Calibri"/>
              <a:sym typeface="Calibri"/>
            </a:endParaRPr>
          </a:p>
        </p:txBody>
      </p:sp>
      <p:sp>
        <p:nvSpPr>
          <p:cNvPr id="149" name="Google Shape;149;p18"/>
          <p:cNvSpPr/>
          <p:nvPr/>
        </p:nvSpPr>
        <p:spPr>
          <a:xfrm>
            <a:off x="4663440" y="2423160"/>
            <a:ext cx="192024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100"/>
              <a:buFont typeface="Calibri"/>
              <a:buNone/>
            </a:pPr>
            <a:r>
              <a:rPr b="0" i="0" lang="en-US" sz="1100" u="none" cap="none" strike="noStrike">
                <a:solidFill>
                  <a:srgbClr val="1F1F1F"/>
                </a:solidFill>
                <a:latin typeface="Calibri"/>
                <a:ea typeface="Calibri"/>
                <a:cs typeface="Calibri"/>
                <a:sym typeface="Calibri"/>
              </a:rPr>
              <a:t>Three-input form, loading state, curriculum cards, deployed via Cloud Run.</a:t>
            </a:r>
            <a:endParaRPr b="0" i="0" sz="1100" u="none" cap="none" strike="noStrike">
              <a:solidFill>
                <a:schemeClr val="dk1"/>
              </a:solidFill>
              <a:latin typeface="Calibri"/>
              <a:ea typeface="Calibri"/>
              <a:cs typeface="Calibri"/>
              <a:sym typeface="Calibri"/>
            </a:endParaRPr>
          </a:p>
        </p:txBody>
      </p:sp>
      <p:sp>
        <p:nvSpPr>
          <p:cNvPr id="150" name="Google Shape;150;p18"/>
          <p:cNvSpPr/>
          <p:nvPr/>
        </p:nvSpPr>
        <p:spPr>
          <a:xfrm>
            <a:off x="4663440" y="416052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SHIPPED</a:t>
            </a:r>
            <a:endParaRPr b="0" i="0" sz="900" u="none" cap="none" strike="noStrike">
              <a:solidFill>
                <a:schemeClr val="dk1"/>
              </a:solidFill>
              <a:latin typeface="Calibri"/>
              <a:ea typeface="Calibri"/>
              <a:cs typeface="Calibri"/>
              <a:sym typeface="Calibri"/>
            </a:endParaRPr>
          </a:p>
        </p:txBody>
      </p:sp>
      <p:sp>
        <p:nvSpPr>
          <p:cNvPr id="151" name="Google Shape;151;p18"/>
          <p:cNvSpPr/>
          <p:nvPr/>
        </p:nvSpPr>
        <p:spPr>
          <a:xfrm>
            <a:off x="6766560" y="1417320"/>
            <a:ext cx="502920" cy="502920"/>
          </a:xfrm>
          <a:prstGeom prst="ellipse">
            <a:avLst/>
          </a:prstGeom>
          <a:solidFill>
            <a:srgbClr val="EDEDED"/>
          </a:solidFill>
          <a:ln cap="flat" cmpd="sng" w="254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a:off x="6766560" y="14173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1120"/>
              </a:buClr>
              <a:buSzPts val="2200"/>
              <a:buFont typeface="Georgia"/>
              <a:buNone/>
            </a:pPr>
            <a:r>
              <a:rPr b="1" i="1" lang="en-US" sz="2200" u="none" cap="none" strike="noStrike">
                <a:solidFill>
                  <a:srgbClr val="441120"/>
                </a:solidFill>
                <a:latin typeface="Georgia"/>
                <a:ea typeface="Georgia"/>
                <a:cs typeface="Georgia"/>
                <a:sym typeface="Georgia"/>
              </a:rPr>
              <a:t>4</a:t>
            </a:r>
            <a:endParaRPr b="0" i="0" sz="2200" u="none" cap="none" strike="noStrike">
              <a:solidFill>
                <a:schemeClr val="dk1"/>
              </a:solidFill>
              <a:latin typeface="Calibri"/>
              <a:ea typeface="Calibri"/>
              <a:cs typeface="Calibri"/>
              <a:sym typeface="Calibri"/>
            </a:endParaRPr>
          </a:p>
        </p:txBody>
      </p:sp>
      <p:sp>
        <p:nvSpPr>
          <p:cNvPr id="153" name="Google Shape;153;p18"/>
          <p:cNvSpPr/>
          <p:nvPr/>
        </p:nvSpPr>
        <p:spPr>
          <a:xfrm>
            <a:off x="6766560" y="201168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400"/>
              <a:buFont typeface="Georgia"/>
              <a:buNone/>
            </a:pPr>
            <a:r>
              <a:rPr b="1" i="0" lang="en-US" sz="1400" u="none" cap="none" strike="noStrike">
                <a:solidFill>
                  <a:srgbClr val="441120"/>
                </a:solidFill>
                <a:latin typeface="Georgia"/>
                <a:ea typeface="Georgia"/>
                <a:cs typeface="Georgia"/>
                <a:sym typeface="Georgia"/>
              </a:rPr>
              <a:t>Check-in loop</a:t>
            </a:r>
            <a:endParaRPr b="0" i="0" sz="1400" u="none" cap="none" strike="noStrike">
              <a:solidFill>
                <a:schemeClr val="dk1"/>
              </a:solidFill>
              <a:latin typeface="Calibri"/>
              <a:ea typeface="Calibri"/>
              <a:cs typeface="Calibri"/>
              <a:sym typeface="Calibri"/>
            </a:endParaRPr>
          </a:p>
        </p:txBody>
      </p:sp>
      <p:sp>
        <p:nvSpPr>
          <p:cNvPr id="154" name="Google Shape;154;p18"/>
          <p:cNvSpPr/>
          <p:nvPr/>
        </p:nvSpPr>
        <p:spPr>
          <a:xfrm>
            <a:off x="6766560" y="2423160"/>
            <a:ext cx="192024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100"/>
              <a:buFont typeface="Calibri"/>
              <a:buNone/>
            </a:pPr>
            <a:r>
              <a:rPr b="0" i="0" lang="en-US" sz="1100" u="none" cap="none" strike="noStrike">
                <a:solidFill>
                  <a:srgbClr val="1F1F1F"/>
                </a:solidFill>
                <a:latin typeface="Calibri"/>
                <a:ea typeface="Calibri"/>
                <a:cs typeface="Calibri"/>
                <a:sym typeface="Calibri"/>
              </a:rPr>
              <a:t>Per-book check-ins, momentum score, reminders, and Cloud Logging memory.</a:t>
            </a:r>
            <a:endParaRPr b="0" i="0" sz="1100" u="none" cap="none" strike="noStrike">
              <a:solidFill>
                <a:schemeClr val="dk1"/>
              </a:solidFill>
              <a:latin typeface="Calibri"/>
              <a:ea typeface="Calibri"/>
              <a:cs typeface="Calibri"/>
              <a:sym typeface="Calibri"/>
            </a:endParaRPr>
          </a:p>
        </p:txBody>
      </p:sp>
      <p:sp>
        <p:nvSpPr>
          <p:cNvPr id="155" name="Google Shape;155;p18"/>
          <p:cNvSpPr/>
          <p:nvPr/>
        </p:nvSpPr>
        <p:spPr>
          <a:xfrm>
            <a:off x="6766560" y="416052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900"/>
              <a:buFont typeface="Calibri"/>
              <a:buNone/>
            </a:pPr>
            <a:r>
              <a:rPr b="1" i="0" lang="en-US" sz="900" u="none" cap="none" strike="noStrike">
                <a:solidFill>
                  <a:srgbClr val="896F77"/>
                </a:solidFill>
                <a:latin typeface="Calibri"/>
                <a:ea typeface="Calibri"/>
                <a:cs typeface="Calibri"/>
                <a:sym typeface="Calibri"/>
              </a:rPr>
              <a:t>NEXT</a:t>
            </a:r>
            <a:endParaRPr b="0" i="0" sz="900" u="none" cap="none" strike="noStrike">
              <a:solidFill>
                <a:schemeClr val="dk1"/>
              </a:solidFill>
              <a:latin typeface="Calibri"/>
              <a:ea typeface="Calibri"/>
              <a:cs typeface="Calibri"/>
              <a:sym typeface="Calibri"/>
            </a:endParaRPr>
          </a:p>
        </p:txBody>
      </p:sp>
      <p:sp>
        <p:nvSpPr>
          <p:cNvPr id="156" name="Google Shape;156;p18"/>
          <p:cNvSpPr/>
          <p:nvPr/>
        </p:nvSpPr>
        <p:spPr>
          <a:xfrm>
            <a:off x="2560320" y="14173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DEDED"/>
              </a:buClr>
              <a:buSzPts val="2200"/>
              <a:buFont typeface="Georgia"/>
              <a:buNone/>
            </a:pPr>
            <a:r>
              <a:rPr b="1" i="1" lang="en-US" sz="2200" u="none" cap="none" strike="noStrike">
                <a:solidFill>
                  <a:srgbClr val="EDEDED"/>
                </a:solidFill>
                <a:latin typeface="Georgia"/>
                <a:ea typeface="Georgia"/>
                <a:cs typeface="Georgia"/>
                <a:sym typeface="Georgia"/>
              </a:rPr>
              <a:t>2</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161" name="Shape 161"/>
        <p:cNvGrpSpPr/>
        <p:nvPr/>
      </p:nvGrpSpPr>
      <p:grpSpPr>
        <a:xfrm>
          <a:off x="0" y="0"/>
          <a:ext cx="0" cy="0"/>
          <a:chOff x="0" y="0"/>
          <a:chExt cx="0" cy="0"/>
        </a:xfrm>
      </p:grpSpPr>
      <p:sp>
        <p:nvSpPr>
          <p:cNvPr id="162" name="Google Shape;162;p19"/>
          <p:cNvSpPr/>
          <p:nvPr/>
        </p:nvSpPr>
        <p:spPr>
          <a:xfrm>
            <a:off x="8275320" y="274320"/>
            <a:ext cx="164592" cy="164592"/>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9"/>
          <p:cNvSpPr/>
          <p:nvPr/>
        </p:nvSpPr>
        <p:spPr>
          <a:xfrm>
            <a:off x="6675120" y="246888"/>
            <a:ext cx="15544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164" name="Google Shape;164;p19"/>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BUDGET</a:t>
            </a:r>
            <a:endParaRPr b="0" i="0" sz="1000" u="none" cap="none" strike="noStrike">
              <a:solidFill>
                <a:schemeClr val="dk1"/>
              </a:solidFill>
              <a:latin typeface="Calibri"/>
              <a:ea typeface="Calibri"/>
              <a:cs typeface="Calibri"/>
              <a:sym typeface="Calibri"/>
            </a:endParaRPr>
          </a:p>
        </p:txBody>
      </p:sp>
      <p:sp>
        <p:nvSpPr>
          <p:cNvPr id="165" name="Google Shape;165;p19"/>
          <p:cNvSpPr/>
          <p:nvPr/>
        </p:nvSpPr>
        <p:spPr>
          <a:xfrm>
            <a:off x="457200" y="5029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Comfortably inside the $150 GCP credit cap.</a:t>
            </a:r>
            <a:endParaRPr b="0" i="0" sz="2800" u="none" cap="none" strike="noStrike">
              <a:solidFill>
                <a:schemeClr val="dk1"/>
              </a:solidFill>
              <a:latin typeface="Calibri"/>
              <a:ea typeface="Calibri"/>
              <a:cs typeface="Calibri"/>
              <a:sym typeface="Calibri"/>
            </a:endParaRPr>
          </a:p>
        </p:txBody>
      </p:sp>
      <p:sp>
        <p:nvSpPr>
          <p:cNvPr id="166" name="Google Shape;166;p19"/>
          <p:cNvSpPr/>
          <p:nvPr/>
        </p:nvSpPr>
        <p:spPr>
          <a:xfrm>
            <a:off x="457200" y="1325880"/>
            <a:ext cx="4023360" cy="3246120"/>
          </a:xfrm>
          <a:prstGeom prst="rect">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9"/>
          <p:cNvSpPr/>
          <p:nvPr/>
        </p:nvSpPr>
        <p:spPr>
          <a:xfrm>
            <a:off x="457200" y="1691640"/>
            <a:ext cx="40233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1120"/>
              </a:buClr>
              <a:buSzPts val="5600"/>
              <a:buFont typeface="Georgia"/>
              <a:buNone/>
            </a:pPr>
            <a:r>
              <a:rPr b="1" i="1" lang="en-US" sz="5600" u="none" cap="none" strike="noStrike">
                <a:solidFill>
                  <a:srgbClr val="441120"/>
                </a:solidFill>
                <a:latin typeface="Georgia"/>
                <a:ea typeface="Georgia"/>
                <a:cs typeface="Georgia"/>
                <a:sym typeface="Georgia"/>
              </a:rPr>
              <a:t>&lt; $0.001</a:t>
            </a:r>
            <a:endParaRPr b="0" i="0" sz="5600" u="none" cap="none" strike="noStrike">
              <a:solidFill>
                <a:schemeClr val="dk1"/>
              </a:solidFill>
              <a:latin typeface="Calibri"/>
              <a:ea typeface="Calibri"/>
              <a:cs typeface="Calibri"/>
              <a:sym typeface="Calibri"/>
            </a:endParaRPr>
          </a:p>
        </p:txBody>
      </p:sp>
      <p:sp>
        <p:nvSpPr>
          <p:cNvPr id="168" name="Google Shape;168;p19"/>
          <p:cNvSpPr/>
          <p:nvPr/>
        </p:nvSpPr>
        <p:spPr>
          <a:xfrm>
            <a:off x="457200" y="2697480"/>
            <a:ext cx="40233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96F77"/>
              </a:buClr>
              <a:buSzPts val="1200"/>
              <a:buFont typeface="Calibri"/>
              <a:buNone/>
            </a:pPr>
            <a:r>
              <a:rPr b="1" i="0" lang="en-US" sz="1200" u="none" cap="none" strike="noStrike">
                <a:solidFill>
                  <a:srgbClr val="896F77"/>
                </a:solidFill>
                <a:latin typeface="Calibri"/>
                <a:ea typeface="Calibri"/>
                <a:cs typeface="Calibri"/>
                <a:sym typeface="Calibri"/>
              </a:rPr>
              <a:t>per curriculum request</a:t>
            </a:r>
            <a:endParaRPr b="0" i="0" sz="1200" u="none" cap="none" strike="noStrike">
              <a:solidFill>
                <a:schemeClr val="dk1"/>
              </a:solidFill>
              <a:latin typeface="Calibri"/>
              <a:ea typeface="Calibri"/>
              <a:cs typeface="Calibri"/>
              <a:sym typeface="Calibri"/>
            </a:endParaRPr>
          </a:p>
        </p:txBody>
      </p:sp>
      <p:sp>
        <p:nvSpPr>
          <p:cNvPr id="169" name="Google Shape;169;p19"/>
          <p:cNvSpPr/>
          <p:nvPr/>
        </p:nvSpPr>
        <p:spPr>
          <a:xfrm>
            <a:off x="457200" y="3154680"/>
            <a:ext cx="40233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F1F"/>
              </a:buClr>
              <a:buSzPts val="1200"/>
              <a:buFont typeface="Calibri"/>
              <a:buNone/>
            </a:pPr>
            <a:r>
              <a:rPr b="0" i="1" lang="en-US" sz="1200" u="none" cap="none" strike="noStrike">
                <a:solidFill>
                  <a:srgbClr val="1F1F1F"/>
                </a:solidFill>
                <a:latin typeface="Calibri"/>
                <a:ea typeface="Calibri"/>
                <a:cs typeface="Calibri"/>
                <a:sym typeface="Calibri"/>
              </a:rPr>
              <a:t>Two Gemini Flash calls + one BigQuery scan,</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1F1F"/>
              </a:buClr>
              <a:buSzPts val="1200"/>
              <a:buFont typeface="Calibri"/>
              <a:buNone/>
            </a:pPr>
            <a:r>
              <a:rPr b="0" i="1" lang="en-US" sz="1200" u="none" cap="none" strike="noStrike">
                <a:solidFill>
                  <a:srgbClr val="1F1F1F"/>
                </a:solidFill>
                <a:latin typeface="Calibri"/>
                <a:ea typeface="Calibri"/>
                <a:cs typeface="Calibri"/>
                <a:sym typeface="Calibri"/>
              </a:rPr>
              <a:t>in a 10-second end-to-end response.</a:t>
            </a:r>
            <a:endParaRPr b="0" i="0" sz="1200" u="none" cap="none" strike="noStrike">
              <a:solidFill>
                <a:schemeClr val="dk1"/>
              </a:solidFill>
              <a:latin typeface="Calibri"/>
              <a:ea typeface="Calibri"/>
              <a:cs typeface="Calibri"/>
              <a:sym typeface="Calibri"/>
            </a:endParaRPr>
          </a:p>
        </p:txBody>
      </p:sp>
      <p:sp>
        <p:nvSpPr>
          <p:cNvPr id="170" name="Google Shape;170;p19"/>
          <p:cNvSpPr/>
          <p:nvPr/>
        </p:nvSpPr>
        <p:spPr>
          <a:xfrm>
            <a:off x="4663440" y="1325880"/>
            <a:ext cx="4023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MONTHLY ESTIMATE (50 USERS · 3 CALLS EACH)</a:t>
            </a:r>
            <a:endParaRPr b="0" i="0" sz="1000" u="none" cap="none" strike="noStrike">
              <a:solidFill>
                <a:schemeClr val="dk1"/>
              </a:solidFill>
              <a:latin typeface="Calibri"/>
              <a:ea typeface="Calibri"/>
              <a:cs typeface="Calibri"/>
              <a:sym typeface="Calibri"/>
            </a:endParaRPr>
          </a:p>
        </p:txBody>
      </p:sp>
      <p:graphicFrame>
        <p:nvGraphicFramePr>
          <p:cNvPr id="171" name="Google Shape;171;p19"/>
          <p:cNvGraphicFramePr/>
          <p:nvPr/>
        </p:nvGraphicFramePr>
        <p:xfrm>
          <a:off x="4663440" y="1645920"/>
          <a:ext cx="3000000" cy="3000000"/>
        </p:xfrm>
        <a:graphic>
          <a:graphicData uri="http://schemas.openxmlformats.org/drawingml/2006/table">
            <a:tbl>
              <a:tblPr>
                <a:noFill/>
                <a:tableStyleId>{67580DA6-D7D0-4BE2-9E32-055414EF5701}</a:tableStyleId>
              </a:tblPr>
              <a:tblGrid>
                <a:gridCol w="2788925"/>
                <a:gridCol w="1234450"/>
              </a:tblGrid>
              <a:tr h="3840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Component</a:t>
                      </a:r>
                      <a:endParaRPr sz="1200" u="none" cap="none" strike="noStrike">
                        <a:latin typeface="Calibri"/>
                        <a:ea typeface="Calibri"/>
                        <a:cs typeface="Calibri"/>
                        <a:sym typeface="Calibri"/>
                      </a:endParaRPr>
                    </a:p>
                  </a:txBody>
                  <a:tcPr marT="45725" marB="45725" marR="91450" marL="91450" anchor="ctr">
                    <a:lnL cap="flat" cmpd="sng" w="9525">
                      <a:solidFill>
                        <a:srgbClr val="D9D9D6"/>
                      </a:solidFill>
                      <a:prstDash val="solid"/>
                      <a:round/>
                      <a:headEnd len="sm" w="sm" type="none"/>
                      <a:tailEnd len="sm" w="sm" type="none"/>
                    </a:lnL>
                    <a:lnR cap="flat" cmpd="sng" w="9525">
                      <a:solidFill>
                        <a:srgbClr val="D9D9D6"/>
                      </a:solidFill>
                      <a:prstDash val="solid"/>
                      <a:round/>
                      <a:headEnd len="sm" w="sm" type="none"/>
                      <a:tailEnd len="sm" w="sm" type="none"/>
                    </a:lnR>
                    <a:lnT cap="flat" cmpd="sng" w="9525">
                      <a:solidFill>
                        <a:srgbClr val="D9D9D6"/>
                      </a:solidFill>
                      <a:prstDash val="solid"/>
                      <a:round/>
                      <a:headEnd len="sm" w="sm" type="none"/>
                      <a:tailEnd len="sm" w="sm" type="none"/>
                    </a:lnT>
                    <a:lnB cap="flat" cmpd="sng" w="9525">
                      <a:solidFill>
                        <a:srgbClr val="D9D9D6"/>
                      </a:solidFill>
                      <a:prstDash val="solid"/>
                      <a:round/>
                      <a:headEnd len="sm" w="sm" type="none"/>
                      <a:tailEnd len="sm" w="sm" type="none"/>
                    </a:lnB>
                    <a:solidFill>
                      <a:srgbClr val="441120"/>
                    </a:solidFill>
                  </a:tcPr>
                </a:tc>
                <a:tc>
                  <a:txBody>
                    <a:bodyPr/>
                    <a:lstStyle/>
                    <a:p>
                      <a:pPr indent="0" lvl="0" marL="0" marR="0" rtl="0" algn="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Cost</a:t>
                      </a:r>
                      <a:endParaRPr sz="1200" u="none" cap="none" strike="noStrike">
                        <a:latin typeface="Calibri"/>
                        <a:ea typeface="Calibri"/>
                        <a:cs typeface="Calibri"/>
                        <a:sym typeface="Calibri"/>
                      </a:endParaRPr>
                    </a:p>
                  </a:txBody>
                  <a:tcPr marT="45725" marB="45725" marR="91450" marL="91450" anchor="ctr">
                    <a:lnL cap="flat" cmpd="sng" w="9525">
                      <a:solidFill>
                        <a:srgbClr val="D9D9D6"/>
                      </a:solidFill>
                      <a:prstDash val="solid"/>
                      <a:round/>
                      <a:headEnd len="sm" w="sm" type="none"/>
                      <a:tailEnd len="sm" w="sm" type="none"/>
                    </a:lnL>
                    <a:lnR cap="flat" cmpd="sng" w="9525">
                      <a:solidFill>
                        <a:srgbClr val="D9D9D6"/>
                      </a:solidFill>
                      <a:prstDash val="solid"/>
                      <a:round/>
                      <a:headEnd len="sm" w="sm" type="none"/>
                      <a:tailEnd len="sm" w="sm" type="none"/>
                    </a:lnR>
                    <a:lnT cap="flat" cmpd="sng" w="9525">
                      <a:solidFill>
                        <a:srgbClr val="D9D9D6"/>
                      </a:solidFill>
                      <a:prstDash val="solid"/>
                      <a:round/>
                      <a:headEnd len="sm" w="sm" type="none"/>
                      <a:tailEnd len="sm" w="sm" type="none"/>
                    </a:lnT>
                    <a:lnB cap="flat" cmpd="sng" w="9525">
                      <a:solidFill>
                        <a:srgbClr val="D9D9D6"/>
                      </a:solidFill>
                      <a:prstDash val="solid"/>
                      <a:round/>
                      <a:headEnd len="sm" w="sm" type="none"/>
                      <a:tailEnd len="sm" w="sm" type="none"/>
                    </a:lnB>
                    <a:solidFill>
                      <a:srgbClr val="441120"/>
                    </a:solidFill>
                  </a:tcPr>
                </a:tc>
              </a:tr>
              <a:tr h="384050">
                <a:tc>
                  <a:txBody>
                    <a:bodyPr/>
                    <a:lstStyle/>
                    <a:p>
                      <a:pPr indent="0" lvl="0" marL="0" marR="0" rtl="0" algn="l">
                        <a:spcBef>
                          <a:spcPts val="0"/>
                        </a:spcBef>
                        <a:spcAft>
                          <a:spcPts val="0"/>
                        </a:spcAft>
                        <a:buClr>
                          <a:srgbClr val="1F1F1F"/>
                        </a:buClr>
                        <a:buSzPts val="1200"/>
                        <a:buFont typeface="Calibri"/>
                        <a:buNone/>
                      </a:pPr>
                      <a:r>
                        <a:rPr lang="en-US" sz="1200" u="none" cap="none" strike="noStrike">
                          <a:solidFill>
                            <a:srgbClr val="1F1F1F"/>
                          </a:solidFill>
                          <a:latin typeface="Calibri"/>
                          <a:ea typeface="Calibri"/>
                          <a:cs typeface="Calibri"/>
                          <a:sym typeface="Calibri"/>
                        </a:rPr>
                        <a:t>Cloud Run (scale-to-zero)</a:t>
                      </a:r>
                      <a:endParaRPr sz="1200" u="none" cap="none" strike="noStrike">
                        <a:latin typeface="Calibri"/>
                        <a:ea typeface="Calibri"/>
                        <a:cs typeface="Calibri"/>
                        <a:sym typeface="Calibri"/>
                      </a:endParaRPr>
                    </a:p>
                  </a:txBody>
                  <a:tcPr marT="45725" marB="45725" marR="91450" marL="91450" anchor="ctr">
                    <a:lnL cap="flat" cmpd="sng" w="9525">
                      <a:solidFill>
                        <a:srgbClr val="D9D9D6"/>
                      </a:solidFill>
                      <a:prstDash val="solid"/>
                      <a:round/>
                      <a:headEnd len="sm" w="sm" type="none"/>
                      <a:tailEnd len="sm" w="sm" type="none"/>
                    </a:lnL>
                    <a:lnR cap="flat" cmpd="sng" w="9525">
                      <a:solidFill>
                        <a:srgbClr val="D9D9D6"/>
                      </a:solidFill>
                      <a:prstDash val="solid"/>
                      <a:round/>
                      <a:headEnd len="sm" w="sm" type="none"/>
                      <a:tailEnd len="sm" w="sm" type="none"/>
                    </a:lnR>
                    <a:lnT cap="flat" cmpd="sng" w="9525">
                      <a:solidFill>
                        <a:srgbClr val="D9D9D6"/>
                      </a:solidFill>
                      <a:prstDash val="solid"/>
                      <a:round/>
                      <a:headEnd len="sm" w="sm" type="none"/>
                      <a:tailEnd len="sm" w="sm" type="none"/>
                    </a:lnT>
                    <a:lnB cap="flat" cmpd="sng" w="9525">
                      <a:solidFill>
                        <a:srgbClr val="D9D9D6"/>
                      </a:solidFill>
                      <a:prstDash val="solid"/>
                      <a:round/>
                      <a:headEnd len="sm" w="sm" type="none"/>
                      <a:tailEnd len="sm" w="sm" type="none"/>
                    </a:lnB>
                  </a:tcPr>
                </a:tc>
                <a:tc>
                  <a:txBody>
                    <a:bodyPr/>
                    <a:lstStyle/>
                    <a:p>
                      <a:pPr indent="0" lvl="0" marL="0" marR="0" rtl="0" algn="r">
                        <a:spcBef>
                          <a:spcPts val="0"/>
                        </a:spcBef>
                        <a:spcAft>
                          <a:spcPts val="0"/>
                        </a:spcAft>
                        <a:buClr>
                          <a:srgbClr val="1F1F1F"/>
                        </a:buClr>
                        <a:buSzPts val="1200"/>
                        <a:buFont typeface="Calibri"/>
                        <a:buNone/>
                      </a:pPr>
                      <a:r>
                        <a:rPr lang="en-US" sz="1200" u="none" cap="none" strike="noStrike">
                          <a:solidFill>
                            <a:srgbClr val="1F1F1F"/>
                          </a:solidFill>
                          <a:latin typeface="Calibri"/>
                          <a:ea typeface="Calibri"/>
                          <a:cs typeface="Calibri"/>
                          <a:sym typeface="Calibri"/>
                        </a:rPr>
                        <a:t>$5.00</a:t>
                      </a:r>
                      <a:endParaRPr sz="1200" u="none" cap="none" strike="noStrike">
                        <a:latin typeface="Calibri"/>
                        <a:ea typeface="Calibri"/>
                        <a:cs typeface="Calibri"/>
                        <a:sym typeface="Calibri"/>
                      </a:endParaRPr>
                    </a:p>
                  </a:txBody>
                  <a:tcPr marT="45725" marB="45725" marR="91450" marL="91450" anchor="ctr">
                    <a:lnL cap="flat" cmpd="sng" w="9525">
                      <a:solidFill>
                        <a:srgbClr val="D9D9D6"/>
                      </a:solidFill>
                      <a:prstDash val="solid"/>
                      <a:round/>
                      <a:headEnd len="sm" w="sm" type="none"/>
                      <a:tailEnd len="sm" w="sm" type="none"/>
                    </a:lnL>
                    <a:lnR cap="flat" cmpd="sng" w="9525">
                      <a:solidFill>
                        <a:srgbClr val="D9D9D6"/>
                      </a:solidFill>
                      <a:prstDash val="solid"/>
                      <a:round/>
                      <a:headEnd len="sm" w="sm" type="none"/>
                      <a:tailEnd len="sm" w="sm" type="none"/>
                    </a:lnR>
                    <a:lnT cap="flat" cmpd="sng" w="9525">
                      <a:solidFill>
                        <a:srgbClr val="D9D9D6"/>
                      </a:solidFill>
                      <a:prstDash val="solid"/>
                      <a:round/>
                      <a:headEnd len="sm" w="sm" type="none"/>
                      <a:tailEnd len="sm" w="sm" type="none"/>
                    </a:lnT>
                    <a:lnB cap="flat" cmpd="sng" w="9525">
                      <a:solidFill>
                        <a:srgbClr val="D9D9D6"/>
                      </a:solidFill>
                      <a:prstDash val="solid"/>
                      <a:round/>
                      <a:headEnd len="sm" w="sm" type="none"/>
                      <a:tailEnd len="sm" w="sm" type="none"/>
                    </a:lnB>
                  </a:tcPr>
                </a:tc>
              </a:tr>
              <a:tr h="384050">
                <a:tc>
                  <a:txBody>
                    <a:bodyPr/>
                    <a:lstStyle/>
                    <a:p>
                      <a:pPr indent="0" lvl="0" marL="0" marR="0" rtl="0" algn="l">
                        <a:spcBef>
                          <a:spcPts val="0"/>
                        </a:spcBef>
                        <a:spcAft>
                          <a:spcPts val="0"/>
                        </a:spcAft>
                        <a:buClr>
                          <a:srgbClr val="1F1F1F"/>
                        </a:buClr>
                        <a:buSzPts val="1200"/>
                        <a:buFont typeface="Calibri"/>
                        <a:buNone/>
                      </a:pPr>
                      <a:r>
                        <a:rPr lang="en-US" sz="1200" u="none" cap="none" strike="noStrike">
                          <a:solidFill>
                            <a:srgbClr val="1F1F1F"/>
                          </a:solidFill>
                          <a:latin typeface="Calibri"/>
                          <a:ea typeface="Calibri"/>
                          <a:cs typeface="Calibri"/>
                          <a:sym typeface="Calibri"/>
                        </a:rPr>
                        <a:t>Cloud SQL (smallest tier)</a:t>
                      </a:r>
                      <a:endParaRPr sz="1200" u="none" cap="none" strike="noStrike">
                        <a:latin typeface="Calibri"/>
                        <a:ea typeface="Calibri"/>
                        <a:cs typeface="Calibri"/>
                        <a:sym typeface="Calibri"/>
                      </a:endParaRPr>
                    </a:p>
                  </a:txBody>
                  <a:tcPr marT="45725" marB="45725" marR="91450" marL="91450" anchor="ctr">
                    <a:lnL cap="flat" cmpd="sng" w="9525">
                      <a:solidFill>
                        <a:srgbClr val="D9D9D6"/>
                      </a:solidFill>
                      <a:prstDash val="solid"/>
                      <a:round/>
                      <a:headEnd len="sm" w="sm" type="none"/>
                      <a:tailEnd len="sm" w="sm" type="none"/>
                    </a:lnL>
                    <a:lnR cap="flat" cmpd="sng" w="9525">
                      <a:solidFill>
                        <a:srgbClr val="D9D9D6"/>
                      </a:solidFill>
                      <a:prstDash val="solid"/>
                      <a:round/>
                      <a:headEnd len="sm" w="sm" type="none"/>
                      <a:tailEnd len="sm" w="sm" type="none"/>
                    </a:lnR>
                    <a:lnT cap="flat" cmpd="sng" w="9525">
                      <a:solidFill>
                        <a:srgbClr val="D9D9D6"/>
                      </a:solidFill>
                      <a:prstDash val="solid"/>
                      <a:round/>
                      <a:headEnd len="sm" w="sm" type="none"/>
                      <a:tailEnd len="sm" w="sm" type="none"/>
                    </a:lnT>
                    <a:lnB cap="flat" cmpd="sng" w="9525">
                      <a:solidFill>
                        <a:srgbClr val="D9D9D6"/>
                      </a:solidFill>
                      <a:prstDash val="solid"/>
                      <a:round/>
                      <a:headEnd len="sm" w="sm" type="none"/>
                      <a:tailEnd len="sm" w="sm" type="none"/>
                    </a:lnB>
                  </a:tcPr>
                </a:tc>
                <a:tc>
                  <a:txBody>
                    <a:bodyPr/>
                    <a:lstStyle/>
                    <a:p>
                      <a:pPr indent="0" lvl="0" marL="0" marR="0" rtl="0" algn="r">
                        <a:spcBef>
                          <a:spcPts val="0"/>
                        </a:spcBef>
                        <a:spcAft>
                          <a:spcPts val="0"/>
                        </a:spcAft>
                        <a:buClr>
                          <a:srgbClr val="1F1F1F"/>
                        </a:buClr>
                        <a:buSzPts val="1200"/>
                        <a:buFont typeface="Calibri"/>
                        <a:buNone/>
                      </a:pPr>
                      <a:r>
                        <a:rPr lang="en-US" sz="1200" u="none" cap="none" strike="noStrike">
                          <a:solidFill>
                            <a:srgbClr val="1F1F1F"/>
                          </a:solidFill>
                          <a:latin typeface="Calibri"/>
                          <a:ea typeface="Calibri"/>
                          <a:cs typeface="Calibri"/>
                          <a:sym typeface="Calibri"/>
                        </a:rPr>
                        <a:t>$30.00</a:t>
                      </a:r>
                      <a:endParaRPr sz="1200" u="none" cap="none" strike="noStrike">
                        <a:latin typeface="Calibri"/>
                        <a:ea typeface="Calibri"/>
                        <a:cs typeface="Calibri"/>
                        <a:sym typeface="Calibri"/>
                      </a:endParaRPr>
                    </a:p>
                  </a:txBody>
                  <a:tcPr marT="45725" marB="45725" marR="91450" marL="91450" anchor="ctr">
                    <a:lnL cap="flat" cmpd="sng" w="9525">
                      <a:solidFill>
                        <a:srgbClr val="D9D9D6"/>
                      </a:solidFill>
                      <a:prstDash val="solid"/>
                      <a:round/>
                      <a:headEnd len="sm" w="sm" type="none"/>
                      <a:tailEnd len="sm" w="sm" type="none"/>
                    </a:lnL>
                    <a:lnR cap="flat" cmpd="sng" w="9525">
                      <a:solidFill>
                        <a:srgbClr val="D9D9D6"/>
                      </a:solidFill>
                      <a:prstDash val="solid"/>
                      <a:round/>
                      <a:headEnd len="sm" w="sm" type="none"/>
                      <a:tailEnd len="sm" w="sm" type="none"/>
                    </a:lnR>
                    <a:lnT cap="flat" cmpd="sng" w="9525">
                      <a:solidFill>
                        <a:srgbClr val="D9D9D6"/>
                      </a:solidFill>
                      <a:prstDash val="solid"/>
                      <a:round/>
                      <a:headEnd len="sm" w="sm" type="none"/>
                      <a:tailEnd len="sm" w="sm" type="none"/>
                    </a:lnT>
                    <a:lnB cap="flat" cmpd="sng" w="9525">
                      <a:solidFill>
                        <a:srgbClr val="D9D9D6"/>
                      </a:solidFill>
                      <a:prstDash val="solid"/>
                      <a:round/>
                      <a:headEnd len="sm" w="sm" type="none"/>
                      <a:tailEnd len="sm" w="sm" type="none"/>
                    </a:lnB>
                  </a:tcPr>
                </a:tc>
              </a:tr>
              <a:tr h="384050">
                <a:tc>
                  <a:txBody>
                    <a:bodyPr/>
                    <a:lstStyle/>
                    <a:p>
                      <a:pPr indent="0" lvl="0" marL="0" marR="0" rtl="0" algn="l">
                        <a:spcBef>
                          <a:spcPts val="0"/>
                        </a:spcBef>
                        <a:spcAft>
                          <a:spcPts val="0"/>
                        </a:spcAft>
                        <a:buClr>
                          <a:srgbClr val="1F1F1F"/>
                        </a:buClr>
                        <a:buSzPts val="1200"/>
                        <a:buFont typeface="Calibri"/>
                        <a:buNone/>
                      </a:pPr>
                      <a:r>
                        <a:rPr lang="en-US" sz="1200" u="none" cap="none" strike="noStrike">
                          <a:solidFill>
                            <a:srgbClr val="1F1F1F"/>
                          </a:solidFill>
                          <a:latin typeface="Calibri"/>
                          <a:ea typeface="Calibri"/>
                          <a:cs typeface="Calibri"/>
                          <a:sym typeface="Calibri"/>
                        </a:rPr>
                        <a:t>Operations / logging</a:t>
                      </a:r>
                      <a:endParaRPr sz="1200" u="none" cap="none" strike="noStrike">
                        <a:latin typeface="Calibri"/>
                        <a:ea typeface="Calibri"/>
                        <a:cs typeface="Calibri"/>
                        <a:sym typeface="Calibri"/>
                      </a:endParaRPr>
                    </a:p>
                  </a:txBody>
                  <a:tcPr marT="45725" marB="45725" marR="91450" marL="91450" anchor="ctr">
                    <a:lnL cap="flat" cmpd="sng" w="9525">
                      <a:solidFill>
                        <a:srgbClr val="D9D9D6"/>
                      </a:solidFill>
                      <a:prstDash val="solid"/>
                      <a:round/>
                      <a:headEnd len="sm" w="sm" type="none"/>
                      <a:tailEnd len="sm" w="sm" type="none"/>
                    </a:lnL>
                    <a:lnR cap="flat" cmpd="sng" w="9525">
                      <a:solidFill>
                        <a:srgbClr val="D9D9D6"/>
                      </a:solidFill>
                      <a:prstDash val="solid"/>
                      <a:round/>
                      <a:headEnd len="sm" w="sm" type="none"/>
                      <a:tailEnd len="sm" w="sm" type="none"/>
                    </a:lnR>
                    <a:lnT cap="flat" cmpd="sng" w="9525">
                      <a:solidFill>
                        <a:srgbClr val="D9D9D6"/>
                      </a:solidFill>
                      <a:prstDash val="solid"/>
                      <a:round/>
                      <a:headEnd len="sm" w="sm" type="none"/>
                      <a:tailEnd len="sm" w="sm" type="none"/>
                    </a:lnT>
                    <a:lnB cap="flat" cmpd="sng" w="9525">
                      <a:solidFill>
                        <a:srgbClr val="D9D9D6"/>
                      </a:solidFill>
                      <a:prstDash val="solid"/>
                      <a:round/>
                      <a:headEnd len="sm" w="sm" type="none"/>
                      <a:tailEnd len="sm" w="sm" type="none"/>
                    </a:lnB>
                  </a:tcPr>
                </a:tc>
                <a:tc>
                  <a:txBody>
                    <a:bodyPr/>
                    <a:lstStyle/>
                    <a:p>
                      <a:pPr indent="0" lvl="0" marL="0" marR="0" rtl="0" algn="r">
                        <a:spcBef>
                          <a:spcPts val="0"/>
                        </a:spcBef>
                        <a:spcAft>
                          <a:spcPts val="0"/>
                        </a:spcAft>
                        <a:buClr>
                          <a:srgbClr val="1F1F1F"/>
                        </a:buClr>
                        <a:buSzPts val="1200"/>
                        <a:buFont typeface="Calibri"/>
                        <a:buNone/>
                      </a:pPr>
                      <a:r>
                        <a:rPr lang="en-US" sz="1200" u="none" cap="none" strike="noStrike">
                          <a:solidFill>
                            <a:srgbClr val="1F1F1F"/>
                          </a:solidFill>
                          <a:latin typeface="Calibri"/>
                          <a:ea typeface="Calibri"/>
                          <a:cs typeface="Calibri"/>
                          <a:sym typeface="Calibri"/>
                        </a:rPr>
                        <a:t>$5.00</a:t>
                      </a:r>
                      <a:endParaRPr sz="1200" u="none" cap="none" strike="noStrike">
                        <a:latin typeface="Calibri"/>
                        <a:ea typeface="Calibri"/>
                        <a:cs typeface="Calibri"/>
                        <a:sym typeface="Calibri"/>
                      </a:endParaRPr>
                    </a:p>
                  </a:txBody>
                  <a:tcPr marT="45725" marB="45725" marR="91450" marL="91450" anchor="ctr">
                    <a:lnL cap="flat" cmpd="sng" w="9525">
                      <a:solidFill>
                        <a:srgbClr val="D9D9D6"/>
                      </a:solidFill>
                      <a:prstDash val="solid"/>
                      <a:round/>
                      <a:headEnd len="sm" w="sm" type="none"/>
                      <a:tailEnd len="sm" w="sm" type="none"/>
                    </a:lnL>
                    <a:lnR cap="flat" cmpd="sng" w="9525">
                      <a:solidFill>
                        <a:srgbClr val="D9D9D6"/>
                      </a:solidFill>
                      <a:prstDash val="solid"/>
                      <a:round/>
                      <a:headEnd len="sm" w="sm" type="none"/>
                      <a:tailEnd len="sm" w="sm" type="none"/>
                    </a:lnR>
                    <a:lnT cap="flat" cmpd="sng" w="9525">
                      <a:solidFill>
                        <a:srgbClr val="D9D9D6"/>
                      </a:solidFill>
                      <a:prstDash val="solid"/>
                      <a:round/>
                      <a:headEnd len="sm" w="sm" type="none"/>
                      <a:tailEnd len="sm" w="sm" type="none"/>
                    </a:lnT>
                    <a:lnB cap="flat" cmpd="sng" w="9525">
                      <a:solidFill>
                        <a:srgbClr val="D9D9D6"/>
                      </a:solidFill>
                      <a:prstDash val="solid"/>
                      <a:round/>
                      <a:headEnd len="sm" w="sm" type="none"/>
                      <a:tailEnd len="sm" w="sm" type="none"/>
                    </a:lnB>
                  </a:tcPr>
                </a:tc>
              </a:tr>
              <a:tr h="384050">
                <a:tc>
                  <a:txBody>
                    <a:bodyPr/>
                    <a:lstStyle/>
                    <a:p>
                      <a:pPr indent="0" lvl="0" marL="0" marR="0" rtl="0" algn="l">
                        <a:spcBef>
                          <a:spcPts val="0"/>
                        </a:spcBef>
                        <a:spcAft>
                          <a:spcPts val="0"/>
                        </a:spcAft>
                        <a:buClr>
                          <a:srgbClr val="1F1F1F"/>
                        </a:buClr>
                        <a:buSzPts val="1200"/>
                        <a:buFont typeface="Calibri"/>
                        <a:buNone/>
                      </a:pPr>
                      <a:r>
                        <a:rPr lang="en-US" sz="1200" u="none" cap="none" strike="noStrike">
                          <a:solidFill>
                            <a:srgbClr val="1F1F1F"/>
                          </a:solidFill>
                          <a:latin typeface="Calibri"/>
                          <a:ea typeface="Calibri"/>
                          <a:cs typeface="Calibri"/>
                          <a:sym typeface="Calibri"/>
                        </a:rPr>
                        <a:t>Gemini Flash (150 calls)</a:t>
                      </a:r>
                      <a:endParaRPr sz="1200" u="none" cap="none" strike="noStrike">
                        <a:latin typeface="Calibri"/>
                        <a:ea typeface="Calibri"/>
                        <a:cs typeface="Calibri"/>
                        <a:sym typeface="Calibri"/>
                      </a:endParaRPr>
                    </a:p>
                  </a:txBody>
                  <a:tcPr marT="45725" marB="45725" marR="91450" marL="91450" anchor="ctr">
                    <a:lnL cap="flat" cmpd="sng" w="9525">
                      <a:solidFill>
                        <a:srgbClr val="D9D9D6"/>
                      </a:solidFill>
                      <a:prstDash val="solid"/>
                      <a:round/>
                      <a:headEnd len="sm" w="sm" type="none"/>
                      <a:tailEnd len="sm" w="sm" type="none"/>
                    </a:lnL>
                    <a:lnR cap="flat" cmpd="sng" w="9525">
                      <a:solidFill>
                        <a:srgbClr val="D9D9D6"/>
                      </a:solidFill>
                      <a:prstDash val="solid"/>
                      <a:round/>
                      <a:headEnd len="sm" w="sm" type="none"/>
                      <a:tailEnd len="sm" w="sm" type="none"/>
                    </a:lnR>
                    <a:lnT cap="flat" cmpd="sng" w="9525">
                      <a:solidFill>
                        <a:srgbClr val="D9D9D6"/>
                      </a:solidFill>
                      <a:prstDash val="solid"/>
                      <a:round/>
                      <a:headEnd len="sm" w="sm" type="none"/>
                      <a:tailEnd len="sm" w="sm" type="none"/>
                    </a:lnT>
                    <a:lnB cap="flat" cmpd="sng" w="9525">
                      <a:solidFill>
                        <a:srgbClr val="D9D9D6"/>
                      </a:solidFill>
                      <a:prstDash val="solid"/>
                      <a:round/>
                      <a:headEnd len="sm" w="sm" type="none"/>
                      <a:tailEnd len="sm" w="sm" type="none"/>
                    </a:lnB>
                  </a:tcPr>
                </a:tc>
                <a:tc>
                  <a:txBody>
                    <a:bodyPr/>
                    <a:lstStyle/>
                    <a:p>
                      <a:pPr indent="0" lvl="0" marL="0" marR="0" rtl="0" algn="r">
                        <a:spcBef>
                          <a:spcPts val="0"/>
                        </a:spcBef>
                        <a:spcAft>
                          <a:spcPts val="0"/>
                        </a:spcAft>
                        <a:buClr>
                          <a:srgbClr val="1F1F1F"/>
                        </a:buClr>
                        <a:buSzPts val="1200"/>
                        <a:buFont typeface="Calibri"/>
                        <a:buNone/>
                      </a:pPr>
                      <a:r>
                        <a:rPr lang="en-US" sz="1200" u="none" cap="none" strike="noStrike">
                          <a:solidFill>
                            <a:srgbClr val="1F1F1F"/>
                          </a:solidFill>
                          <a:latin typeface="Calibri"/>
                          <a:ea typeface="Calibri"/>
                          <a:cs typeface="Calibri"/>
                          <a:sym typeface="Calibri"/>
                        </a:rPr>
                        <a:t>$0.07</a:t>
                      </a:r>
                      <a:endParaRPr sz="1200" u="none" cap="none" strike="noStrike">
                        <a:latin typeface="Calibri"/>
                        <a:ea typeface="Calibri"/>
                        <a:cs typeface="Calibri"/>
                        <a:sym typeface="Calibri"/>
                      </a:endParaRPr>
                    </a:p>
                  </a:txBody>
                  <a:tcPr marT="45725" marB="45725" marR="91450" marL="91450" anchor="ctr">
                    <a:lnL cap="flat" cmpd="sng" w="9525">
                      <a:solidFill>
                        <a:srgbClr val="D9D9D6"/>
                      </a:solidFill>
                      <a:prstDash val="solid"/>
                      <a:round/>
                      <a:headEnd len="sm" w="sm" type="none"/>
                      <a:tailEnd len="sm" w="sm" type="none"/>
                    </a:lnL>
                    <a:lnR cap="flat" cmpd="sng" w="9525">
                      <a:solidFill>
                        <a:srgbClr val="D9D9D6"/>
                      </a:solidFill>
                      <a:prstDash val="solid"/>
                      <a:round/>
                      <a:headEnd len="sm" w="sm" type="none"/>
                      <a:tailEnd len="sm" w="sm" type="none"/>
                    </a:lnR>
                    <a:lnT cap="flat" cmpd="sng" w="9525">
                      <a:solidFill>
                        <a:srgbClr val="D9D9D6"/>
                      </a:solidFill>
                      <a:prstDash val="solid"/>
                      <a:round/>
                      <a:headEnd len="sm" w="sm" type="none"/>
                      <a:tailEnd len="sm" w="sm" type="none"/>
                    </a:lnT>
                    <a:lnB cap="flat" cmpd="sng" w="9525">
                      <a:solidFill>
                        <a:srgbClr val="D9D9D6"/>
                      </a:solidFill>
                      <a:prstDash val="solid"/>
                      <a:round/>
                      <a:headEnd len="sm" w="sm" type="none"/>
                      <a:tailEnd len="sm" w="sm" type="none"/>
                    </a:lnB>
                  </a:tcPr>
                </a:tc>
              </a:tr>
              <a:tr h="384050">
                <a:tc>
                  <a:txBody>
                    <a:bodyPr/>
                    <a:lstStyle/>
                    <a:p>
                      <a:pPr indent="0" lvl="0" marL="0" marR="0" rtl="0" algn="l">
                        <a:spcBef>
                          <a:spcPts val="0"/>
                        </a:spcBef>
                        <a:spcAft>
                          <a:spcPts val="0"/>
                        </a:spcAft>
                        <a:buClr>
                          <a:srgbClr val="441120"/>
                        </a:buClr>
                        <a:buSzPts val="1200"/>
                        <a:buFont typeface="Calibri"/>
                        <a:buNone/>
                      </a:pPr>
                      <a:r>
                        <a:rPr b="1" lang="en-US" sz="1200" u="none" cap="none" strike="noStrike">
                          <a:solidFill>
                            <a:srgbClr val="441120"/>
                          </a:solidFill>
                          <a:latin typeface="Calibri"/>
                          <a:ea typeface="Calibri"/>
                          <a:cs typeface="Calibri"/>
                          <a:sym typeface="Calibri"/>
                        </a:rPr>
                        <a:t>Total</a:t>
                      </a:r>
                      <a:endParaRPr sz="1200" u="none" cap="none" strike="noStrike">
                        <a:latin typeface="Calibri"/>
                        <a:ea typeface="Calibri"/>
                        <a:cs typeface="Calibri"/>
                        <a:sym typeface="Calibri"/>
                      </a:endParaRPr>
                    </a:p>
                  </a:txBody>
                  <a:tcPr marT="45725" marB="45725" marR="91450" marL="91450" anchor="ctr">
                    <a:lnL cap="flat" cmpd="sng" w="9525">
                      <a:solidFill>
                        <a:srgbClr val="D9D9D6"/>
                      </a:solidFill>
                      <a:prstDash val="solid"/>
                      <a:round/>
                      <a:headEnd len="sm" w="sm" type="none"/>
                      <a:tailEnd len="sm" w="sm" type="none"/>
                    </a:lnL>
                    <a:lnR cap="flat" cmpd="sng" w="9525">
                      <a:solidFill>
                        <a:srgbClr val="D9D9D6"/>
                      </a:solidFill>
                      <a:prstDash val="solid"/>
                      <a:round/>
                      <a:headEnd len="sm" w="sm" type="none"/>
                      <a:tailEnd len="sm" w="sm" type="none"/>
                    </a:lnR>
                    <a:lnT cap="flat" cmpd="sng" w="9525">
                      <a:solidFill>
                        <a:srgbClr val="D9D9D6"/>
                      </a:solidFill>
                      <a:prstDash val="solid"/>
                      <a:round/>
                      <a:headEnd len="sm" w="sm" type="none"/>
                      <a:tailEnd len="sm" w="sm" type="none"/>
                    </a:lnT>
                    <a:lnB cap="flat" cmpd="sng" w="9525">
                      <a:solidFill>
                        <a:srgbClr val="D9D9D6"/>
                      </a:solidFill>
                      <a:prstDash val="solid"/>
                      <a:round/>
                      <a:headEnd len="sm" w="sm" type="none"/>
                      <a:tailEnd len="sm" w="sm" type="none"/>
                    </a:lnB>
                    <a:solidFill>
                      <a:srgbClr val="EDEDED"/>
                    </a:solidFill>
                  </a:tcPr>
                </a:tc>
                <a:tc>
                  <a:txBody>
                    <a:bodyPr/>
                    <a:lstStyle/>
                    <a:p>
                      <a:pPr indent="0" lvl="0" marL="0" marR="0" rtl="0" algn="r">
                        <a:spcBef>
                          <a:spcPts val="0"/>
                        </a:spcBef>
                        <a:spcAft>
                          <a:spcPts val="0"/>
                        </a:spcAft>
                        <a:buClr>
                          <a:srgbClr val="441120"/>
                        </a:buClr>
                        <a:buSzPts val="1200"/>
                        <a:buFont typeface="Calibri"/>
                        <a:buNone/>
                      </a:pPr>
                      <a:r>
                        <a:rPr b="1" lang="en-US" sz="1200" u="none" cap="none" strike="noStrike">
                          <a:solidFill>
                            <a:srgbClr val="441120"/>
                          </a:solidFill>
                          <a:latin typeface="Calibri"/>
                          <a:ea typeface="Calibri"/>
                          <a:cs typeface="Calibri"/>
                          <a:sym typeface="Calibri"/>
                        </a:rPr>
                        <a:t>$40.07</a:t>
                      </a:r>
                      <a:endParaRPr sz="1200" u="none" cap="none" strike="noStrike">
                        <a:latin typeface="Calibri"/>
                        <a:ea typeface="Calibri"/>
                        <a:cs typeface="Calibri"/>
                        <a:sym typeface="Calibri"/>
                      </a:endParaRPr>
                    </a:p>
                  </a:txBody>
                  <a:tcPr marT="45725" marB="45725" marR="91450" marL="91450" anchor="ctr">
                    <a:lnL cap="flat" cmpd="sng" w="9525">
                      <a:solidFill>
                        <a:srgbClr val="D9D9D6"/>
                      </a:solidFill>
                      <a:prstDash val="solid"/>
                      <a:round/>
                      <a:headEnd len="sm" w="sm" type="none"/>
                      <a:tailEnd len="sm" w="sm" type="none"/>
                    </a:lnL>
                    <a:lnR cap="flat" cmpd="sng" w="9525">
                      <a:solidFill>
                        <a:srgbClr val="D9D9D6"/>
                      </a:solidFill>
                      <a:prstDash val="solid"/>
                      <a:round/>
                      <a:headEnd len="sm" w="sm" type="none"/>
                      <a:tailEnd len="sm" w="sm" type="none"/>
                    </a:lnR>
                    <a:lnT cap="flat" cmpd="sng" w="9525">
                      <a:solidFill>
                        <a:srgbClr val="D9D9D6"/>
                      </a:solidFill>
                      <a:prstDash val="solid"/>
                      <a:round/>
                      <a:headEnd len="sm" w="sm" type="none"/>
                      <a:tailEnd len="sm" w="sm" type="none"/>
                    </a:lnT>
                    <a:lnB cap="flat" cmpd="sng" w="9525">
                      <a:solidFill>
                        <a:srgbClr val="D9D9D6"/>
                      </a:solidFill>
                      <a:prstDash val="solid"/>
                      <a:round/>
                      <a:headEnd len="sm" w="sm" type="none"/>
                      <a:tailEnd len="sm" w="sm" type="none"/>
                    </a:lnB>
                    <a:solidFill>
                      <a:srgbClr val="EDEDED"/>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41120"/>
        </a:solidFill>
      </p:bgPr>
    </p:bg>
    <p:spTree>
      <p:nvGrpSpPr>
        <p:cNvPr id="176" name="Shape 176"/>
        <p:cNvGrpSpPr/>
        <p:nvPr/>
      </p:nvGrpSpPr>
      <p:grpSpPr>
        <a:xfrm>
          <a:off x="0" y="0"/>
          <a:ext cx="0" cy="0"/>
          <a:chOff x="0" y="0"/>
          <a:chExt cx="0" cy="0"/>
        </a:xfrm>
      </p:grpSpPr>
      <p:sp>
        <p:nvSpPr>
          <p:cNvPr id="177" name="Google Shape;177;p20"/>
          <p:cNvSpPr/>
          <p:nvPr/>
        </p:nvSpPr>
        <p:spPr>
          <a:xfrm>
            <a:off x="457200" y="118872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6"/>
              </a:buClr>
              <a:buSzPts val="1400"/>
              <a:buFont typeface="Calibri"/>
              <a:buNone/>
            </a:pPr>
            <a:r>
              <a:rPr b="1" i="0" lang="en-US" sz="1400" u="none" cap="none" strike="noStrike">
                <a:solidFill>
                  <a:srgbClr val="D9D9D6"/>
                </a:solidFill>
                <a:latin typeface="Calibri"/>
                <a:ea typeface="Calibri"/>
                <a:cs typeface="Calibri"/>
                <a:sym typeface="Calibri"/>
              </a:rPr>
              <a:t>PART  TWO</a:t>
            </a:r>
            <a:endParaRPr b="0" i="0" sz="1400" u="none" cap="none" strike="noStrike">
              <a:solidFill>
                <a:schemeClr val="dk1"/>
              </a:solidFill>
              <a:latin typeface="Calibri"/>
              <a:ea typeface="Calibri"/>
              <a:cs typeface="Calibri"/>
              <a:sym typeface="Calibri"/>
            </a:endParaRPr>
          </a:p>
        </p:txBody>
      </p:sp>
      <p:sp>
        <p:nvSpPr>
          <p:cNvPr id="178" name="Google Shape;178;p20"/>
          <p:cNvSpPr/>
          <p:nvPr/>
        </p:nvSpPr>
        <p:spPr>
          <a:xfrm>
            <a:off x="457200" y="1600200"/>
            <a:ext cx="82296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DED"/>
              </a:buClr>
              <a:buSzPts val="4800"/>
              <a:buFont typeface="Georgia"/>
              <a:buNone/>
            </a:pPr>
            <a:r>
              <a:rPr b="1" i="1" lang="en-US" sz="4800" u="none" cap="none" strike="noStrike">
                <a:solidFill>
                  <a:srgbClr val="EDEDED"/>
                </a:solidFill>
                <a:latin typeface="Georgia"/>
                <a:ea typeface="Georgia"/>
                <a:cs typeface="Georgia"/>
                <a:sym typeface="Georgia"/>
              </a:rPr>
              <a:t>Final Technical Slides</a:t>
            </a:r>
            <a:endParaRPr b="0" i="0" sz="4800" u="none" cap="none" strike="noStrike">
              <a:solidFill>
                <a:schemeClr val="dk1"/>
              </a:solidFill>
              <a:latin typeface="Calibri"/>
              <a:ea typeface="Calibri"/>
              <a:cs typeface="Calibri"/>
              <a:sym typeface="Calibri"/>
            </a:endParaRPr>
          </a:p>
        </p:txBody>
      </p:sp>
      <p:sp>
        <p:nvSpPr>
          <p:cNvPr id="179" name="Google Shape;179;p20"/>
          <p:cNvSpPr/>
          <p:nvPr/>
        </p:nvSpPr>
        <p:spPr>
          <a:xfrm>
            <a:off x="475488" y="2834640"/>
            <a:ext cx="548640" cy="36576"/>
          </a:xfrm>
          <a:prstGeom prst="rect">
            <a:avLst/>
          </a:prstGeom>
          <a:solidFill>
            <a:srgbClr val="D9D9D6"/>
          </a:solidFill>
          <a:ln cap="flat" cmpd="sng" w="12700">
            <a:solidFill>
              <a:srgbClr val="D9D9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0"/>
          <p:cNvSpPr/>
          <p:nvPr/>
        </p:nvSpPr>
        <p:spPr>
          <a:xfrm>
            <a:off x="457200" y="297180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6"/>
              </a:buClr>
              <a:buSzPts val="1800"/>
              <a:buFont typeface="Georgia"/>
              <a:buNone/>
            </a:pPr>
            <a:r>
              <a:rPr b="0" i="1" lang="en-US" sz="1800" u="none" cap="none" strike="noStrike">
                <a:solidFill>
                  <a:srgbClr val="D9D9D6"/>
                </a:solidFill>
                <a:latin typeface="Georgia"/>
                <a:ea typeface="Georgia"/>
                <a:cs typeface="Georgia"/>
                <a:sym typeface="Georgia"/>
              </a:rPr>
              <a:t>System design  ·  stack  ·  request flow  ·  demo  ·  repository</a:t>
            </a:r>
            <a:endParaRPr b="0" i="0" sz="1800" u="none" cap="none" strike="noStrike">
              <a:solidFill>
                <a:schemeClr val="dk1"/>
              </a:solidFill>
              <a:latin typeface="Calibri"/>
              <a:ea typeface="Calibri"/>
              <a:cs typeface="Calibri"/>
              <a:sym typeface="Calibri"/>
            </a:endParaRPr>
          </a:p>
        </p:txBody>
      </p:sp>
      <p:sp>
        <p:nvSpPr>
          <p:cNvPr id="181" name="Google Shape;181;p20"/>
          <p:cNvSpPr/>
          <p:nvPr/>
        </p:nvSpPr>
        <p:spPr>
          <a:xfrm>
            <a:off x="457200" y="402336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6"/>
              </a:buClr>
              <a:buSzPts val="1100"/>
              <a:buFont typeface="Calibri"/>
              <a:buNone/>
            </a:pPr>
            <a:r>
              <a:rPr b="0" i="1" lang="en-US" sz="1100" u="none" cap="none" strike="noStrike">
                <a:solidFill>
                  <a:srgbClr val="D9D9D6"/>
                </a:solidFill>
                <a:latin typeface="Calibri"/>
                <a:ea typeface="Calibri"/>
                <a:cs typeface="Calibri"/>
                <a:sym typeface="Calibri"/>
              </a:rPr>
              <a:t>The slides that follow contain the final system design and technical artifacts for Milestone 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186" name="Shape 186"/>
        <p:cNvGrpSpPr/>
        <p:nvPr/>
      </p:nvGrpSpPr>
      <p:grpSpPr>
        <a:xfrm>
          <a:off x="0" y="0"/>
          <a:ext cx="0" cy="0"/>
          <a:chOff x="0" y="0"/>
          <a:chExt cx="0" cy="0"/>
        </a:xfrm>
      </p:grpSpPr>
      <p:sp>
        <p:nvSpPr>
          <p:cNvPr id="187" name="Google Shape;187;p21"/>
          <p:cNvSpPr/>
          <p:nvPr/>
        </p:nvSpPr>
        <p:spPr>
          <a:xfrm>
            <a:off x="8275320" y="274320"/>
            <a:ext cx="164592" cy="164592"/>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1"/>
          <p:cNvSpPr/>
          <p:nvPr/>
        </p:nvSpPr>
        <p:spPr>
          <a:xfrm>
            <a:off x="6675120" y="246888"/>
            <a:ext cx="15544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189" name="Google Shape;189;p21"/>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INTRODUCTION</a:t>
            </a:r>
            <a:endParaRPr b="0" i="0" sz="1000" u="none" cap="none" strike="noStrike">
              <a:solidFill>
                <a:schemeClr val="dk1"/>
              </a:solidFill>
              <a:latin typeface="Calibri"/>
              <a:ea typeface="Calibri"/>
              <a:cs typeface="Calibri"/>
              <a:sym typeface="Calibri"/>
            </a:endParaRPr>
          </a:p>
        </p:txBody>
      </p:sp>
      <p:sp>
        <p:nvSpPr>
          <p:cNvPr id="190" name="Google Shape;190;p21"/>
          <p:cNvSpPr/>
          <p:nvPr/>
        </p:nvSpPr>
        <p:spPr>
          <a:xfrm>
            <a:off x="457200" y="5029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What we built, in 30 seconds.</a:t>
            </a:r>
            <a:endParaRPr b="0" i="0" sz="2800" u="none" cap="none" strike="noStrike">
              <a:solidFill>
                <a:schemeClr val="dk1"/>
              </a:solidFill>
              <a:latin typeface="Calibri"/>
              <a:ea typeface="Calibri"/>
              <a:cs typeface="Calibri"/>
              <a:sym typeface="Calibri"/>
            </a:endParaRPr>
          </a:p>
        </p:txBody>
      </p:sp>
      <p:sp>
        <p:nvSpPr>
          <p:cNvPr id="191" name="Google Shape;191;p21"/>
          <p:cNvSpPr/>
          <p:nvPr/>
        </p:nvSpPr>
        <p:spPr>
          <a:xfrm>
            <a:off x="457200" y="132588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2200"/>
              <a:buFont typeface="Georgia"/>
              <a:buNone/>
            </a:pPr>
            <a:r>
              <a:rPr b="1" i="1" lang="en-US" sz="2200" u="none" cap="none" strike="noStrike">
                <a:solidFill>
                  <a:srgbClr val="441120"/>
                </a:solidFill>
                <a:latin typeface="Georgia"/>
                <a:ea typeface="Georgia"/>
                <a:cs typeface="Georgia"/>
                <a:sym typeface="Georgia"/>
              </a:rPr>
              <a:t>Moby Dicks is a reading-curriculum generator.</a:t>
            </a:r>
            <a:endParaRPr b="0" i="0" sz="2200" u="none" cap="none" strike="noStrike">
              <a:solidFill>
                <a:schemeClr val="dk1"/>
              </a:solidFill>
              <a:latin typeface="Calibri"/>
              <a:ea typeface="Calibri"/>
              <a:cs typeface="Calibri"/>
              <a:sym typeface="Calibri"/>
            </a:endParaRPr>
          </a:p>
        </p:txBody>
      </p:sp>
      <p:sp>
        <p:nvSpPr>
          <p:cNvPr id="192" name="Google Shape;192;p21"/>
          <p:cNvSpPr/>
          <p:nvPr/>
        </p:nvSpPr>
        <p:spPr>
          <a:xfrm>
            <a:off x="457200" y="1874520"/>
            <a:ext cx="8229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300"/>
              <a:buFont typeface="Calibri"/>
              <a:buNone/>
            </a:pPr>
            <a:r>
              <a:rPr b="0" i="0" lang="en-US" sz="1300" u="none" cap="none" strike="noStrike">
                <a:solidFill>
                  <a:srgbClr val="1F1F1F"/>
                </a:solidFill>
                <a:latin typeface="Calibri"/>
                <a:ea typeface="Calibri"/>
                <a:cs typeface="Calibri"/>
                <a:sym typeface="Calibri"/>
              </a:rPr>
              <a:t>A user submits a topic, a time budget, and a difficulty level. The app returns a five-book curriculum with a written justification per book and an overall reading arc.</a:t>
            </a:r>
            <a:endParaRPr b="0" i="0" sz="1300" u="none" cap="none" strike="noStrike">
              <a:solidFill>
                <a:schemeClr val="dk1"/>
              </a:solidFill>
              <a:latin typeface="Calibri"/>
              <a:ea typeface="Calibri"/>
              <a:cs typeface="Calibri"/>
              <a:sym typeface="Calibri"/>
            </a:endParaRPr>
          </a:p>
        </p:txBody>
      </p:sp>
      <p:sp>
        <p:nvSpPr>
          <p:cNvPr id="193" name="Google Shape;193;p21"/>
          <p:cNvSpPr/>
          <p:nvPr/>
        </p:nvSpPr>
        <p:spPr>
          <a:xfrm>
            <a:off x="457200" y="2926080"/>
            <a:ext cx="2697480" cy="1691640"/>
          </a:xfrm>
          <a:prstGeom prst="rect">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1"/>
          <p:cNvSpPr/>
          <p:nvPr/>
        </p:nvSpPr>
        <p:spPr>
          <a:xfrm>
            <a:off x="457200" y="2926080"/>
            <a:ext cx="73152" cy="169164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1"/>
          <p:cNvSpPr/>
          <p:nvPr/>
        </p:nvSpPr>
        <p:spPr>
          <a:xfrm>
            <a:off x="640080" y="3035808"/>
            <a:ext cx="23774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900"/>
              <a:buFont typeface="Calibri"/>
              <a:buNone/>
            </a:pPr>
            <a:r>
              <a:rPr b="1" i="0" lang="en-US" sz="900" u="none" cap="none" strike="noStrike">
                <a:solidFill>
                  <a:srgbClr val="896F77"/>
                </a:solidFill>
                <a:latin typeface="Calibri"/>
                <a:ea typeface="Calibri"/>
                <a:cs typeface="Calibri"/>
                <a:sym typeface="Calibri"/>
              </a:rPr>
              <a:t>INPUT</a:t>
            </a:r>
            <a:endParaRPr b="0" i="0" sz="900" u="none" cap="none" strike="noStrike">
              <a:solidFill>
                <a:schemeClr val="dk1"/>
              </a:solidFill>
              <a:latin typeface="Calibri"/>
              <a:ea typeface="Calibri"/>
              <a:cs typeface="Calibri"/>
              <a:sym typeface="Calibri"/>
            </a:endParaRPr>
          </a:p>
        </p:txBody>
      </p:sp>
      <p:sp>
        <p:nvSpPr>
          <p:cNvPr id="196" name="Google Shape;196;p21"/>
          <p:cNvSpPr/>
          <p:nvPr/>
        </p:nvSpPr>
        <p:spPr>
          <a:xfrm>
            <a:off x="640080" y="3273552"/>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400"/>
              <a:buFont typeface="Georgia"/>
              <a:buNone/>
            </a:pPr>
            <a:r>
              <a:rPr b="1" i="1" lang="en-US" sz="1400" u="none" cap="none" strike="noStrike">
                <a:solidFill>
                  <a:srgbClr val="441120"/>
                </a:solidFill>
                <a:latin typeface="Georgia"/>
                <a:ea typeface="Georgia"/>
                <a:cs typeface="Georgia"/>
                <a:sym typeface="Georgia"/>
              </a:rPr>
              <a:t>One survey, three fields</a:t>
            </a:r>
            <a:endParaRPr b="0" i="0" sz="1400" u="none" cap="none" strike="noStrike">
              <a:solidFill>
                <a:schemeClr val="dk1"/>
              </a:solidFill>
              <a:latin typeface="Calibri"/>
              <a:ea typeface="Calibri"/>
              <a:cs typeface="Calibri"/>
              <a:sym typeface="Calibri"/>
            </a:endParaRPr>
          </a:p>
        </p:txBody>
      </p:sp>
      <p:sp>
        <p:nvSpPr>
          <p:cNvPr id="197" name="Google Shape;197;p21"/>
          <p:cNvSpPr/>
          <p:nvPr/>
        </p:nvSpPr>
        <p:spPr>
          <a:xfrm>
            <a:off x="640080" y="3703320"/>
            <a:ext cx="23774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100"/>
              <a:buFont typeface="Calibri"/>
              <a:buNone/>
            </a:pPr>
            <a:r>
              <a:rPr b="0" i="0" lang="en-US" sz="1100" u="none" cap="none" strike="noStrike">
                <a:solidFill>
                  <a:srgbClr val="1F1F1F"/>
                </a:solidFill>
                <a:latin typeface="Calibri"/>
                <a:ea typeface="Calibri"/>
                <a:cs typeface="Calibri"/>
                <a:sym typeface="Calibri"/>
              </a:rPr>
              <a:t>Topic · time-to-read · difficulty. No 8-message ChatGPT thread.</a:t>
            </a:r>
            <a:endParaRPr b="0" i="0" sz="1100" u="none" cap="none" strike="noStrike">
              <a:solidFill>
                <a:schemeClr val="dk1"/>
              </a:solidFill>
              <a:latin typeface="Calibri"/>
              <a:ea typeface="Calibri"/>
              <a:cs typeface="Calibri"/>
              <a:sym typeface="Calibri"/>
            </a:endParaRPr>
          </a:p>
        </p:txBody>
      </p:sp>
      <p:sp>
        <p:nvSpPr>
          <p:cNvPr id="198" name="Google Shape;198;p21"/>
          <p:cNvSpPr/>
          <p:nvPr/>
        </p:nvSpPr>
        <p:spPr>
          <a:xfrm>
            <a:off x="3337560" y="2926080"/>
            <a:ext cx="2697480" cy="1691640"/>
          </a:xfrm>
          <a:prstGeom prst="rect">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1"/>
          <p:cNvSpPr/>
          <p:nvPr/>
        </p:nvSpPr>
        <p:spPr>
          <a:xfrm>
            <a:off x="3337560" y="2926080"/>
            <a:ext cx="73152" cy="169164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1"/>
          <p:cNvSpPr/>
          <p:nvPr/>
        </p:nvSpPr>
        <p:spPr>
          <a:xfrm>
            <a:off x="3520440" y="3035808"/>
            <a:ext cx="23774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900"/>
              <a:buFont typeface="Calibri"/>
              <a:buNone/>
            </a:pPr>
            <a:r>
              <a:rPr b="1" i="0" lang="en-US" sz="900" u="none" cap="none" strike="noStrike">
                <a:solidFill>
                  <a:srgbClr val="896F77"/>
                </a:solidFill>
                <a:latin typeface="Calibri"/>
                <a:ea typeface="Calibri"/>
                <a:cs typeface="Calibri"/>
                <a:sym typeface="Calibri"/>
              </a:rPr>
              <a:t>ENGINE</a:t>
            </a:r>
            <a:endParaRPr b="0" i="0" sz="900" u="none" cap="none" strike="noStrike">
              <a:solidFill>
                <a:schemeClr val="dk1"/>
              </a:solidFill>
              <a:latin typeface="Calibri"/>
              <a:ea typeface="Calibri"/>
              <a:cs typeface="Calibri"/>
              <a:sym typeface="Calibri"/>
            </a:endParaRPr>
          </a:p>
        </p:txBody>
      </p:sp>
      <p:sp>
        <p:nvSpPr>
          <p:cNvPr id="201" name="Google Shape;201;p21"/>
          <p:cNvSpPr/>
          <p:nvPr/>
        </p:nvSpPr>
        <p:spPr>
          <a:xfrm>
            <a:off x="3520440" y="3273552"/>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400"/>
              <a:buFont typeface="Georgia"/>
              <a:buNone/>
            </a:pPr>
            <a:r>
              <a:rPr b="1" i="1" lang="en-US" sz="1400" u="none" cap="none" strike="noStrike">
                <a:solidFill>
                  <a:srgbClr val="441120"/>
                </a:solidFill>
                <a:latin typeface="Georgia"/>
                <a:ea typeface="Georgia"/>
                <a:cs typeface="Georgia"/>
                <a:sym typeface="Georgia"/>
              </a:rPr>
              <a:t>Two Gemini Flash calls</a:t>
            </a:r>
            <a:endParaRPr b="0" i="0" sz="1400" u="none" cap="none" strike="noStrike">
              <a:solidFill>
                <a:schemeClr val="dk1"/>
              </a:solidFill>
              <a:latin typeface="Calibri"/>
              <a:ea typeface="Calibri"/>
              <a:cs typeface="Calibri"/>
              <a:sym typeface="Calibri"/>
            </a:endParaRPr>
          </a:p>
        </p:txBody>
      </p:sp>
      <p:sp>
        <p:nvSpPr>
          <p:cNvPr id="202" name="Google Shape;202;p21"/>
          <p:cNvSpPr/>
          <p:nvPr/>
        </p:nvSpPr>
        <p:spPr>
          <a:xfrm>
            <a:off x="3520440" y="3703320"/>
            <a:ext cx="23774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100"/>
              <a:buFont typeface="Calibri"/>
              <a:buNone/>
            </a:pPr>
            <a:r>
              <a:rPr b="0" i="0" lang="en-US" sz="1100" u="none" cap="none" strike="noStrike">
                <a:solidFill>
                  <a:srgbClr val="1F1F1F"/>
                </a:solidFill>
                <a:latin typeface="Calibri"/>
                <a:ea typeface="Calibri"/>
                <a:cs typeface="Calibri"/>
                <a:sym typeface="Calibri"/>
              </a:rPr>
              <a:t>Extract → fetch → curate. Grounded in a 2.36M-book BigQuery catalog.</a:t>
            </a:r>
            <a:endParaRPr b="0" i="0" sz="1100" u="none" cap="none" strike="noStrike">
              <a:solidFill>
                <a:schemeClr val="dk1"/>
              </a:solidFill>
              <a:latin typeface="Calibri"/>
              <a:ea typeface="Calibri"/>
              <a:cs typeface="Calibri"/>
              <a:sym typeface="Calibri"/>
            </a:endParaRPr>
          </a:p>
        </p:txBody>
      </p:sp>
      <p:sp>
        <p:nvSpPr>
          <p:cNvPr id="203" name="Google Shape;203;p21"/>
          <p:cNvSpPr/>
          <p:nvPr/>
        </p:nvSpPr>
        <p:spPr>
          <a:xfrm>
            <a:off x="6217920" y="2926080"/>
            <a:ext cx="2697480" cy="1691640"/>
          </a:xfrm>
          <a:prstGeom prst="rect">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1"/>
          <p:cNvSpPr/>
          <p:nvPr/>
        </p:nvSpPr>
        <p:spPr>
          <a:xfrm>
            <a:off x="6217920" y="2926080"/>
            <a:ext cx="73152" cy="169164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1"/>
          <p:cNvSpPr/>
          <p:nvPr/>
        </p:nvSpPr>
        <p:spPr>
          <a:xfrm>
            <a:off x="6400800" y="3035808"/>
            <a:ext cx="23774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900"/>
              <a:buFont typeface="Calibri"/>
              <a:buNone/>
            </a:pPr>
            <a:r>
              <a:rPr b="1" i="0" lang="en-US" sz="900" u="none" cap="none" strike="noStrike">
                <a:solidFill>
                  <a:srgbClr val="896F77"/>
                </a:solidFill>
                <a:latin typeface="Calibri"/>
                <a:ea typeface="Calibri"/>
                <a:cs typeface="Calibri"/>
                <a:sym typeface="Calibri"/>
              </a:rPr>
              <a:t>OUTPUT</a:t>
            </a:r>
            <a:endParaRPr b="0" i="0" sz="900" u="none" cap="none" strike="noStrike">
              <a:solidFill>
                <a:schemeClr val="dk1"/>
              </a:solidFill>
              <a:latin typeface="Calibri"/>
              <a:ea typeface="Calibri"/>
              <a:cs typeface="Calibri"/>
              <a:sym typeface="Calibri"/>
            </a:endParaRPr>
          </a:p>
        </p:txBody>
      </p:sp>
      <p:sp>
        <p:nvSpPr>
          <p:cNvPr id="206" name="Google Shape;206;p21"/>
          <p:cNvSpPr/>
          <p:nvPr/>
        </p:nvSpPr>
        <p:spPr>
          <a:xfrm>
            <a:off x="6400800" y="3273552"/>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400"/>
              <a:buFont typeface="Georgia"/>
              <a:buNone/>
            </a:pPr>
            <a:r>
              <a:rPr b="1" i="1" lang="en-US" sz="1400" u="none" cap="none" strike="noStrike">
                <a:solidFill>
                  <a:srgbClr val="441120"/>
                </a:solidFill>
                <a:latin typeface="Georgia"/>
                <a:ea typeface="Georgia"/>
                <a:cs typeface="Georgia"/>
                <a:sym typeface="Georgia"/>
              </a:rPr>
              <a:t>Five-book curriculum</a:t>
            </a:r>
            <a:endParaRPr b="0" i="0" sz="1400" u="none" cap="none" strike="noStrike">
              <a:solidFill>
                <a:schemeClr val="dk1"/>
              </a:solidFill>
              <a:latin typeface="Calibri"/>
              <a:ea typeface="Calibri"/>
              <a:cs typeface="Calibri"/>
              <a:sym typeface="Calibri"/>
            </a:endParaRPr>
          </a:p>
        </p:txBody>
      </p:sp>
      <p:sp>
        <p:nvSpPr>
          <p:cNvPr id="207" name="Google Shape;207;p21"/>
          <p:cNvSpPr/>
          <p:nvPr/>
        </p:nvSpPr>
        <p:spPr>
          <a:xfrm>
            <a:off x="6400800" y="3703320"/>
            <a:ext cx="23774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100"/>
              <a:buFont typeface="Calibri"/>
              <a:buNone/>
            </a:pPr>
            <a:r>
              <a:rPr b="0" i="0" lang="en-US" sz="1100" u="none" cap="none" strike="noStrike">
                <a:solidFill>
                  <a:srgbClr val="1F1F1F"/>
                </a:solidFill>
                <a:latin typeface="Calibri"/>
                <a:ea typeface="Calibri"/>
                <a:cs typeface="Calibri"/>
                <a:sym typeface="Calibri"/>
              </a:rPr>
              <a:t>Ordered by progressive difficulty, each pick justified, ~10 s end-to-end.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212" name="Shape 212"/>
        <p:cNvGrpSpPr/>
        <p:nvPr/>
      </p:nvGrpSpPr>
      <p:grpSpPr>
        <a:xfrm>
          <a:off x="0" y="0"/>
          <a:ext cx="0" cy="0"/>
          <a:chOff x="0" y="0"/>
          <a:chExt cx="0" cy="0"/>
        </a:xfrm>
      </p:grpSpPr>
      <p:sp>
        <p:nvSpPr>
          <p:cNvPr id="213" name="Google Shape;213;p22"/>
          <p:cNvSpPr/>
          <p:nvPr/>
        </p:nvSpPr>
        <p:spPr>
          <a:xfrm>
            <a:off x="8275320" y="274320"/>
            <a:ext cx="164592" cy="164592"/>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2"/>
          <p:cNvSpPr/>
          <p:nvPr/>
        </p:nvSpPr>
        <p:spPr>
          <a:xfrm>
            <a:off x="6675120" y="246888"/>
            <a:ext cx="15544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215" name="Google Shape;215;p22"/>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STACK</a:t>
            </a:r>
            <a:endParaRPr b="0" i="0" sz="1000" u="none" cap="none" strike="noStrike">
              <a:solidFill>
                <a:schemeClr val="dk1"/>
              </a:solidFill>
              <a:latin typeface="Calibri"/>
              <a:ea typeface="Calibri"/>
              <a:cs typeface="Calibri"/>
              <a:sym typeface="Calibri"/>
            </a:endParaRPr>
          </a:p>
        </p:txBody>
      </p:sp>
      <p:sp>
        <p:nvSpPr>
          <p:cNvPr id="216" name="Google Shape;216;p22"/>
          <p:cNvSpPr/>
          <p:nvPr/>
        </p:nvSpPr>
        <p:spPr>
          <a:xfrm>
            <a:off x="457200" y="5029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GCP services + the four required pieces.</a:t>
            </a:r>
            <a:endParaRPr b="0" i="0" sz="2800" u="none" cap="none" strike="noStrike">
              <a:solidFill>
                <a:schemeClr val="dk1"/>
              </a:solidFill>
              <a:latin typeface="Calibri"/>
              <a:ea typeface="Calibri"/>
              <a:cs typeface="Calibri"/>
              <a:sym typeface="Calibri"/>
            </a:endParaRPr>
          </a:p>
        </p:txBody>
      </p:sp>
      <p:sp>
        <p:nvSpPr>
          <p:cNvPr id="217" name="Google Shape;217;p22"/>
          <p:cNvSpPr/>
          <p:nvPr/>
        </p:nvSpPr>
        <p:spPr>
          <a:xfrm>
            <a:off x="457200" y="1188720"/>
            <a:ext cx="8229600" cy="457200"/>
          </a:xfrm>
          <a:prstGeom prst="rect">
            <a:avLst/>
          </a:prstGeom>
          <a:solidFill>
            <a:srgbClr val="FFFFFF"/>
          </a:solidFill>
          <a:ln cap="flat" cmpd="sng" w="12700">
            <a:solidFill>
              <a:srgbClr val="FFFFFF"/>
            </a:solidFill>
            <a:prstDash val="solid"/>
            <a:round/>
            <a:headEnd len="sm" w="sm" type="none"/>
            <a:tailEnd len="sm" w="sm" type="none"/>
          </a:ln>
          <a:effectLst>
            <a:outerShdw blurRad="50800" rotWithShape="0" algn="bl" dir="54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2"/>
          <p:cNvSpPr/>
          <p:nvPr/>
        </p:nvSpPr>
        <p:spPr>
          <a:xfrm>
            <a:off x="457200" y="1188720"/>
            <a:ext cx="73152" cy="4572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2"/>
          <p:cNvSpPr/>
          <p:nvPr/>
        </p:nvSpPr>
        <p:spPr>
          <a:xfrm>
            <a:off x="685800" y="1234440"/>
            <a:ext cx="28346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800"/>
              <a:buFont typeface="Calibri"/>
              <a:buNone/>
            </a:pPr>
            <a:r>
              <a:rPr b="1" i="0" lang="en-US" sz="800" u="none" cap="none" strike="noStrike">
                <a:solidFill>
                  <a:srgbClr val="896F77"/>
                </a:solidFill>
                <a:latin typeface="Calibri"/>
                <a:ea typeface="Calibri"/>
                <a:cs typeface="Calibri"/>
                <a:sym typeface="Calibri"/>
              </a:rPr>
              <a:t>FRONTEND + BACKEND</a:t>
            </a:r>
            <a:endParaRPr b="0" i="0" sz="800" u="none" cap="none" strike="noStrike">
              <a:solidFill>
                <a:schemeClr val="dk1"/>
              </a:solidFill>
              <a:latin typeface="Calibri"/>
              <a:ea typeface="Calibri"/>
              <a:cs typeface="Calibri"/>
              <a:sym typeface="Calibri"/>
            </a:endParaRPr>
          </a:p>
        </p:txBody>
      </p:sp>
      <p:sp>
        <p:nvSpPr>
          <p:cNvPr id="220" name="Google Shape;220;p22"/>
          <p:cNvSpPr/>
          <p:nvPr/>
        </p:nvSpPr>
        <p:spPr>
          <a:xfrm>
            <a:off x="685800" y="1389888"/>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200"/>
              <a:buFont typeface="Georgia"/>
              <a:buNone/>
            </a:pPr>
            <a:r>
              <a:rPr b="1" i="0" lang="en-US" sz="1200" u="none" cap="none" strike="noStrike">
                <a:solidFill>
                  <a:srgbClr val="441120"/>
                </a:solidFill>
                <a:latin typeface="Georgia"/>
                <a:ea typeface="Georgia"/>
                <a:cs typeface="Georgia"/>
                <a:sym typeface="Georgia"/>
              </a:rPr>
              <a:t>Reflex</a:t>
            </a:r>
            <a:endParaRPr b="0" i="0" sz="1200" u="none" cap="none" strike="noStrike">
              <a:solidFill>
                <a:schemeClr val="dk1"/>
              </a:solidFill>
              <a:latin typeface="Calibri"/>
              <a:ea typeface="Calibri"/>
              <a:cs typeface="Calibri"/>
              <a:sym typeface="Calibri"/>
            </a:endParaRPr>
          </a:p>
        </p:txBody>
      </p:sp>
      <p:sp>
        <p:nvSpPr>
          <p:cNvPr id="221" name="Google Shape;221;p22"/>
          <p:cNvSpPr/>
          <p:nvPr/>
        </p:nvSpPr>
        <p:spPr>
          <a:xfrm>
            <a:off x="3703320" y="1280160"/>
            <a:ext cx="4846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Pure-Python UI, compiles to React. No JS.</a:t>
            </a:r>
            <a:endParaRPr b="0" i="0" sz="1000" u="none" cap="none" strike="noStrike">
              <a:solidFill>
                <a:schemeClr val="dk1"/>
              </a:solidFill>
              <a:latin typeface="Calibri"/>
              <a:ea typeface="Calibri"/>
              <a:cs typeface="Calibri"/>
              <a:sym typeface="Calibri"/>
            </a:endParaRPr>
          </a:p>
        </p:txBody>
      </p:sp>
      <p:sp>
        <p:nvSpPr>
          <p:cNvPr id="222" name="Google Shape;222;p22"/>
          <p:cNvSpPr/>
          <p:nvPr/>
        </p:nvSpPr>
        <p:spPr>
          <a:xfrm>
            <a:off x="457200" y="1709928"/>
            <a:ext cx="8229600" cy="457200"/>
          </a:xfrm>
          <a:prstGeom prst="rect">
            <a:avLst/>
          </a:prstGeom>
          <a:solidFill>
            <a:srgbClr val="FFFFFF"/>
          </a:solidFill>
          <a:ln cap="flat" cmpd="sng" w="12700">
            <a:solidFill>
              <a:srgbClr val="FFFFFF"/>
            </a:solidFill>
            <a:prstDash val="solid"/>
            <a:round/>
            <a:headEnd len="sm" w="sm" type="none"/>
            <a:tailEnd len="sm" w="sm" type="none"/>
          </a:ln>
          <a:effectLst>
            <a:outerShdw blurRad="50800" rotWithShape="0" algn="bl" dir="54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2"/>
          <p:cNvSpPr/>
          <p:nvPr/>
        </p:nvSpPr>
        <p:spPr>
          <a:xfrm>
            <a:off x="457200" y="1709928"/>
            <a:ext cx="73152" cy="4572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2"/>
          <p:cNvSpPr/>
          <p:nvPr/>
        </p:nvSpPr>
        <p:spPr>
          <a:xfrm>
            <a:off x="685800" y="1755648"/>
            <a:ext cx="28346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800"/>
              <a:buFont typeface="Calibri"/>
              <a:buNone/>
            </a:pPr>
            <a:r>
              <a:rPr b="1" i="0" lang="en-US" sz="800" u="none" cap="none" strike="noStrike">
                <a:solidFill>
                  <a:srgbClr val="896F77"/>
                </a:solidFill>
                <a:latin typeface="Calibri"/>
                <a:ea typeface="Calibri"/>
                <a:cs typeface="Calibri"/>
                <a:sym typeface="Calibri"/>
              </a:rPr>
              <a:t>DATA WAREHOUSE</a:t>
            </a:r>
            <a:endParaRPr b="0" i="0" sz="800" u="none" cap="none" strike="noStrike">
              <a:solidFill>
                <a:schemeClr val="dk1"/>
              </a:solidFill>
              <a:latin typeface="Calibri"/>
              <a:ea typeface="Calibri"/>
              <a:cs typeface="Calibri"/>
              <a:sym typeface="Calibri"/>
            </a:endParaRPr>
          </a:p>
        </p:txBody>
      </p:sp>
      <p:sp>
        <p:nvSpPr>
          <p:cNvPr id="225" name="Google Shape;225;p22"/>
          <p:cNvSpPr/>
          <p:nvPr/>
        </p:nvSpPr>
        <p:spPr>
          <a:xfrm>
            <a:off x="685800" y="1911096"/>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200"/>
              <a:buFont typeface="Georgia"/>
              <a:buNone/>
            </a:pPr>
            <a:r>
              <a:rPr b="1" i="0" lang="en-US" sz="1200" u="none" cap="none" strike="noStrike">
                <a:solidFill>
                  <a:srgbClr val="441120"/>
                </a:solidFill>
                <a:latin typeface="Georgia"/>
                <a:ea typeface="Georgia"/>
                <a:cs typeface="Georgia"/>
                <a:sym typeface="Georgia"/>
              </a:rPr>
              <a:t>BigQuery</a:t>
            </a:r>
            <a:endParaRPr b="0" i="0" sz="1200" u="none" cap="none" strike="noStrike">
              <a:solidFill>
                <a:schemeClr val="dk1"/>
              </a:solidFill>
              <a:latin typeface="Calibri"/>
              <a:ea typeface="Calibri"/>
              <a:cs typeface="Calibri"/>
              <a:sym typeface="Calibri"/>
            </a:endParaRPr>
          </a:p>
        </p:txBody>
      </p:sp>
      <p:sp>
        <p:nvSpPr>
          <p:cNvPr id="226" name="Google Shape;226;p22"/>
          <p:cNvSpPr/>
          <p:nvPr/>
        </p:nvSpPr>
        <p:spPr>
          <a:xfrm>
            <a:off x="3703320" y="1801368"/>
            <a:ext cx="4846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2.36M+ Goodreads books; SQL-driven candidate pool.</a:t>
            </a:r>
            <a:endParaRPr b="0" i="0" sz="1000" u="none" cap="none" strike="noStrike">
              <a:solidFill>
                <a:schemeClr val="dk1"/>
              </a:solidFill>
              <a:latin typeface="Calibri"/>
              <a:ea typeface="Calibri"/>
              <a:cs typeface="Calibri"/>
              <a:sym typeface="Calibri"/>
            </a:endParaRPr>
          </a:p>
        </p:txBody>
      </p:sp>
      <p:sp>
        <p:nvSpPr>
          <p:cNvPr id="227" name="Google Shape;227;p22"/>
          <p:cNvSpPr/>
          <p:nvPr/>
        </p:nvSpPr>
        <p:spPr>
          <a:xfrm>
            <a:off x="457200" y="2231136"/>
            <a:ext cx="8229600" cy="457200"/>
          </a:xfrm>
          <a:prstGeom prst="rect">
            <a:avLst/>
          </a:prstGeom>
          <a:solidFill>
            <a:srgbClr val="FFFFFF"/>
          </a:solidFill>
          <a:ln cap="flat" cmpd="sng" w="12700">
            <a:solidFill>
              <a:srgbClr val="FFFFFF"/>
            </a:solidFill>
            <a:prstDash val="solid"/>
            <a:round/>
            <a:headEnd len="sm" w="sm" type="none"/>
            <a:tailEnd len="sm" w="sm" type="none"/>
          </a:ln>
          <a:effectLst>
            <a:outerShdw blurRad="50800" rotWithShape="0" algn="bl" dir="54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2"/>
          <p:cNvSpPr/>
          <p:nvPr/>
        </p:nvSpPr>
        <p:spPr>
          <a:xfrm>
            <a:off x="457200" y="2231136"/>
            <a:ext cx="73152" cy="4572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2"/>
          <p:cNvSpPr/>
          <p:nvPr/>
        </p:nvSpPr>
        <p:spPr>
          <a:xfrm>
            <a:off x="685800" y="2276856"/>
            <a:ext cx="28346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800"/>
              <a:buFont typeface="Calibri"/>
              <a:buNone/>
            </a:pPr>
            <a:r>
              <a:rPr b="1" i="0" lang="en-US" sz="800" u="none" cap="none" strike="noStrike">
                <a:solidFill>
                  <a:srgbClr val="896F77"/>
                </a:solidFill>
                <a:latin typeface="Calibri"/>
                <a:ea typeface="Calibri"/>
                <a:cs typeface="Calibri"/>
                <a:sym typeface="Calibri"/>
              </a:rPr>
              <a:t>LLM</a:t>
            </a:r>
            <a:endParaRPr b="0" i="0" sz="800" u="none" cap="none" strike="noStrike">
              <a:solidFill>
                <a:schemeClr val="dk1"/>
              </a:solidFill>
              <a:latin typeface="Calibri"/>
              <a:ea typeface="Calibri"/>
              <a:cs typeface="Calibri"/>
              <a:sym typeface="Calibri"/>
            </a:endParaRPr>
          </a:p>
        </p:txBody>
      </p:sp>
      <p:sp>
        <p:nvSpPr>
          <p:cNvPr id="230" name="Google Shape;230;p22"/>
          <p:cNvSpPr/>
          <p:nvPr/>
        </p:nvSpPr>
        <p:spPr>
          <a:xfrm>
            <a:off x="685800" y="2432304"/>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200"/>
              <a:buFont typeface="Georgia"/>
              <a:buNone/>
            </a:pPr>
            <a:r>
              <a:rPr b="1" i="0" lang="en-US" sz="1200" u="none" cap="none" strike="noStrike">
                <a:solidFill>
                  <a:srgbClr val="441120"/>
                </a:solidFill>
                <a:latin typeface="Georgia"/>
                <a:ea typeface="Georgia"/>
                <a:cs typeface="Georgia"/>
                <a:sym typeface="Georgia"/>
              </a:rPr>
              <a:t>Vertex AI · Gemini Flash</a:t>
            </a:r>
            <a:endParaRPr b="0" i="0" sz="1200" u="none" cap="none" strike="noStrike">
              <a:solidFill>
                <a:schemeClr val="dk1"/>
              </a:solidFill>
              <a:latin typeface="Calibri"/>
              <a:ea typeface="Calibri"/>
              <a:cs typeface="Calibri"/>
              <a:sym typeface="Calibri"/>
            </a:endParaRPr>
          </a:p>
        </p:txBody>
      </p:sp>
      <p:sp>
        <p:nvSpPr>
          <p:cNvPr id="231" name="Google Shape;231;p22"/>
          <p:cNvSpPr/>
          <p:nvPr/>
        </p:nvSpPr>
        <p:spPr>
          <a:xfrm>
            <a:off x="3703320" y="2322576"/>
            <a:ext cx="4846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Two structured-JSON calls per request.</a:t>
            </a:r>
            <a:endParaRPr b="0" i="0" sz="1000" u="none" cap="none" strike="noStrike">
              <a:solidFill>
                <a:schemeClr val="dk1"/>
              </a:solidFill>
              <a:latin typeface="Calibri"/>
              <a:ea typeface="Calibri"/>
              <a:cs typeface="Calibri"/>
              <a:sym typeface="Calibri"/>
            </a:endParaRPr>
          </a:p>
        </p:txBody>
      </p:sp>
      <p:sp>
        <p:nvSpPr>
          <p:cNvPr id="232" name="Google Shape;232;p22"/>
          <p:cNvSpPr/>
          <p:nvPr/>
        </p:nvSpPr>
        <p:spPr>
          <a:xfrm>
            <a:off x="457200" y="2752344"/>
            <a:ext cx="8229600" cy="457200"/>
          </a:xfrm>
          <a:prstGeom prst="rect">
            <a:avLst/>
          </a:prstGeom>
          <a:solidFill>
            <a:srgbClr val="FFFFFF"/>
          </a:solidFill>
          <a:ln cap="flat" cmpd="sng" w="12700">
            <a:solidFill>
              <a:srgbClr val="FFFFFF"/>
            </a:solidFill>
            <a:prstDash val="solid"/>
            <a:round/>
            <a:headEnd len="sm" w="sm" type="none"/>
            <a:tailEnd len="sm" w="sm" type="none"/>
          </a:ln>
          <a:effectLst>
            <a:outerShdw blurRad="50800" rotWithShape="0" algn="bl" dir="54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2"/>
          <p:cNvSpPr/>
          <p:nvPr/>
        </p:nvSpPr>
        <p:spPr>
          <a:xfrm>
            <a:off x="457200" y="2752344"/>
            <a:ext cx="73152" cy="4572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2"/>
          <p:cNvSpPr/>
          <p:nvPr/>
        </p:nvSpPr>
        <p:spPr>
          <a:xfrm>
            <a:off x="685800" y="2798064"/>
            <a:ext cx="28346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800"/>
              <a:buFont typeface="Calibri"/>
              <a:buNone/>
            </a:pPr>
            <a:r>
              <a:rPr b="1" i="0" lang="en-US" sz="800" u="none" cap="none" strike="noStrike">
                <a:solidFill>
                  <a:srgbClr val="896F77"/>
                </a:solidFill>
                <a:latin typeface="Calibri"/>
                <a:ea typeface="Calibri"/>
                <a:cs typeface="Calibri"/>
                <a:sym typeface="Calibri"/>
              </a:rPr>
              <a:t>CONTAINERIZATION</a:t>
            </a:r>
            <a:endParaRPr b="0" i="0" sz="800" u="none" cap="none" strike="noStrike">
              <a:solidFill>
                <a:schemeClr val="dk1"/>
              </a:solidFill>
              <a:latin typeface="Calibri"/>
              <a:ea typeface="Calibri"/>
              <a:cs typeface="Calibri"/>
              <a:sym typeface="Calibri"/>
            </a:endParaRPr>
          </a:p>
        </p:txBody>
      </p:sp>
      <p:sp>
        <p:nvSpPr>
          <p:cNvPr id="235" name="Google Shape;235;p22"/>
          <p:cNvSpPr/>
          <p:nvPr/>
        </p:nvSpPr>
        <p:spPr>
          <a:xfrm>
            <a:off x="685800" y="2953512"/>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200"/>
              <a:buFont typeface="Georgia"/>
              <a:buNone/>
            </a:pPr>
            <a:r>
              <a:rPr b="1" i="0" lang="en-US" sz="1200" u="none" cap="none" strike="noStrike">
                <a:solidFill>
                  <a:srgbClr val="441120"/>
                </a:solidFill>
                <a:latin typeface="Georgia"/>
                <a:ea typeface="Georgia"/>
                <a:cs typeface="Georgia"/>
                <a:sym typeface="Georgia"/>
              </a:rPr>
              <a:t>Docker</a:t>
            </a:r>
            <a:endParaRPr b="0" i="0" sz="1200" u="none" cap="none" strike="noStrike">
              <a:solidFill>
                <a:schemeClr val="dk1"/>
              </a:solidFill>
              <a:latin typeface="Calibri"/>
              <a:ea typeface="Calibri"/>
              <a:cs typeface="Calibri"/>
              <a:sym typeface="Calibri"/>
            </a:endParaRPr>
          </a:p>
        </p:txBody>
      </p:sp>
      <p:sp>
        <p:nvSpPr>
          <p:cNvPr id="236" name="Google Shape;236;p22"/>
          <p:cNvSpPr/>
          <p:nvPr/>
        </p:nvSpPr>
        <p:spPr>
          <a:xfrm>
            <a:off x="3703320" y="2843784"/>
            <a:ext cx="4846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Single image: FastAPI on :8000, MLflow on :5000.</a:t>
            </a:r>
            <a:endParaRPr b="0" i="0" sz="1000" u="none" cap="none" strike="noStrike">
              <a:solidFill>
                <a:schemeClr val="dk1"/>
              </a:solidFill>
              <a:latin typeface="Calibri"/>
              <a:ea typeface="Calibri"/>
              <a:cs typeface="Calibri"/>
              <a:sym typeface="Calibri"/>
            </a:endParaRPr>
          </a:p>
        </p:txBody>
      </p:sp>
      <p:sp>
        <p:nvSpPr>
          <p:cNvPr id="237" name="Google Shape;237;p22"/>
          <p:cNvSpPr/>
          <p:nvPr/>
        </p:nvSpPr>
        <p:spPr>
          <a:xfrm>
            <a:off x="457200" y="3273552"/>
            <a:ext cx="8229600" cy="457200"/>
          </a:xfrm>
          <a:prstGeom prst="rect">
            <a:avLst/>
          </a:prstGeom>
          <a:solidFill>
            <a:srgbClr val="FFFFFF"/>
          </a:solidFill>
          <a:ln cap="flat" cmpd="sng" w="12700">
            <a:solidFill>
              <a:srgbClr val="FFFFFF"/>
            </a:solidFill>
            <a:prstDash val="solid"/>
            <a:round/>
            <a:headEnd len="sm" w="sm" type="none"/>
            <a:tailEnd len="sm" w="sm" type="none"/>
          </a:ln>
          <a:effectLst>
            <a:outerShdw blurRad="50800" rotWithShape="0" algn="bl" dir="54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2"/>
          <p:cNvSpPr/>
          <p:nvPr/>
        </p:nvSpPr>
        <p:spPr>
          <a:xfrm>
            <a:off x="457200" y="3273552"/>
            <a:ext cx="73152" cy="4572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2"/>
          <p:cNvSpPr/>
          <p:nvPr/>
        </p:nvSpPr>
        <p:spPr>
          <a:xfrm>
            <a:off x="685800" y="3319272"/>
            <a:ext cx="28346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800"/>
              <a:buFont typeface="Calibri"/>
              <a:buNone/>
            </a:pPr>
            <a:r>
              <a:rPr b="1" i="0" lang="en-US" sz="800" u="none" cap="none" strike="noStrike">
                <a:solidFill>
                  <a:srgbClr val="896F77"/>
                </a:solidFill>
                <a:latin typeface="Calibri"/>
                <a:ea typeface="Calibri"/>
                <a:cs typeface="Calibri"/>
                <a:sym typeface="Calibri"/>
              </a:rPr>
              <a:t>CI / CD · SCHEDULING</a:t>
            </a:r>
            <a:endParaRPr b="0" i="0" sz="800" u="none" cap="none" strike="noStrike">
              <a:solidFill>
                <a:schemeClr val="dk1"/>
              </a:solidFill>
              <a:latin typeface="Calibri"/>
              <a:ea typeface="Calibri"/>
              <a:cs typeface="Calibri"/>
              <a:sym typeface="Calibri"/>
            </a:endParaRPr>
          </a:p>
        </p:txBody>
      </p:sp>
      <p:sp>
        <p:nvSpPr>
          <p:cNvPr id="240" name="Google Shape;240;p22"/>
          <p:cNvSpPr/>
          <p:nvPr/>
        </p:nvSpPr>
        <p:spPr>
          <a:xfrm>
            <a:off x="685800" y="3474720"/>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200"/>
              <a:buFont typeface="Georgia"/>
              <a:buNone/>
            </a:pPr>
            <a:r>
              <a:rPr b="1" i="0" lang="en-US" sz="1200" u="none" cap="none" strike="noStrike">
                <a:solidFill>
                  <a:srgbClr val="441120"/>
                </a:solidFill>
                <a:latin typeface="Georgia"/>
                <a:ea typeface="Georgia"/>
                <a:cs typeface="Georgia"/>
                <a:sym typeface="Georgia"/>
              </a:rPr>
              <a:t>GitHub Actions</a:t>
            </a:r>
            <a:endParaRPr b="0" i="0" sz="1200" u="none" cap="none" strike="noStrike">
              <a:solidFill>
                <a:schemeClr val="dk1"/>
              </a:solidFill>
              <a:latin typeface="Calibri"/>
              <a:ea typeface="Calibri"/>
              <a:cs typeface="Calibri"/>
              <a:sym typeface="Calibri"/>
            </a:endParaRPr>
          </a:p>
        </p:txBody>
      </p:sp>
      <p:sp>
        <p:nvSpPr>
          <p:cNvPr id="241" name="Google Shape;241;p22"/>
          <p:cNvSpPr/>
          <p:nvPr/>
        </p:nvSpPr>
        <p:spPr>
          <a:xfrm>
            <a:off x="3703320" y="3364992"/>
            <a:ext cx="4846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Nightly cron + manual dispatch run pytest in Ubuntu 24.04.</a:t>
            </a:r>
            <a:endParaRPr b="0" i="0" sz="1000" u="none" cap="none" strike="noStrike">
              <a:solidFill>
                <a:schemeClr val="dk1"/>
              </a:solidFill>
              <a:latin typeface="Calibri"/>
              <a:ea typeface="Calibri"/>
              <a:cs typeface="Calibri"/>
              <a:sym typeface="Calibri"/>
            </a:endParaRPr>
          </a:p>
        </p:txBody>
      </p:sp>
      <p:sp>
        <p:nvSpPr>
          <p:cNvPr id="242" name="Google Shape;242;p22"/>
          <p:cNvSpPr/>
          <p:nvPr/>
        </p:nvSpPr>
        <p:spPr>
          <a:xfrm>
            <a:off x="457200" y="3794760"/>
            <a:ext cx="8229600" cy="457200"/>
          </a:xfrm>
          <a:prstGeom prst="rect">
            <a:avLst/>
          </a:prstGeom>
          <a:solidFill>
            <a:srgbClr val="FFFFFF"/>
          </a:solidFill>
          <a:ln cap="flat" cmpd="sng" w="12700">
            <a:solidFill>
              <a:srgbClr val="FFFFFF"/>
            </a:solidFill>
            <a:prstDash val="solid"/>
            <a:round/>
            <a:headEnd len="sm" w="sm" type="none"/>
            <a:tailEnd len="sm" w="sm" type="none"/>
          </a:ln>
          <a:effectLst>
            <a:outerShdw blurRad="50800" rotWithShape="0" algn="bl" dir="54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2"/>
          <p:cNvSpPr/>
          <p:nvPr/>
        </p:nvSpPr>
        <p:spPr>
          <a:xfrm>
            <a:off x="457200" y="3794760"/>
            <a:ext cx="73152" cy="4572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2"/>
          <p:cNvSpPr/>
          <p:nvPr/>
        </p:nvSpPr>
        <p:spPr>
          <a:xfrm>
            <a:off x="685800" y="3840480"/>
            <a:ext cx="28346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800"/>
              <a:buFont typeface="Calibri"/>
              <a:buNone/>
            </a:pPr>
            <a:r>
              <a:rPr b="1" i="0" lang="en-US" sz="800" u="none" cap="none" strike="noStrike">
                <a:solidFill>
                  <a:srgbClr val="896F77"/>
                </a:solidFill>
                <a:latin typeface="Calibri"/>
                <a:ea typeface="Calibri"/>
                <a:cs typeface="Calibri"/>
                <a:sym typeface="Calibri"/>
              </a:rPr>
              <a:t>EXPERIMENT TRACKING</a:t>
            </a:r>
            <a:endParaRPr b="0" i="0" sz="800" u="none" cap="none" strike="noStrike">
              <a:solidFill>
                <a:schemeClr val="dk1"/>
              </a:solidFill>
              <a:latin typeface="Calibri"/>
              <a:ea typeface="Calibri"/>
              <a:cs typeface="Calibri"/>
              <a:sym typeface="Calibri"/>
            </a:endParaRPr>
          </a:p>
        </p:txBody>
      </p:sp>
      <p:sp>
        <p:nvSpPr>
          <p:cNvPr id="245" name="Google Shape;245;p22"/>
          <p:cNvSpPr/>
          <p:nvPr/>
        </p:nvSpPr>
        <p:spPr>
          <a:xfrm>
            <a:off x="685800" y="3995928"/>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200"/>
              <a:buFont typeface="Georgia"/>
              <a:buNone/>
            </a:pPr>
            <a:r>
              <a:rPr b="1" i="0" lang="en-US" sz="1200" u="none" cap="none" strike="noStrike">
                <a:solidFill>
                  <a:srgbClr val="441120"/>
                </a:solidFill>
                <a:latin typeface="Georgia"/>
                <a:ea typeface="Georgia"/>
                <a:cs typeface="Georgia"/>
                <a:sym typeface="Georgia"/>
              </a:rPr>
              <a:t>MLflow</a:t>
            </a:r>
            <a:endParaRPr b="0" i="0" sz="1200" u="none" cap="none" strike="noStrike">
              <a:solidFill>
                <a:schemeClr val="dk1"/>
              </a:solidFill>
              <a:latin typeface="Calibri"/>
              <a:ea typeface="Calibri"/>
              <a:cs typeface="Calibri"/>
              <a:sym typeface="Calibri"/>
            </a:endParaRPr>
          </a:p>
        </p:txBody>
      </p:sp>
      <p:sp>
        <p:nvSpPr>
          <p:cNvPr id="246" name="Google Shape;246;p22"/>
          <p:cNvSpPr/>
          <p:nvPr/>
        </p:nvSpPr>
        <p:spPr>
          <a:xfrm>
            <a:off x="3703320" y="3886200"/>
            <a:ext cx="4846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Tracking server inside the container; runs logged per build.</a:t>
            </a:r>
            <a:endParaRPr b="0" i="0" sz="1000" u="none" cap="none" strike="noStrike">
              <a:solidFill>
                <a:schemeClr val="dk1"/>
              </a:solidFill>
              <a:latin typeface="Calibri"/>
              <a:ea typeface="Calibri"/>
              <a:cs typeface="Calibri"/>
              <a:sym typeface="Calibri"/>
            </a:endParaRPr>
          </a:p>
        </p:txBody>
      </p:sp>
      <p:sp>
        <p:nvSpPr>
          <p:cNvPr id="247" name="Google Shape;247;p22"/>
          <p:cNvSpPr/>
          <p:nvPr/>
        </p:nvSpPr>
        <p:spPr>
          <a:xfrm>
            <a:off x="457200" y="4315968"/>
            <a:ext cx="8229600" cy="457200"/>
          </a:xfrm>
          <a:prstGeom prst="rect">
            <a:avLst/>
          </a:prstGeom>
          <a:solidFill>
            <a:srgbClr val="FFFFFF"/>
          </a:solidFill>
          <a:ln cap="flat" cmpd="sng" w="12700">
            <a:solidFill>
              <a:srgbClr val="FFFFFF"/>
            </a:solidFill>
            <a:prstDash val="solid"/>
            <a:round/>
            <a:headEnd len="sm" w="sm" type="none"/>
            <a:tailEnd len="sm" w="sm" type="none"/>
          </a:ln>
          <a:effectLst>
            <a:outerShdw blurRad="50800" rotWithShape="0" algn="bl" dir="54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2"/>
          <p:cNvSpPr/>
          <p:nvPr/>
        </p:nvSpPr>
        <p:spPr>
          <a:xfrm>
            <a:off x="457200" y="4315968"/>
            <a:ext cx="73152" cy="45720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2"/>
          <p:cNvSpPr/>
          <p:nvPr/>
        </p:nvSpPr>
        <p:spPr>
          <a:xfrm>
            <a:off x="685800" y="4361688"/>
            <a:ext cx="28346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800"/>
              <a:buFont typeface="Calibri"/>
              <a:buNone/>
            </a:pPr>
            <a:r>
              <a:rPr b="1" i="0" lang="en-US" sz="800" u="none" cap="none" strike="noStrike">
                <a:solidFill>
                  <a:srgbClr val="896F77"/>
                </a:solidFill>
                <a:latin typeface="Calibri"/>
                <a:ea typeface="Calibri"/>
                <a:cs typeface="Calibri"/>
                <a:sym typeface="Calibri"/>
              </a:rPr>
              <a:t>HOSTING + SECRETS</a:t>
            </a:r>
            <a:endParaRPr b="0" i="0" sz="800" u="none" cap="none" strike="noStrike">
              <a:solidFill>
                <a:schemeClr val="dk1"/>
              </a:solidFill>
              <a:latin typeface="Calibri"/>
              <a:ea typeface="Calibri"/>
              <a:cs typeface="Calibri"/>
              <a:sym typeface="Calibri"/>
            </a:endParaRPr>
          </a:p>
        </p:txBody>
      </p:sp>
      <p:sp>
        <p:nvSpPr>
          <p:cNvPr id="250" name="Google Shape;250;p22"/>
          <p:cNvSpPr/>
          <p:nvPr/>
        </p:nvSpPr>
        <p:spPr>
          <a:xfrm>
            <a:off x="685800" y="4517136"/>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200"/>
              <a:buFont typeface="Georgia"/>
              <a:buNone/>
            </a:pPr>
            <a:r>
              <a:rPr b="1" i="0" lang="en-US" sz="1200" u="none" cap="none" strike="noStrike">
                <a:solidFill>
                  <a:srgbClr val="441120"/>
                </a:solidFill>
                <a:latin typeface="Georgia"/>
                <a:ea typeface="Georgia"/>
                <a:cs typeface="Georgia"/>
                <a:sym typeface="Georgia"/>
              </a:rPr>
              <a:t>Cloud Run + Secret Manager</a:t>
            </a:r>
            <a:endParaRPr b="0" i="0" sz="1200" u="none" cap="none" strike="noStrike">
              <a:solidFill>
                <a:schemeClr val="dk1"/>
              </a:solidFill>
              <a:latin typeface="Calibri"/>
              <a:ea typeface="Calibri"/>
              <a:cs typeface="Calibri"/>
              <a:sym typeface="Calibri"/>
            </a:endParaRPr>
          </a:p>
        </p:txBody>
      </p:sp>
      <p:sp>
        <p:nvSpPr>
          <p:cNvPr id="251" name="Google Shape;251;p22"/>
          <p:cNvSpPr/>
          <p:nvPr/>
        </p:nvSpPr>
        <p:spPr>
          <a:xfrm>
            <a:off x="3703320" y="4407408"/>
            <a:ext cx="4846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Scale-to-zero service, IAM-authenticated, secrets injected at boot.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256" name="Shape 256"/>
        <p:cNvGrpSpPr/>
        <p:nvPr/>
      </p:nvGrpSpPr>
      <p:grpSpPr>
        <a:xfrm>
          <a:off x="0" y="0"/>
          <a:ext cx="0" cy="0"/>
          <a:chOff x="0" y="0"/>
          <a:chExt cx="0" cy="0"/>
        </a:xfrm>
      </p:grpSpPr>
      <p:sp>
        <p:nvSpPr>
          <p:cNvPr id="257" name="Google Shape;257;p23"/>
          <p:cNvSpPr/>
          <p:nvPr/>
        </p:nvSpPr>
        <p:spPr>
          <a:xfrm>
            <a:off x="8275320" y="274320"/>
            <a:ext cx="164592" cy="164592"/>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3"/>
          <p:cNvSpPr/>
          <p:nvPr/>
        </p:nvSpPr>
        <p:spPr>
          <a:xfrm>
            <a:off x="6675120" y="246888"/>
            <a:ext cx="15544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259" name="Google Shape;259;p23"/>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SYSTEM DESIGN</a:t>
            </a:r>
            <a:endParaRPr b="0" i="0" sz="1000" u="none" cap="none" strike="noStrike">
              <a:solidFill>
                <a:schemeClr val="dk1"/>
              </a:solidFill>
              <a:latin typeface="Calibri"/>
              <a:ea typeface="Calibri"/>
              <a:cs typeface="Calibri"/>
              <a:sym typeface="Calibri"/>
            </a:endParaRPr>
          </a:p>
        </p:txBody>
      </p:sp>
      <p:sp>
        <p:nvSpPr>
          <p:cNvPr id="260" name="Google Shape;260;p23"/>
          <p:cNvSpPr/>
          <p:nvPr/>
        </p:nvSpPr>
        <p:spPr>
          <a:xfrm>
            <a:off x="8045683" y="691252"/>
            <a:ext cx="150600" cy="150600"/>
          </a:xfrm>
          <a:prstGeom prst="rect">
            <a:avLst/>
          </a:prstGeom>
          <a:solidFill>
            <a:srgbClr val="441120"/>
          </a:solidFill>
          <a:ln cap="flat" cmpd="sng" w="11600">
            <a:solidFill>
              <a:srgbClr val="441120"/>
            </a:solidFill>
            <a:prstDash val="solid"/>
            <a:round/>
            <a:headEnd len="sm" w="sm" type="none"/>
            <a:tailEnd len="sm" w="sm" type="none"/>
          </a:ln>
        </p:spPr>
        <p:txBody>
          <a:bodyPr anchorCtr="0" anchor="ctr" bIns="83625" lIns="83625" spcFirstLastPara="1" rIns="83625" wrap="square" tIns="83625">
            <a:noAutofit/>
          </a:bodyPr>
          <a:lstStyle/>
          <a:p>
            <a:pPr indent="0" lvl="0" marL="0" rtl="0" algn="l">
              <a:spcBef>
                <a:spcPts val="0"/>
              </a:spcBef>
              <a:spcAft>
                <a:spcPts val="0"/>
              </a:spcAft>
              <a:buNone/>
            </a:pPr>
            <a:r>
              <a:t/>
            </a:r>
            <a:endParaRPr/>
          </a:p>
        </p:txBody>
      </p:sp>
      <p:sp>
        <p:nvSpPr>
          <p:cNvPr id="261" name="Google Shape;261;p23"/>
          <p:cNvSpPr/>
          <p:nvPr/>
        </p:nvSpPr>
        <p:spPr>
          <a:xfrm>
            <a:off x="6582026" y="666161"/>
            <a:ext cx="1422000" cy="209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41120"/>
              </a:buClr>
              <a:buSzPts val="823"/>
              <a:buFont typeface="Calibri"/>
              <a:buNone/>
            </a:pPr>
            <a:r>
              <a:rPr b="1" i="0" lang="en-US" sz="823" u="none" cap="none" strike="noStrike">
                <a:solidFill>
                  <a:srgbClr val="441120"/>
                </a:solidFill>
                <a:latin typeface="Calibri"/>
                <a:ea typeface="Calibri"/>
                <a:cs typeface="Calibri"/>
                <a:sym typeface="Calibri"/>
              </a:rPr>
              <a:t>THE MOBY DICKS</a:t>
            </a:r>
            <a:endParaRPr b="0" i="0" sz="823" u="none" cap="none" strike="noStrike">
              <a:solidFill>
                <a:schemeClr val="dk1"/>
              </a:solidFill>
              <a:latin typeface="Calibri"/>
              <a:ea typeface="Calibri"/>
              <a:cs typeface="Calibri"/>
              <a:sym typeface="Calibri"/>
            </a:endParaRPr>
          </a:p>
        </p:txBody>
      </p:sp>
      <p:sp>
        <p:nvSpPr>
          <p:cNvPr id="262" name="Google Shape;262;p23"/>
          <p:cNvSpPr/>
          <p:nvPr/>
        </p:nvSpPr>
        <p:spPr>
          <a:xfrm>
            <a:off x="4503852" y="470250"/>
            <a:ext cx="4305300" cy="4651800"/>
          </a:xfrm>
          <a:prstGeom prst="roundRect">
            <a:avLst>
              <a:gd fmla="val 16667" name="adj"/>
            </a:avLst>
          </a:prstGeom>
          <a:solidFill>
            <a:srgbClr val="B6D7A8"/>
          </a:solidFill>
          <a:ln cap="flat" cmpd="sng" w="26725">
            <a:solidFill>
              <a:srgbClr val="38761D"/>
            </a:solidFill>
            <a:prstDash val="solid"/>
            <a:round/>
            <a:headEnd len="sm" w="sm" type="none"/>
            <a:tailEnd len="sm" w="sm" type="none"/>
          </a:ln>
        </p:spPr>
        <p:txBody>
          <a:bodyPr anchorCtr="0" anchor="ctr" bIns="64075" lIns="64075" spcFirstLastPara="1" rIns="64075" wrap="square" tIns="64075">
            <a:noAutofit/>
          </a:bodyPr>
          <a:lstStyle/>
          <a:p>
            <a:pPr indent="0" lvl="0" marL="0" rtl="0" algn="ctr">
              <a:spcBef>
                <a:spcPts val="0"/>
              </a:spcBef>
              <a:spcAft>
                <a:spcPts val="0"/>
              </a:spcAft>
              <a:buNone/>
            </a:pPr>
            <a:r>
              <a:t/>
            </a:r>
            <a:endParaRPr sz="981"/>
          </a:p>
        </p:txBody>
      </p:sp>
      <p:sp>
        <p:nvSpPr>
          <p:cNvPr id="263" name="Google Shape;263;p23"/>
          <p:cNvSpPr/>
          <p:nvPr/>
        </p:nvSpPr>
        <p:spPr>
          <a:xfrm>
            <a:off x="1520788" y="470227"/>
            <a:ext cx="2804400" cy="4651800"/>
          </a:xfrm>
          <a:prstGeom prst="roundRect">
            <a:avLst>
              <a:gd fmla="val 16667" name="adj"/>
            </a:avLst>
          </a:prstGeom>
          <a:solidFill>
            <a:srgbClr val="B4A7D6"/>
          </a:solidFill>
          <a:ln cap="flat" cmpd="sng" w="26725">
            <a:solidFill>
              <a:srgbClr val="674EA7"/>
            </a:solidFill>
            <a:prstDash val="solid"/>
            <a:round/>
            <a:headEnd len="sm" w="sm" type="none"/>
            <a:tailEnd len="sm" w="sm" type="none"/>
          </a:ln>
        </p:spPr>
        <p:txBody>
          <a:bodyPr anchorCtr="0" anchor="ctr" bIns="64075" lIns="64075" spcFirstLastPara="1" rIns="64075" wrap="square" tIns="64075">
            <a:noAutofit/>
          </a:bodyPr>
          <a:lstStyle/>
          <a:p>
            <a:pPr indent="0" lvl="0" marL="0" rtl="0" algn="ctr">
              <a:spcBef>
                <a:spcPts val="0"/>
              </a:spcBef>
              <a:spcAft>
                <a:spcPts val="0"/>
              </a:spcAft>
              <a:buNone/>
            </a:pPr>
            <a:r>
              <a:t/>
            </a:r>
            <a:endParaRPr sz="981"/>
          </a:p>
        </p:txBody>
      </p:sp>
      <p:sp>
        <p:nvSpPr>
          <p:cNvPr id="264" name="Google Shape;264;p23"/>
          <p:cNvSpPr/>
          <p:nvPr/>
        </p:nvSpPr>
        <p:spPr>
          <a:xfrm>
            <a:off x="6602634" y="2117605"/>
            <a:ext cx="1826400" cy="1356900"/>
          </a:xfrm>
          <a:prstGeom prst="roundRect">
            <a:avLst>
              <a:gd fmla="val 16667" name="adj"/>
            </a:avLst>
          </a:prstGeom>
          <a:solidFill>
            <a:schemeClr val="lt1"/>
          </a:solidFill>
          <a:ln cap="flat" cmpd="sng" w="26725">
            <a:solidFill>
              <a:srgbClr val="6FA8DC"/>
            </a:solidFill>
            <a:prstDash val="solid"/>
            <a:round/>
            <a:headEnd len="sm" w="sm" type="none"/>
            <a:tailEnd len="sm" w="sm" type="none"/>
          </a:ln>
        </p:spPr>
        <p:txBody>
          <a:bodyPr anchorCtr="0" anchor="ctr" bIns="64075" lIns="64075" spcFirstLastPara="1" rIns="64075" wrap="square" tIns="64075">
            <a:noAutofit/>
          </a:bodyPr>
          <a:lstStyle/>
          <a:p>
            <a:pPr indent="0" lvl="0" marL="0" rtl="0" algn="l">
              <a:spcBef>
                <a:spcPts val="0"/>
              </a:spcBef>
              <a:spcAft>
                <a:spcPts val="0"/>
              </a:spcAft>
              <a:buNone/>
            </a:pPr>
            <a:r>
              <a:t/>
            </a:r>
            <a:endParaRPr sz="981"/>
          </a:p>
        </p:txBody>
      </p:sp>
      <p:sp>
        <p:nvSpPr>
          <p:cNvPr id="265" name="Google Shape;265;p23"/>
          <p:cNvSpPr/>
          <p:nvPr/>
        </p:nvSpPr>
        <p:spPr>
          <a:xfrm>
            <a:off x="5324072" y="3042530"/>
            <a:ext cx="696300" cy="705300"/>
          </a:xfrm>
          <a:prstGeom prst="roundRect">
            <a:avLst>
              <a:gd fmla="val 16667" name="adj"/>
            </a:avLst>
          </a:prstGeom>
          <a:solidFill>
            <a:schemeClr val="lt1"/>
          </a:solidFill>
          <a:ln cap="flat" cmpd="sng" w="28700">
            <a:solidFill>
              <a:srgbClr val="3D85C6"/>
            </a:solidFill>
            <a:prstDash val="solid"/>
            <a:round/>
            <a:headEnd len="sm" w="sm" type="none"/>
            <a:tailEnd len="sm" w="sm" type="none"/>
          </a:ln>
        </p:spPr>
        <p:txBody>
          <a:bodyPr anchorCtr="0" anchor="ctr" bIns="68850" lIns="68850" spcFirstLastPara="1" rIns="68850" wrap="square" tIns="68850">
            <a:noAutofit/>
          </a:bodyPr>
          <a:lstStyle/>
          <a:p>
            <a:pPr indent="0" lvl="0" marL="0" rtl="0" algn="ctr">
              <a:spcBef>
                <a:spcPts val="0"/>
              </a:spcBef>
              <a:spcAft>
                <a:spcPts val="0"/>
              </a:spcAft>
              <a:buNone/>
            </a:pPr>
            <a:r>
              <a:t/>
            </a:r>
            <a:endParaRPr sz="1054"/>
          </a:p>
        </p:txBody>
      </p:sp>
      <p:pic>
        <p:nvPicPr>
          <p:cNvPr id="266" name="Google Shape;266;p23"/>
          <p:cNvPicPr preferRelativeResize="0"/>
          <p:nvPr/>
        </p:nvPicPr>
        <p:blipFill rotWithShape="1">
          <a:blip r:embed="rId3">
            <a:alphaModFix/>
          </a:blip>
          <a:srcRect b="8445" l="29828" r="24296" t="9080"/>
          <a:stretch/>
        </p:blipFill>
        <p:spPr>
          <a:xfrm>
            <a:off x="2549199" y="868822"/>
            <a:ext cx="747560" cy="705506"/>
          </a:xfrm>
          <a:prstGeom prst="rect">
            <a:avLst/>
          </a:prstGeom>
          <a:noFill/>
          <a:ln>
            <a:noFill/>
          </a:ln>
        </p:spPr>
      </p:pic>
      <p:sp>
        <p:nvSpPr>
          <p:cNvPr id="267" name="Google Shape;267;p23"/>
          <p:cNvSpPr/>
          <p:nvPr/>
        </p:nvSpPr>
        <p:spPr>
          <a:xfrm rot="-5400000">
            <a:off x="5277781" y="799383"/>
            <a:ext cx="783600" cy="1226700"/>
          </a:xfrm>
          <a:prstGeom prst="roundRect">
            <a:avLst>
              <a:gd fmla="val 16667" name="adj"/>
            </a:avLst>
          </a:prstGeom>
          <a:solidFill>
            <a:schemeClr val="lt1"/>
          </a:solidFill>
          <a:ln cap="flat" cmpd="sng" w="20225">
            <a:solidFill>
              <a:srgbClr val="6FA8DC"/>
            </a:solidFill>
            <a:prstDash val="solid"/>
            <a:round/>
            <a:headEnd len="sm" w="sm" type="none"/>
            <a:tailEnd len="sm" w="sm" type="none"/>
          </a:ln>
        </p:spPr>
        <p:txBody>
          <a:bodyPr anchorCtr="0" anchor="ctr" bIns="48500" lIns="48500" spcFirstLastPara="1" rIns="48500" wrap="square" tIns="48500">
            <a:noAutofit/>
          </a:bodyPr>
          <a:lstStyle/>
          <a:p>
            <a:pPr indent="0" lvl="0" marL="0" rtl="0" algn="ctr">
              <a:spcBef>
                <a:spcPts val="0"/>
              </a:spcBef>
              <a:spcAft>
                <a:spcPts val="0"/>
              </a:spcAft>
              <a:buNone/>
            </a:pPr>
            <a:r>
              <a:t/>
            </a:r>
            <a:endParaRPr sz="742"/>
          </a:p>
        </p:txBody>
      </p:sp>
      <p:sp>
        <p:nvSpPr>
          <p:cNvPr id="268" name="Google Shape;268;p23"/>
          <p:cNvSpPr txBox="1"/>
          <p:nvPr/>
        </p:nvSpPr>
        <p:spPr>
          <a:xfrm>
            <a:off x="4507741" y="2494774"/>
            <a:ext cx="2283300" cy="456600"/>
          </a:xfrm>
          <a:prstGeom prst="rect">
            <a:avLst/>
          </a:prstGeom>
          <a:noFill/>
          <a:ln>
            <a:noFill/>
          </a:ln>
        </p:spPr>
        <p:txBody>
          <a:bodyPr anchorCtr="0" anchor="t" bIns="68850" lIns="68850" spcFirstLastPara="1" rIns="68850" wrap="square" tIns="68850">
            <a:noAutofit/>
          </a:bodyPr>
          <a:lstStyle/>
          <a:p>
            <a:pPr indent="0" lvl="0" marL="0" rtl="0" algn="l">
              <a:spcBef>
                <a:spcPts val="0"/>
              </a:spcBef>
              <a:spcAft>
                <a:spcPts val="0"/>
              </a:spcAft>
              <a:buNone/>
            </a:pPr>
            <a:r>
              <a:t/>
            </a:r>
            <a:endParaRPr b="1" sz="1103">
              <a:solidFill>
                <a:schemeClr val="dk1"/>
              </a:solidFill>
            </a:endParaRPr>
          </a:p>
        </p:txBody>
      </p:sp>
      <p:pic>
        <p:nvPicPr>
          <p:cNvPr id="269" name="Google Shape;269;p23"/>
          <p:cNvPicPr preferRelativeResize="0"/>
          <p:nvPr/>
        </p:nvPicPr>
        <p:blipFill rotWithShape="1">
          <a:blip r:embed="rId4">
            <a:alphaModFix/>
          </a:blip>
          <a:srcRect b="7036" l="32194" r="32126" t="6838"/>
          <a:stretch/>
        </p:blipFill>
        <p:spPr>
          <a:xfrm>
            <a:off x="7253420" y="2157782"/>
            <a:ext cx="524834" cy="665143"/>
          </a:xfrm>
          <a:prstGeom prst="rect">
            <a:avLst/>
          </a:prstGeom>
          <a:noFill/>
          <a:ln>
            <a:noFill/>
          </a:ln>
        </p:spPr>
      </p:pic>
      <p:pic>
        <p:nvPicPr>
          <p:cNvPr id="270" name="Google Shape;270;p23"/>
          <p:cNvPicPr preferRelativeResize="0"/>
          <p:nvPr/>
        </p:nvPicPr>
        <p:blipFill rotWithShape="1">
          <a:blip r:embed="rId5">
            <a:alphaModFix/>
          </a:blip>
          <a:srcRect b="0" l="0" r="60038" t="0"/>
          <a:stretch/>
        </p:blipFill>
        <p:spPr>
          <a:xfrm>
            <a:off x="5206321" y="1104356"/>
            <a:ext cx="363945" cy="351822"/>
          </a:xfrm>
          <a:prstGeom prst="rect">
            <a:avLst/>
          </a:prstGeom>
          <a:noFill/>
          <a:ln>
            <a:noFill/>
          </a:ln>
        </p:spPr>
      </p:pic>
      <p:sp>
        <p:nvSpPr>
          <p:cNvPr id="271" name="Google Shape;271;p23"/>
          <p:cNvSpPr/>
          <p:nvPr/>
        </p:nvSpPr>
        <p:spPr>
          <a:xfrm>
            <a:off x="528919" y="2465691"/>
            <a:ext cx="860100" cy="783600"/>
          </a:xfrm>
          <a:prstGeom prst="roundRect">
            <a:avLst>
              <a:gd fmla="val 16667" name="adj"/>
            </a:avLst>
          </a:prstGeom>
          <a:noFill/>
          <a:ln cap="flat" cmpd="sng" w="17225">
            <a:solidFill>
              <a:srgbClr val="6FA8DC"/>
            </a:solidFill>
            <a:prstDash val="solid"/>
            <a:round/>
            <a:headEnd len="sm" w="sm" type="none"/>
            <a:tailEnd len="sm" w="sm" type="none"/>
          </a:ln>
        </p:spPr>
        <p:txBody>
          <a:bodyPr anchorCtr="0" anchor="ctr" bIns="41400" lIns="41400" spcFirstLastPara="1" rIns="41400" wrap="square" tIns="41400">
            <a:noAutofit/>
          </a:bodyPr>
          <a:lstStyle/>
          <a:p>
            <a:pPr indent="0" lvl="0" marL="0" rtl="0" algn="ctr">
              <a:spcBef>
                <a:spcPts val="0"/>
              </a:spcBef>
              <a:spcAft>
                <a:spcPts val="0"/>
              </a:spcAft>
              <a:buNone/>
            </a:pPr>
            <a:r>
              <a:t/>
            </a:r>
            <a:endParaRPr sz="634"/>
          </a:p>
        </p:txBody>
      </p:sp>
      <p:pic>
        <p:nvPicPr>
          <p:cNvPr id="272" name="Google Shape;272;p23"/>
          <p:cNvPicPr preferRelativeResize="0"/>
          <p:nvPr/>
        </p:nvPicPr>
        <p:blipFill>
          <a:blip r:embed="rId6">
            <a:alphaModFix/>
          </a:blip>
          <a:stretch>
            <a:fillRect/>
          </a:stretch>
        </p:blipFill>
        <p:spPr>
          <a:xfrm>
            <a:off x="5264549" y="1502324"/>
            <a:ext cx="747559" cy="321452"/>
          </a:xfrm>
          <a:prstGeom prst="rect">
            <a:avLst/>
          </a:prstGeom>
          <a:noFill/>
          <a:ln>
            <a:noFill/>
          </a:ln>
        </p:spPr>
      </p:pic>
      <p:pic>
        <p:nvPicPr>
          <p:cNvPr id="273" name="Google Shape;273;p23"/>
          <p:cNvPicPr preferRelativeResize="0"/>
          <p:nvPr/>
        </p:nvPicPr>
        <p:blipFill>
          <a:blip r:embed="rId7">
            <a:alphaModFix/>
          </a:blip>
          <a:stretch>
            <a:fillRect/>
          </a:stretch>
        </p:blipFill>
        <p:spPr>
          <a:xfrm>
            <a:off x="611028" y="2509381"/>
            <a:ext cx="696033" cy="696033"/>
          </a:xfrm>
          <a:prstGeom prst="rect">
            <a:avLst/>
          </a:prstGeom>
          <a:noFill/>
          <a:ln>
            <a:noFill/>
          </a:ln>
        </p:spPr>
      </p:pic>
      <p:pic>
        <p:nvPicPr>
          <p:cNvPr id="274" name="Google Shape;274;p23"/>
          <p:cNvPicPr preferRelativeResize="0"/>
          <p:nvPr/>
        </p:nvPicPr>
        <p:blipFill>
          <a:blip r:embed="rId8">
            <a:alphaModFix/>
          </a:blip>
          <a:stretch>
            <a:fillRect/>
          </a:stretch>
        </p:blipFill>
        <p:spPr>
          <a:xfrm>
            <a:off x="5680961" y="1064490"/>
            <a:ext cx="413146" cy="431537"/>
          </a:xfrm>
          <a:prstGeom prst="rect">
            <a:avLst/>
          </a:prstGeom>
          <a:noFill/>
          <a:ln>
            <a:noFill/>
          </a:ln>
        </p:spPr>
      </p:pic>
      <p:sp>
        <p:nvSpPr>
          <p:cNvPr id="275" name="Google Shape;275;p23"/>
          <p:cNvSpPr txBox="1"/>
          <p:nvPr/>
        </p:nvSpPr>
        <p:spPr>
          <a:xfrm>
            <a:off x="202959" y="3848075"/>
            <a:ext cx="1679400" cy="349200"/>
          </a:xfrm>
          <a:prstGeom prst="rect">
            <a:avLst/>
          </a:prstGeom>
          <a:noFill/>
          <a:ln>
            <a:noFill/>
          </a:ln>
        </p:spPr>
        <p:txBody>
          <a:bodyPr anchorCtr="0" anchor="t" bIns="83625" lIns="83625" spcFirstLastPara="1" rIns="83625" wrap="square" tIns="83625">
            <a:noAutofit/>
          </a:bodyPr>
          <a:lstStyle/>
          <a:p>
            <a:pPr indent="0" lvl="0" marL="0" rtl="0" algn="ctr">
              <a:spcBef>
                <a:spcPts val="0"/>
              </a:spcBef>
              <a:spcAft>
                <a:spcPts val="0"/>
              </a:spcAft>
              <a:buNone/>
            </a:pPr>
            <a:r>
              <a:rPr b="1" lang="en-US" sz="1006">
                <a:solidFill>
                  <a:schemeClr val="dk1"/>
                </a:solidFill>
              </a:rPr>
              <a:t>Final</a:t>
            </a:r>
            <a:endParaRPr b="1" sz="1006">
              <a:solidFill>
                <a:schemeClr val="dk1"/>
              </a:solidFill>
            </a:endParaRPr>
          </a:p>
          <a:p>
            <a:pPr indent="0" lvl="0" marL="0" rtl="0" algn="ctr">
              <a:spcBef>
                <a:spcPts val="0"/>
              </a:spcBef>
              <a:spcAft>
                <a:spcPts val="0"/>
              </a:spcAft>
              <a:buNone/>
            </a:pPr>
            <a:r>
              <a:rPr b="1" lang="en-US" sz="1006">
                <a:solidFill>
                  <a:schemeClr val="dk1"/>
                </a:solidFill>
              </a:rPr>
              <a:t>Curriculum</a:t>
            </a:r>
            <a:endParaRPr b="1" sz="1006">
              <a:solidFill>
                <a:schemeClr val="dk1"/>
              </a:solidFill>
            </a:endParaRPr>
          </a:p>
        </p:txBody>
      </p:sp>
      <p:sp>
        <p:nvSpPr>
          <p:cNvPr id="276" name="Google Shape;276;p23"/>
          <p:cNvSpPr txBox="1"/>
          <p:nvPr/>
        </p:nvSpPr>
        <p:spPr>
          <a:xfrm>
            <a:off x="6326850" y="934424"/>
            <a:ext cx="1679400" cy="431700"/>
          </a:xfrm>
          <a:prstGeom prst="rect">
            <a:avLst/>
          </a:prstGeom>
          <a:noFill/>
          <a:ln>
            <a:noFill/>
          </a:ln>
        </p:spPr>
        <p:txBody>
          <a:bodyPr anchorCtr="0" anchor="t" bIns="83625" lIns="83625" spcFirstLastPara="1" rIns="83625" wrap="square" tIns="83625">
            <a:noAutofit/>
          </a:bodyPr>
          <a:lstStyle/>
          <a:p>
            <a:pPr indent="0" lvl="0" marL="0" rtl="0" algn="ctr">
              <a:spcBef>
                <a:spcPts val="0"/>
              </a:spcBef>
              <a:spcAft>
                <a:spcPts val="0"/>
              </a:spcAft>
              <a:buNone/>
            </a:pPr>
            <a:r>
              <a:rPr b="1" lang="en-US" sz="1006">
                <a:solidFill>
                  <a:schemeClr val="dk1"/>
                </a:solidFill>
              </a:rPr>
              <a:t>Scrape Book Ratings &amp; Reviewer Sentiment</a:t>
            </a:r>
            <a:endParaRPr b="1" sz="1006">
              <a:solidFill>
                <a:schemeClr val="dk1"/>
              </a:solidFill>
            </a:endParaRPr>
          </a:p>
        </p:txBody>
      </p:sp>
      <p:sp>
        <p:nvSpPr>
          <p:cNvPr id="277" name="Google Shape;277;p23"/>
          <p:cNvSpPr/>
          <p:nvPr/>
        </p:nvSpPr>
        <p:spPr>
          <a:xfrm>
            <a:off x="6602627" y="4062585"/>
            <a:ext cx="1826400" cy="833100"/>
          </a:xfrm>
          <a:prstGeom prst="roundRect">
            <a:avLst>
              <a:gd fmla="val 16667" name="adj"/>
            </a:avLst>
          </a:prstGeom>
          <a:solidFill>
            <a:schemeClr val="lt1"/>
          </a:solidFill>
          <a:ln cap="flat" cmpd="sng" w="26725">
            <a:solidFill>
              <a:srgbClr val="6D9EEB"/>
            </a:solidFill>
            <a:prstDash val="solid"/>
            <a:round/>
            <a:headEnd len="sm" w="sm" type="none"/>
            <a:tailEnd len="sm" w="sm" type="none"/>
          </a:ln>
        </p:spPr>
        <p:txBody>
          <a:bodyPr anchorCtr="0" anchor="ctr" bIns="64075" lIns="64075" spcFirstLastPara="1" rIns="64075" wrap="square" tIns="64075">
            <a:noAutofit/>
          </a:bodyPr>
          <a:lstStyle/>
          <a:p>
            <a:pPr indent="0" lvl="0" marL="0" rtl="0" algn="ctr">
              <a:spcBef>
                <a:spcPts val="0"/>
              </a:spcBef>
              <a:spcAft>
                <a:spcPts val="0"/>
              </a:spcAft>
              <a:buNone/>
            </a:pPr>
            <a:r>
              <a:rPr b="1" lang="en-US" sz="1098">
                <a:solidFill>
                  <a:schemeClr val="dk1"/>
                </a:solidFill>
              </a:rPr>
              <a:t>Build LLM prompt using user survey and candidate books</a:t>
            </a:r>
            <a:endParaRPr sz="981">
              <a:solidFill>
                <a:schemeClr val="dk1"/>
              </a:solidFill>
            </a:endParaRPr>
          </a:p>
        </p:txBody>
      </p:sp>
      <p:sp>
        <p:nvSpPr>
          <p:cNvPr id="278" name="Google Shape;278;p23"/>
          <p:cNvSpPr/>
          <p:nvPr/>
        </p:nvSpPr>
        <p:spPr>
          <a:xfrm>
            <a:off x="6671556" y="2913859"/>
            <a:ext cx="244200" cy="252000"/>
          </a:xfrm>
          <a:prstGeom prst="can">
            <a:avLst>
              <a:gd fmla="val 25000" name="adj"/>
            </a:avLst>
          </a:prstGeom>
          <a:noFill/>
          <a:ln cap="flat" cmpd="sng" w="23425">
            <a:solidFill>
              <a:srgbClr val="6FA8DC"/>
            </a:solidFill>
            <a:prstDash val="solid"/>
            <a:round/>
            <a:headEnd len="sm" w="sm" type="none"/>
            <a:tailEnd len="sm" w="sm" type="none"/>
          </a:ln>
        </p:spPr>
        <p:txBody>
          <a:bodyPr anchorCtr="0" anchor="ctr" bIns="73275" lIns="73275" spcFirstLastPara="1" rIns="73275" wrap="square" tIns="73275">
            <a:noAutofit/>
          </a:bodyPr>
          <a:lstStyle/>
          <a:p>
            <a:pPr indent="0" lvl="0" marL="0" rtl="0" algn="ctr">
              <a:spcBef>
                <a:spcPts val="0"/>
              </a:spcBef>
              <a:spcAft>
                <a:spcPts val="0"/>
              </a:spcAft>
              <a:buNone/>
            </a:pPr>
            <a:r>
              <a:t/>
            </a:r>
            <a:endParaRPr sz="1122"/>
          </a:p>
        </p:txBody>
      </p:sp>
      <p:sp>
        <p:nvSpPr>
          <p:cNvPr id="279" name="Google Shape;279;p23"/>
          <p:cNvSpPr txBox="1"/>
          <p:nvPr/>
        </p:nvSpPr>
        <p:spPr>
          <a:xfrm>
            <a:off x="6585026" y="3169917"/>
            <a:ext cx="478500" cy="186000"/>
          </a:xfrm>
          <a:prstGeom prst="rect">
            <a:avLst/>
          </a:prstGeom>
          <a:noFill/>
          <a:ln>
            <a:noFill/>
          </a:ln>
        </p:spPr>
        <p:txBody>
          <a:bodyPr anchorCtr="0" anchor="t" bIns="73275" lIns="73275" spcFirstLastPara="1" rIns="73275" wrap="square" tIns="73275">
            <a:noAutofit/>
          </a:bodyPr>
          <a:lstStyle/>
          <a:p>
            <a:pPr indent="0" lvl="0" marL="0" rtl="0" algn="l">
              <a:spcBef>
                <a:spcPts val="0"/>
              </a:spcBef>
              <a:spcAft>
                <a:spcPts val="0"/>
              </a:spcAft>
              <a:buNone/>
            </a:pPr>
            <a:r>
              <a:rPr b="1" lang="en-US" sz="722">
                <a:solidFill>
                  <a:schemeClr val="dk1"/>
                </a:solidFill>
              </a:rPr>
              <a:t>Profile</a:t>
            </a:r>
            <a:endParaRPr b="1" sz="722">
              <a:solidFill>
                <a:schemeClr val="dk1"/>
              </a:solidFill>
            </a:endParaRPr>
          </a:p>
        </p:txBody>
      </p:sp>
      <p:sp>
        <p:nvSpPr>
          <p:cNvPr id="280" name="Google Shape;280;p23"/>
          <p:cNvSpPr txBox="1"/>
          <p:nvPr/>
        </p:nvSpPr>
        <p:spPr>
          <a:xfrm>
            <a:off x="6282770" y="3614652"/>
            <a:ext cx="1059600" cy="554400"/>
          </a:xfrm>
          <a:prstGeom prst="rect">
            <a:avLst/>
          </a:prstGeom>
          <a:noFill/>
          <a:ln>
            <a:noFill/>
          </a:ln>
        </p:spPr>
        <p:txBody>
          <a:bodyPr anchorCtr="0" anchor="t" bIns="83625" lIns="83625" spcFirstLastPara="1" rIns="83625" wrap="square" tIns="83625">
            <a:noAutofit/>
          </a:bodyPr>
          <a:lstStyle/>
          <a:p>
            <a:pPr indent="0" lvl="0" marL="0" rtl="0" algn="ctr">
              <a:spcBef>
                <a:spcPts val="0"/>
              </a:spcBef>
              <a:spcAft>
                <a:spcPts val="0"/>
              </a:spcAft>
              <a:buNone/>
            </a:pPr>
            <a:r>
              <a:rPr b="1" lang="en-US" sz="1006">
                <a:solidFill>
                  <a:schemeClr val="dk1"/>
                </a:solidFill>
              </a:rPr>
              <a:t>Prompt Vertex AI</a:t>
            </a:r>
            <a:endParaRPr b="1" sz="1006">
              <a:solidFill>
                <a:schemeClr val="dk1"/>
              </a:solidFill>
            </a:endParaRPr>
          </a:p>
        </p:txBody>
      </p:sp>
      <p:sp>
        <p:nvSpPr>
          <p:cNvPr id="281" name="Google Shape;281;p23"/>
          <p:cNvSpPr/>
          <p:nvPr/>
        </p:nvSpPr>
        <p:spPr>
          <a:xfrm>
            <a:off x="7104685" y="2913859"/>
            <a:ext cx="244200" cy="252000"/>
          </a:xfrm>
          <a:prstGeom prst="can">
            <a:avLst>
              <a:gd fmla="val 25000" name="adj"/>
            </a:avLst>
          </a:prstGeom>
          <a:noFill/>
          <a:ln cap="flat" cmpd="sng" w="23425">
            <a:solidFill>
              <a:srgbClr val="6FA8DC"/>
            </a:solidFill>
            <a:prstDash val="solid"/>
            <a:round/>
            <a:headEnd len="sm" w="sm" type="none"/>
            <a:tailEnd len="sm" w="sm" type="none"/>
          </a:ln>
        </p:spPr>
        <p:txBody>
          <a:bodyPr anchorCtr="0" anchor="ctr" bIns="73275" lIns="73275" spcFirstLastPara="1" rIns="73275" wrap="square" tIns="73275">
            <a:noAutofit/>
          </a:bodyPr>
          <a:lstStyle/>
          <a:p>
            <a:pPr indent="0" lvl="0" marL="0" rtl="0" algn="ctr">
              <a:spcBef>
                <a:spcPts val="0"/>
              </a:spcBef>
              <a:spcAft>
                <a:spcPts val="0"/>
              </a:spcAft>
              <a:buNone/>
            </a:pPr>
            <a:r>
              <a:t/>
            </a:r>
            <a:endParaRPr sz="1122"/>
          </a:p>
        </p:txBody>
      </p:sp>
      <p:sp>
        <p:nvSpPr>
          <p:cNvPr id="282" name="Google Shape;282;p23"/>
          <p:cNvSpPr txBox="1"/>
          <p:nvPr/>
        </p:nvSpPr>
        <p:spPr>
          <a:xfrm>
            <a:off x="6984644" y="3169917"/>
            <a:ext cx="478500" cy="186000"/>
          </a:xfrm>
          <a:prstGeom prst="rect">
            <a:avLst/>
          </a:prstGeom>
          <a:noFill/>
          <a:ln>
            <a:noFill/>
          </a:ln>
        </p:spPr>
        <p:txBody>
          <a:bodyPr anchorCtr="0" anchor="t" bIns="73275" lIns="73275" spcFirstLastPara="1" rIns="73275" wrap="square" tIns="73275">
            <a:noAutofit/>
          </a:bodyPr>
          <a:lstStyle/>
          <a:p>
            <a:pPr indent="0" lvl="0" marL="0" rtl="0" algn="l">
              <a:spcBef>
                <a:spcPts val="0"/>
              </a:spcBef>
              <a:spcAft>
                <a:spcPts val="0"/>
              </a:spcAft>
              <a:buNone/>
            </a:pPr>
            <a:r>
              <a:rPr b="1" lang="en-US" sz="722">
                <a:solidFill>
                  <a:schemeClr val="dk1"/>
                </a:solidFill>
              </a:rPr>
              <a:t>Survey</a:t>
            </a:r>
            <a:endParaRPr b="1" sz="722">
              <a:solidFill>
                <a:schemeClr val="dk1"/>
              </a:solidFill>
            </a:endParaRPr>
          </a:p>
        </p:txBody>
      </p:sp>
      <p:sp>
        <p:nvSpPr>
          <p:cNvPr id="283" name="Google Shape;283;p23"/>
          <p:cNvSpPr/>
          <p:nvPr/>
        </p:nvSpPr>
        <p:spPr>
          <a:xfrm>
            <a:off x="7555435" y="2913859"/>
            <a:ext cx="244200" cy="252000"/>
          </a:xfrm>
          <a:prstGeom prst="can">
            <a:avLst>
              <a:gd fmla="val 25000" name="adj"/>
            </a:avLst>
          </a:prstGeom>
          <a:noFill/>
          <a:ln cap="flat" cmpd="sng" w="23425">
            <a:solidFill>
              <a:srgbClr val="6FA8DC"/>
            </a:solidFill>
            <a:prstDash val="solid"/>
            <a:round/>
            <a:headEnd len="sm" w="sm" type="none"/>
            <a:tailEnd len="sm" w="sm" type="none"/>
          </a:ln>
        </p:spPr>
        <p:txBody>
          <a:bodyPr anchorCtr="0" anchor="ctr" bIns="73275" lIns="73275" spcFirstLastPara="1" rIns="73275" wrap="square" tIns="73275">
            <a:noAutofit/>
          </a:bodyPr>
          <a:lstStyle/>
          <a:p>
            <a:pPr indent="0" lvl="0" marL="0" rtl="0" algn="ctr">
              <a:spcBef>
                <a:spcPts val="0"/>
              </a:spcBef>
              <a:spcAft>
                <a:spcPts val="0"/>
              </a:spcAft>
              <a:buNone/>
            </a:pPr>
            <a:r>
              <a:t/>
            </a:r>
            <a:endParaRPr sz="1122"/>
          </a:p>
          <a:p>
            <a:pPr indent="0" lvl="0" marL="0" rtl="0" algn="ctr">
              <a:spcBef>
                <a:spcPts val="0"/>
              </a:spcBef>
              <a:spcAft>
                <a:spcPts val="0"/>
              </a:spcAft>
              <a:buNone/>
            </a:pPr>
            <a:r>
              <a:t/>
            </a:r>
            <a:endParaRPr sz="1122"/>
          </a:p>
        </p:txBody>
      </p:sp>
      <p:sp>
        <p:nvSpPr>
          <p:cNvPr id="284" name="Google Shape;284;p23"/>
          <p:cNvSpPr txBox="1"/>
          <p:nvPr/>
        </p:nvSpPr>
        <p:spPr>
          <a:xfrm>
            <a:off x="7415079" y="3169917"/>
            <a:ext cx="525000" cy="186000"/>
          </a:xfrm>
          <a:prstGeom prst="rect">
            <a:avLst/>
          </a:prstGeom>
          <a:noFill/>
          <a:ln>
            <a:noFill/>
          </a:ln>
        </p:spPr>
        <p:txBody>
          <a:bodyPr anchorCtr="0" anchor="t" bIns="73275" lIns="73275" spcFirstLastPara="1" rIns="73275" wrap="square" tIns="73275">
            <a:noAutofit/>
          </a:bodyPr>
          <a:lstStyle/>
          <a:p>
            <a:pPr indent="0" lvl="0" marL="0" rtl="0" algn="l">
              <a:spcBef>
                <a:spcPts val="0"/>
              </a:spcBef>
              <a:spcAft>
                <a:spcPts val="0"/>
              </a:spcAft>
              <a:buNone/>
            </a:pPr>
            <a:r>
              <a:rPr b="1" lang="en-US" sz="722">
                <a:solidFill>
                  <a:schemeClr val="dk1"/>
                </a:solidFill>
              </a:rPr>
              <a:t>Ratings</a:t>
            </a:r>
            <a:endParaRPr b="1" sz="722">
              <a:solidFill>
                <a:schemeClr val="dk1"/>
              </a:solidFill>
            </a:endParaRPr>
          </a:p>
        </p:txBody>
      </p:sp>
      <p:sp>
        <p:nvSpPr>
          <p:cNvPr id="285" name="Google Shape;285;p23"/>
          <p:cNvSpPr/>
          <p:nvPr/>
        </p:nvSpPr>
        <p:spPr>
          <a:xfrm>
            <a:off x="8006201" y="2913859"/>
            <a:ext cx="244200" cy="252000"/>
          </a:xfrm>
          <a:prstGeom prst="can">
            <a:avLst>
              <a:gd fmla="val 25000" name="adj"/>
            </a:avLst>
          </a:prstGeom>
          <a:noFill/>
          <a:ln cap="flat" cmpd="sng" w="23425">
            <a:solidFill>
              <a:srgbClr val="6FA8DC"/>
            </a:solidFill>
            <a:prstDash val="solid"/>
            <a:round/>
            <a:headEnd len="sm" w="sm" type="none"/>
            <a:tailEnd len="sm" w="sm" type="none"/>
          </a:ln>
        </p:spPr>
        <p:txBody>
          <a:bodyPr anchorCtr="0" anchor="ctr" bIns="73275" lIns="73275" spcFirstLastPara="1" rIns="73275" wrap="square" tIns="73275">
            <a:noAutofit/>
          </a:bodyPr>
          <a:lstStyle/>
          <a:p>
            <a:pPr indent="0" lvl="0" marL="0" rtl="0" algn="ctr">
              <a:spcBef>
                <a:spcPts val="0"/>
              </a:spcBef>
              <a:spcAft>
                <a:spcPts val="0"/>
              </a:spcAft>
              <a:buNone/>
            </a:pPr>
            <a:r>
              <a:t/>
            </a:r>
            <a:endParaRPr sz="1122"/>
          </a:p>
          <a:p>
            <a:pPr indent="0" lvl="0" marL="0" rtl="0" algn="ctr">
              <a:spcBef>
                <a:spcPts val="0"/>
              </a:spcBef>
              <a:spcAft>
                <a:spcPts val="0"/>
              </a:spcAft>
              <a:buNone/>
            </a:pPr>
            <a:r>
              <a:t/>
            </a:r>
            <a:endParaRPr sz="1122"/>
          </a:p>
        </p:txBody>
      </p:sp>
      <p:sp>
        <p:nvSpPr>
          <p:cNvPr id="286" name="Google Shape;286;p23"/>
          <p:cNvSpPr txBox="1"/>
          <p:nvPr/>
        </p:nvSpPr>
        <p:spPr>
          <a:xfrm>
            <a:off x="7783886" y="3169917"/>
            <a:ext cx="696300" cy="186000"/>
          </a:xfrm>
          <a:prstGeom prst="rect">
            <a:avLst/>
          </a:prstGeom>
          <a:noFill/>
          <a:ln>
            <a:noFill/>
          </a:ln>
        </p:spPr>
        <p:txBody>
          <a:bodyPr anchorCtr="0" anchor="t" bIns="73275" lIns="73275" spcFirstLastPara="1" rIns="73275" wrap="square" tIns="73275">
            <a:noAutofit/>
          </a:bodyPr>
          <a:lstStyle/>
          <a:p>
            <a:pPr indent="0" lvl="0" marL="0" rtl="0" algn="l">
              <a:spcBef>
                <a:spcPts val="0"/>
              </a:spcBef>
              <a:spcAft>
                <a:spcPts val="0"/>
              </a:spcAft>
              <a:buNone/>
            </a:pPr>
            <a:r>
              <a:rPr b="1" lang="en-US" sz="722">
                <a:solidFill>
                  <a:schemeClr val="dk1"/>
                </a:solidFill>
              </a:rPr>
              <a:t>Curriculum</a:t>
            </a:r>
            <a:endParaRPr b="1" sz="722">
              <a:solidFill>
                <a:schemeClr val="dk1"/>
              </a:solidFill>
            </a:endParaRPr>
          </a:p>
        </p:txBody>
      </p:sp>
      <p:sp>
        <p:nvSpPr>
          <p:cNvPr id="287" name="Google Shape;287;p23"/>
          <p:cNvSpPr txBox="1"/>
          <p:nvPr/>
        </p:nvSpPr>
        <p:spPr>
          <a:xfrm>
            <a:off x="1882287" y="440340"/>
            <a:ext cx="2081400" cy="349200"/>
          </a:xfrm>
          <a:prstGeom prst="rect">
            <a:avLst/>
          </a:prstGeom>
          <a:noFill/>
          <a:ln>
            <a:noFill/>
          </a:ln>
        </p:spPr>
        <p:txBody>
          <a:bodyPr anchorCtr="0" anchor="t" bIns="83625" lIns="83625" spcFirstLastPara="1" rIns="83625" wrap="square" tIns="83625">
            <a:noAutofit/>
          </a:bodyPr>
          <a:lstStyle/>
          <a:p>
            <a:pPr indent="0" lvl="0" marL="0" rtl="0" algn="ctr">
              <a:spcBef>
                <a:spcPts val="0"/>
              </a:spcBef>
              <a:spcAft>
                <a:spcPts val="0"/>
              </a:spcAft>
              <a:buNone/>
            </a:pPr>
            <a:r>
              <a:rPr b="1" lang="en-US" sz="2195">
                <a:solidFill>
                  <a:schemeClr val="lt1"/>
                </a:solidFill>
              </a:rPr>
              <a:t>Frontend</a:t>
            </a:r>
            <a:endParaRPr b="1" sz="2195">
              <a:solidFill>
                <a:schemeClr val="lt1"/>
              </a:solidFill>
            </a:endParaRPr>
          </a:p>
        </p:txBody>
      </p:sp>
      <p:sp>
        <p:nvSpPr>
          <p:cNvPr id="288" name="Google Shape;288;p23"/>
          <p:cNvSpPr txBox="1"/>
          <p:nvPr/>
        </p:nvSpPr>
        <p:spPr>
          <a:xfrm>
            <a:off x="5615861" y="438900"/>
            <a:ext cx="2081400" cy="349200"/>
          </a:xfrm>
          <a:prstGeom prst="rect">
            <a:avLst/>
          </a:prstGeom>
          <a:noFill/>
          <a:ln>
            <a:noFill/>
          </a:ln>
        </p:spPr>
        <p:txBody>
          <a:bodyPr anchorCtr="0" anchor="t" bIns="83625" lIns="83625" spcFirstLastPara="1" rIns="83625" wrap="square" tIns="83625">
            <a:noAutofit/>
          </a:bodyPr>
          <a:lstStyle/>
          <a:p>
            <a:pPr indent="0" lvl="0" marL="0" rtl="0" algn="ctr">
              <a:spcBef>
                <a:spcPts val="0"/>
              </a:spcBef>
              <a:spcAft>
                <a:spcPts val="0"/>
              </a:spcAft>
              <a:buNone/>
            </a:pPr>
            <a:r>
              <a:rPr b="1" lang="en-US" sz="2195">
                <a:solidFill>
                  <a:schemeClr val="lt1"/>
                </a:solidFill>
              </a:rPr>
              <a:t>Backend</a:t>
            </a:r>
            <a:endParaRPr b="1" sz="2195">
              <a:solidFill>
                <a:schemeClr val="lt1"/>
              </a:solidFill>
            </a:endParaRPr>
          </a:p>
        </p:txBody>
      </p:sp>
      <p:cxnSp>
        <p:nvCxnSpPr>
          <p:cNvPr id="289" name="Google Shape;289;p23"/>
          <p:cNvCxnSpPr/>
          <p:nvPr/>
        </p:nvCxnSpPr>
        <p:spPr>
          <a:xfrm>
            <a:off x="960804" y="3249104"/>
            <a:ext cx="1059600" cy="613500"/>
          </a:xfrm>
          <a:prstGeom prst="bentConnector3">
            <a:avLst>
              <a:gd fmla="val 311" name="adj1"/>
            </a:avLst>
          </a:prstGeom>
          <a:noFill/>
          <a:ln cap="flat" cmpd="sng" w="34850">
            <a:solidFill>
              <a:schemeClr val="dk2"/>
            </a:solidFill>
            <a:prstDash val="solid"/>
            <a:round/>
            <a:headEnd len="med" w="med" type="triangle"/>
            <a:tailEnd len="med" w="med" type="none"/>
          </a:ln>
        </p:spPr>
      </p:cxnSp>
      <p:sp>
        <p:nvSpPr>
          <p:cNvPr id="290" name="Google Shape;290;p23"/>
          <p:cNvSpPr/>
          <p:nvPr/>
        </p:nvSpPr>
        <p:spPr>
          <a:xfrm>
            <a:off x="1996783" y="1653511"/>
            <a:ext cx="1826400" cy="3135600"/>
          </a:xfrm>
          <a:prstGeom prst="roundRect">
            <a:avLst>
              <a:gd fmla="val 16667" name="adj"/>
            </a:avLst>
          </a:prstGeom>
          <a:solidFill>
            <a:schemeClr val="lt1"/>
          </a:solidFill>
          <a:ln cap="flat" cmpd="sng" w="26725">
            <a:solidFill>
              <a:schemeClr val="accent1"/>
            </a:solidFill>
            <a:prstDash val="solid"/>
            <a:round/>
            <a:headEnd len="sm" w="sm" type="none"/>
            <a:tailEnd len="sm" w="sm" type="none"/>
          </a:ln>
        </p:spPr>
        <p:txBody>
          <a:bodyPr anchorCtr="0" anchor="ctr" bIns="64075" lIns="64075" spcFirstLastPara="1" rIns="64075" wrap="square" tIns="64075">
            <a:noAutofit/>
          </a:bodyPr>
          <a:lstStyle/>
          <a:p>
            <a:pPr indent="0" lvl="0" marL="0" rtl="0" algn="ctr">
              <a:spcBef>
                <a:spcPts val="0"/>
              </a:spcBef>
              <a:spcAft>
                <a:spcPts val="0"/>
              </a:spcAft>
              <a:buNone/>
            </a:pPr>
            <a:r>
              <a:t/>
            </a:r>
            <a:endParaRPr sz="981"/>
          </a:p>
        </p:txBody>
      </p:sp>
      <p:pic>
        <p:nvPicPr>
          <p:cNvPr id="291" name="Google Shape;291;p23"/>
          <p:cNvPicPr preferRelativeResize="0"/>
          <p:nvPr/>
        </p:nvPicPr>
        <p:blipFill>
          <a:blip r:embed="rId9">
            <a:alphaModFix/>
          </a:blip>
          <a:stretch>
            <a:fillRect/>
          </a:stretch>
        </p:blipFill>
        <p:spPr>
          <a:xfrm>
            <a:off x="2224414" y="1802335"/>
            <a:ext cx="389415" cy="389415"/>
          </a:xfrm>
          <a:prstGeom prst="rect">
            <a:avLst/>
          </a:prstGeom>
          <a:noFill/>
          <a:ln>
            <a:noFill/>
          </a:ln>
        </p:spPr>
      </p:pic>
      <p:sp>
        <p:nvSpPr>
          <p:cNvPr id="292" name="Google Shape;292;p23"/>
          <p:cNvSpPr txBox="1"/>
          <p:nvPr/>
        </p:nvSpPr>
        <p:spPr>
          <a:xfrm>
            <a:off x="2538072" y="1802359"/>
            <a:ext cx="1130700" cy="389400"/>
          </a:xfrm>
          <a:prstGeom prst="rect">
            <a:avLst/>
          </a:prstGeom>
          <a:noFill/>
          <a:ln>
            <a:noFill/>
          </a:ln>
        </p:spPr>
        <p:txBody>
          <a:bodyPr anchorCtr="0" anchor="t" bIns="83625" lIns="83625" spcFirstLastPara="1" rIns="83625" wrap="square" tIns="83625">
            <a:noAutofit/>
          </a:bodyPr>
          <a:lstStyle/>
          <a:p>
            <a:pPr indent="0" lvl="0" marL="0" rtl="0" algn="l">
              <a:spcBef>
                <a:spcPts val="0"/>
              </a:spcBef>
              <a:spcAft>
                <a:spcPts val="0"/>
              </a:spcAft>
              <a:buNone/>
            </a:pPr>
            <a:r>
              <a:rPr b="1" lang="en-US" sz="1829">
                <a:solidFill>
                  <a:schemeClr val="dk2"/>
                </a:solidFill>
              </a:rPr>
              <a:t>eflex UI</a:t>
            </a:r>
            <a:endParaRPr b="1" sz="1829">
              <a:solidFill>
                <a:schemeClr val="dk2"/>
              </a:solidFill>
            </a:endParaRPr>
          </a:p>
        </p:txBody>
      </p:sp>
      <p:cxnSp>
        <p:nvCxnSpPr>
          <p:cNvPr id="293" name="Google Shape;293;p23"/>
          <p:cNvCxnSpPr/>
          <p:nvPr/>
        </p:nvCxnSpPr>
        <p:spPr>
          <a:xfrm flipH="1" rot="10800000">
            <a:off x="959043" y="1894191"/>
            <a:ext cx="1052700" cy="571500"/>
          </a:xfrm>
          <a:prstGeom prst="bentConnector3">
            <a:avLst>
              <a:gd fmla="val 480" name="adj1"/>
            </a:avLst>
          </a:prstGeom>
          <a:noFill/>
          <a:ln cap="flat" cmpd="sng" w="34850">
            <a:solidFill>
              <a:schemeClr val="dk2"/>
            </a:solidFill>
            <a:prstDash val="solid"/>
            <a:round/>
            <a:headEnd len="med" w="med" type="none"/>
            <a:tailEnd len="med" w="med" type="triangle"/>
          </a:ln>
        </p:spPr>
      </p:cxnSp>
      <p:sp>
        <p:nvSpPr>
          <p:cNvPr id="294" name="Google Shape;294;p23"/>
          <p:cNvSpPr txBox="1"/>
          <p:nvPr/>
        </p:nvSpPr>
        <p:spPr>
          <a:xfrm>
            <a:off x="172220" y="1453004"/>
            <a:ext cx="1740600" cy="349200"/>
          </a:xfrm>
          <a:prstGeom prst="rect">
            <a:avLst/>
          </a:prstGeom>
          <a:noFill/>
          <a:ln>
            <a:noFill/>
          </a:ln>
        </p:spPr>
        <p:txBody>
          <a:bodyPr anchorCtr="0" anchor="t" bIns="83625" lIns="83625" spcFirstLastPara="1" rIns="83625" wrap="square" tIns="83625">
            <a:noAutofit/>
          </a:bodyPr>
          <a:lstStyle/>
          <a:p>
            <a:pPr indent="0" lvl="0" marL="0" rtl="0" algn="ctr">
              <a:spcBef>
                <a:spcPts val="0"/>
              </a:spcBef>
              <a:spcAft>
                <a:spcPts val="0"/>
              </a:spcAft>
              <a:buNone/>
            </a:pPr>
            <a:r>
              <a:rPr b="1" lang="en-US" sz="1006">
                <a:solidFill>
                  <a:schemeClr val="dk1"/>
                </a:solidFill>
              </a:rPr>
              <a:t>Survey</a:t>
            </a:r>
            <a:endParaRPr b="1" sz="1006">
              <a:solidFill>
                <a:schemeClr val="dk1"/>
              </a:solidFill>
            </a:endParaRPr>
          </a:p>
          <a:p>
            <a:pPr indent="0" lvl="0" marL="0" rtl="0" algn="ctr">
              <a:spcBef>
                <a:spcPts val="0"/>
              </a:spcBef>
              <a:spcAft>
                <a:spcPts val="0"/>
              </a:spcAft>
              <a:buNone/>
            </a:pPr>
            <a:r>
              <a:rPr b="1" lang="en-US" sz="1006">
                <a:solidFill>
                  <a:schemeClr val="dk1"/>
                </a:solidFill>
              </a:rPr>
              <a:t>Response</a:t>
            </a:r>
            <a:endParaRPr b="1" sz="1006">
              <a:solidFill>
                <a:schemeClr val="dk1"/>
              </a:solidFill>
            </a:endParaRPr>
          </a:p>
        </p:txBody>
      </p:sp>
      <p:sp>
        <p:nvSpPr>
          <p:cNvPr id="295" name="Google Shape;295;p23"/>
          <p:cNvSpPr/>
          <p:nvPr/>
        </p:nvSpPr>
        <p:spPr>
          <a:xfrm>
            <a:off x="2201613" y="2395947"/>
            <a:ext cx="1407600" cy="481800"/>
          </a:xfrm>
          <a:prstGeom prst="roundRect">
            <a:avLst>
              <a:gd fmla="val 16667" name="adj"/>
            </a:avLst>
          </a:prstGeom>
          <a:solidFill>
            <a:srgbClr val="8E7CC3"/>
          </a:solidFill>
          <a:ln>
            <a:noFill/>
          </a:ln>
        </p:spPr>
        <p:txBody>
          <a:bodyPr anchorCtr="0" anchor="ctr" bIns="83625" lIns="83625" spcFirstLastPara="1" rIns="83625" wrap="square" tIns="83625">
            <a:noAutofit/>
          </a:bodyPr>
          <a:lstStyle/>
          <a:p>
            <a:pPr indent="0" lvl="0" marL="0" rtl="0" algn="ctr">
              <a:spcBef>
                <a:spcPts val="0"/>
              </a:spcBef>
              <a:spcAft>
                <a:spcPts val="0"/>
              </a:spcAft>
              <a:buNone/>
            </a:pPr>
            <a:r>
              <a:rPr b="1" lang="en-US" sz="1555">
                <a:solidFill>
                  <a:schemeClr val="lt1"/>
                </a:solidFill>
              </a:rPr>
              <a:t>User Survey</a:t>
            </a:r>
            <a:endParaRPr b="1" sz="1555">
              <a:solidFill>
                <a:schemeClr val="lt1"/>
              </a:solidFill>
            </a:endParaRPr>
          </a:p>
        </p:txBody>
      </p:sp>
      <p:sp>
        <p:nvSpPr>
          <p:cNvPr id="296" name="Google Shape;296;p23"/>
          <p:cNvSpPr/>
          <p:nvPr/>
        </p:nvSpPr>
        <p:spPr>
          <a:xfrm>
            <a:off x="2201613" y="3155853"/>
            <a:ext cx="1407600" cy="481800"/>
          </a:xfrm>
          <a:prstGeom prst="roundRect">
            <a:avLst>
              <a:gd fmla="val 16667" name="adj"/>
            </a:avLst>
          </a:prstGeom>
          <a:solidFill>
            <a:srgbClr val="8E7CC3"/>
          </a:solidFill>
          <a:ln>
            <a:noFill/>
          </a:ln>
        </p:spPr>
        <p:txBody>
          <a:bodyPr anchorCtr="0" anchor="ctr" bIns="83625" lIns="83625" spcFirstLastPara="1" rIns="83625" wrap="square" tIns="83625">
            <a:noAutofit/>
          </a:bodyPr>
          <a:lstStyle/>
          <a:p>
            <a:pPr indent="0" lvl="0" marL="0" rtl="0" algn="ctr">
              <a:spcBef>
                <a:spcPts val="0"/>
              </a:spcBef>
              <a:spcAft>
                <a:spcPts val="0"/>
              </a:spcAft>
              <a:buNone/>
            </a:pPr>
            <a:r>
              <a:rPr b="1" lang="en-US" sz="1555">
                <a:solidFill>
                  <a:schemeClr val="lt1"/>
                </a:solidFill>
              </a:rPr>
              <a:t>Curriculum</a:t>
            </a:r>
            <a:endParaRPr b="1" sz="1555">
              <a:solidFill>
                <a:schemeClr val="lt1"/>
              </a:solidFill>
            </a:endParaRPr>
          </a:p>
        </p:txBody>
      </p:sp>
      <p:sp>
        <p:nvSpPr>
          <p:cNvPr id="297" name="Google Shape;297;p23"/>
          <p:cNvSpPr/>
          <p:nvPr/>
        </p:nvSpPr>
        <p:spPr>
          <a:xfrm>
            <a:off x="2206152" y="3938417"/>
            <a:ext cx="1407600" cy="481800"/>
          </a:xfrm>
          <a:prstGeom prst="roundRect">
            <a:avLst>
              <a:gd fmla="val 16667" name="adj"/>
            </a:avLst>
          </a:prstGeom>
          <a:solidFill>
            <a:srgbClr val="8E7CC3"/>
          </a:solidFill>
          <a:ln>
            <a:noFill/>
          </a:ln>
        </p:spPr>
        <p:txBody>
          <a:bodyPr anchorCtr="0" anchor="ctr" bIns="83625" lIns="83625" spcFirstLastPara="1" rIns="83625" wrap="square" tIns="83625">
            <a:noAutofit/>
          </a:bodyPr>
          <a:lstStyle/>
          <a:p>
            <a:pPr indent="0" lvl="0" marL="0" rtl="0" algn="ctr">
              <a:spcBef>
                <a:spcPts val="0"/>
              </a:spcBef>
              <a:spcAft>
                <a:spcPts val="0"/>
              </a:spcAft>
              <a:buNone/>
            </a:pPr>
            <a:r>
              <a:rPr b="1" lang="en-US" sz="1555">
                <a:solidFill>
                  <a:schemeClr val="lt1"/>
                </a:solidFill>
              </a:rPr>
              <a:t>Progress Dashboard</a:t>
            </a:r>
            <a:endParaRPr b="1" sz="1555">
              <a:solidFill>
                <a:schemeClr val="lt1"/>
              </a:solidFill>
            </a:endParaRPr>
          </a:p>
        </p:txBody>
      </p:sp>
      <p:cxnSp>
        <p:nvCxnSpPr>
          <p:cNvPr id="298" name="Google Shape;298;p23"/>
          <p:cNvCxnSpPr/>
          <p:nvPr/>
        </p:nvCxnSpPr>
        <p:spPr>
          <a:xfrm>
            <a:off x="3835547" y="2472108"/>
            <a:ext cx="2736300" cy="0"/>
          </a:xfrm>
          <a:prstGeom prst="straightConnector1">
            <a:avLst/>
          </a:prstGeom>
          <a:noFill/>
          <a:ln cap="flat" cmpd="sng" w="34850">
            <a:solidFill>
              <a:schemeClr val="dk2"/>
            </a:solidFill>
            <a:prstDash val="solid"/>
            <a:round/>
            <a:headEnd len="med" w="med" type="none"/>
            <a:tailEnd len="med" w="med" type="triangle"/>
          </a:ln>
        </p:spPr>
      </p:cxnSp>
      <p:cxnSp>
        <p:nvCxnSpPr>
          <p:cNvPr id="299" name="Google Shape;299;p23"/>
          <p:cNvCxnSpPr>
            <a:stCxn id="264" idx="2"/>
            <a:endCxn id="277" idx="0"/>
          </p:cNvCxnSpPr>
          <p:nvPr/>
        </p:nvCxnSpPr>
        <p:spPr>
          <a:xfrm>
            <a:off x="7515834" y="3474505"/>
            <a:ext cx="0" cy="588000"/>
          </a:xfrm>
          <a:prstGeom prst="straightConnector1">
            <a:avLst/>
          </a:prstGeom>
          <a:noFill/>
          <a:ln cap="flat" cmpd="sng" w="34850">
            <a:solidFill>
              <a:schemeClr val="dk2"/>
            </a:solidFill>
            <a:prstDash val="solid"/>
            <a:round/>
            <a:headEnd len="med" w="med" type="none"/>
            <a:tailEnd len="med" w="med" type="triangle"/>
          </a:ln>
        </p:spPr>
      </p:cxnSp>
      <p:pic>
        <p:nvPicPr>
          <p:cNvPr id="300" name="Google Shape;300;p23"/>
          <p:cNvPicPr preferRelativeResize="0"/>
          <p:nvPr/>
        </p:nvPicPr>
        <p:blipFill>
          <a:blip r:embed="rId10">
            <a:alphaModFix/>
          </a:blip>
          <a:stretch>
            <a:fillRect/>
          </a:stretch>
        </p:blipFill>
        <p:spPr>
          <a:xfrm>
            <a:off x="5361486" y="3087512"/>
            <a:ext cx="615551" cy="615551"/>
          </a:xfrm>
          <a:prstGeom prst="rect">
            <a:avLst/>
          </a:prstGeom>
          <a:noFill/>
          <a:ln>
            <a:noFill/>
          </a:ln>
        </p:spPr>
      </p:pic>
      <p:sp>
        <p:nvSpPr>
          <p:cNvPr id="301" name="Google Shape;301;p23"/>
          <p:cNvSpPr txBox="1"/>
          <p:nvPr/>
        </p:nvSpPr>
        <p:spPr>
          <a:xfrm>
            <a:off x="4147831" y="2856643"/>
            <a:ext cx="1530600" cy="456600"/>
          </a:xfrm>
          <a:prstGeom prst="rect">
            <a:avLst/>
          </a:prstGeom>
          <a:noFill/>
          <a:ln>
            <a:noFill/>
          </a:ln>
        </p:spPr>
        <p:txBody>
          <a:bodyPr anchorCtr="0" anchor="t" bIns="68850" lIns="68850" spcFirstLastPara="1" rIns="68850" wrap="square" tIns="68850">
            <a:noAutofit/>
          </a:bodyPr>
          <a:lstStyle/>
          <a:p>
            <a:pPr indent="0" lvl="0" marL="0" rtl="0" algn="ctr">
              <a:spcBef>
                <a:spcPts val="0"/>
              </a:spcBef>
              <a:spcAft>
                <a:spcPts val="0"/>
              </a:spcAft>
              <a:buNone/>
            </a:pPr>
            <a:r>
              <a:rPr b="1" lang="en-US" sz="1103">
                <a:solidFill>
                  <a:schemeClr val="dk1"/>
                </a:solidFill>
              </a:rPr>
              <a:t>Generate</a:t>
            </a:r>
            <a:endParaRPr b="1" sz="1103">
              <a:solidFill>
                <a:schemeClr val="dk1"/>
              </a:solidFill>
            </a:endParaRPr>
          </a:p>
          <a:p>
            <a:pPr indent="0" lvl="0" marL="0" rtl="0" algn="ctr">
              <a:spcBef>
                <a:spcPts val="0"/>
              </a:spcBef>
              <a:spcAft>
                <a:spcPts val="0"/>
              </a:spcAft>
              <a:buNone/>
            </a:pPr>
            <a:r>
              <a:rPr b="1" lang="en-US" sz="1103">
                <a:solidFill>
                  <a:schemeClr val="dk1"/>
                </a:solidFill>
              </a:rPr>
              <a:t>Curriculum</a:t>
            </a:r>
            <a:endParaRPr b="1" sz="1103">
              <a:solidFill>
                <a:schemeClr val="dk1"/>
              </a:solidFill>
            </a:endParaRPr>
          </a:p>
        </p:txBody>
      </p:sp>
      <p:cxnSp>
        <p:nvCxnSpPr>
          <p:cNvPr id="302" name="Google Shape;302;p23"/>
          <p:cNvCxnSpPr/>
          <p:nvPr/>
        </p:nvCxnSpPr>
        <p:spPr>
          <a:xfrm rot="10800000">
            <a:off x="3863766" y="3370846"/>
            <a:ext cx="1468800" cy="5100"/>
          </a:xfrm>
          <a:prstGeom prst="straightConnector1">
            <a:avLst/>
          </a:prstGeom>
          <a:noFill/>
          <a:ln cap="flat" cmpd="sng" w="34850">
            <a:solidFill>
              <a:schemeClr val="dk2"/>
            </a:solidFill>
            <a:prstDash val="solid"/>
            <a:round/>
            <a:headEnd len="med" w="med" type="none"/>
            <a:tailEnd len="med" w="med" type="triangle"/>
          </a:ln>
        </p:spPr>
      </p:cxnSp>
      <p:cxnSp>
        <p:nvCxnSpPr>
          <p:cNvPr id="303" name="Google Shape;303;p23"/>
          <p:cNvCxnSpPr>
            <a:stCxn id="265" idx="0"/>
            <a:endCxn id="264" idx="1"/>
          </p:cNvCxnSpPr>
          <p:nvPr/>
        </p:nvCxnSpPr>
        <p:spPr>
          <a:xfrm rot="-5400000">
            <a:off x="6014072" y="2454080"/>
            <a:ext cx="246600" cy="930300"/>
          </a:xfrm>
          <a:prstGeom prst="bentConnector2">
            <a:avLst/>
          </a:prstGeom>
          <a:noFill/>
          <a:ln cap="flat" cmpd="sng" w="34850">
            <a:solidFill>
              <a:schemeClr val="dk2"/>
            </a:solidFill>
            <a:prstDash val="solid"/>
            <a:round/>
            <a:headEnd len="med" w="med" type="none"/>
            <a:tailEnd len="med" w="med" type="triangle"/>
          </a:ln>
        </p:spPr>
      </p:cxnSp>
      <p:sp>
        <p:nvSpPr>
          <p:cNvPr id="304" name="Google Shape;304;p23"/>
          <p:cNvSpPr/>
          <p:nvPr/>
        </p:nvSpPr>
        <p:spPr>
          <a:xfrm>
            <a:off x="5326437" y="4318435"/>
            <a:ext cx="696300" cy="705300"/>
          </a:xfrm>
          <a:prstGeom prst="roundRect">
            <a:avLst>
              <a:gd fmla="val 16667" name="adj"/>
            </a:avLst>
          </a:prstGeom>
          <a:solidFill>
            <a:schemeClr val="lt1"/>
          </a:solidFill>
          <a:ln cap="flat" cmpd="sng" w="28700">
            <a:solidFill>
              <a:srgbClr val="3D85C6"/>
            </a:solidFill>
            <a:prstDash val="solid"/>
            <a:round/>
            <a:headEnd len="sm" w="sm" type="none"/>
            <a:tailEnd len="sm" w="sm" type="none"/>
          </a:ln>
        </p:spPr>
        <p:txBody>
          <a:bodyPr anchorCtr="0" anchor="ctr" bIns="68850" lIns="68850" spcFirstLastPara="1" rIns="68850" wrap="square" tIns="68850">
            <a:noAutofit/>
          </a:bodyPr>
          <a:lstStyle/>
          <a:p>
            <a:pPr indent="0" lvl="0" marL="0" rtl="0" algn="ctr">
              <a:spcBef>
                <a:spcPts val="0"/>
              </a:spcBef>
              <a:spcAft>
                <a:spcPts val="0"/>
              </a:spcAft>
              <a:buNone/>
            </a:pPr>
            <a:r>
              <a:t/>
            </a:r>
            <a:endParaRPr sz="1054"/>
          </a:p>
        </p:txBody>
      </p:sp>
      <p:pic>
        <p:nvPicPr>
          <p:cNvPr descr="Centralized Log Management with Terraform: Streamlining Log Export to  Supported Destinations | by Saloni Patidar | Google Cloud - Community |  Medium" id="305" name="Google Shape;305;p23"/>
          <p:cNvPicPr preferRelativeResize="0"/>
          <p:nvPr/>
        </p:nvPicPr>
        <p:blipFill>
          <a:blip r:embed="rId11">
            <a:alphaModFix/>
          </a:blip>
          <a:stretch>
            <a:fillRect/>
          </a:stretch>
        </p:blipFill>
        <p:spPr>
          <a:xfrm>
            <a:off x="5364008" y="4389895"/>
            <a:ext cx="615549" cy="562575"/>
          </a:xfrm>
          <a:prstGeom prst="rect">
            <a:avLst/>
          </a:prstGeom>
          <a:noFill/>
          <a:ln>
            <a:noFill/>
          </a:ln>
        </p:spPr>
      </p:pic>
      <p:cxnSp>
        <p:nvCxnSpPr>
          <p:cNvPr id="306" name="Google Shape;306;p23"/>
          <p:cNvCxnSpPr>
            <a:stCxn id="277" idx="1"/>
            <a:endCxn id="265" idx="3"/>
          </p:cNvCxnSpPr>
          <p:nvPr/>
        </p:nvCxnSpPr>
        <p:spPr>
          <a:xfrm rot="10800000">
            <a:off x="6020327" y="3395235"/>
            <a:ext cx="582300" cy="1083900"/>
          </a:xfrm>
          <a:prstGeom prst="bentConnector3">
            <a:avLst>
              <a:gd fmla="val 50010" name="adj1"/>
            </a:avLst>
          </a:prstGeom>
          <a:noFill/>
          <a:ln cap="flat" cmpd="sng" w="34850">
            <a:solidFill>
              <a:schemeClr val="dk2"/>
            </a:solidFill>
            <a:prstDash val="solid"/>
            <a:round/>
            <a:headEnd len="med" w="med" type="none"/>
            <a:tailEnd len="med" w="med" type="triangle"/>
          </a:ln>
        </p:spPr>
      </p:cxnSp>
      <p:cxnSp>
        <p:nvCxnSpPr>
          <p:cNvPr id="307" name="Google Shape;307;p23"/>
          <p:cNvCxnSpPr>
            <a:stCxn id="265" idx="2"/>
            <a:endCxn id="304" idx="0"/>
          </p:cNvCxnSpPr>
          <p:nvPr/>
        </p:nvCxnSpPr>
        <p:spPr>
          <a:xfrm>
            <a:off x="5672222" y="3747830"/>
            <a:ext cx="2400" cy="570600"/>
          </a:xfrm>
          <a:prstGeom prst="straightConnector1">
            <a:avLst/>
          </a:prstGeom>
          <a:noFill/>
          <a:ln cap="flat" cmpd="sng" w="34850">
            <a:solidFill>
              <a:schemeClr val="dk2"/>
            </a:solidFill>
            <a:prstDash val="solid"/>
            <a:round/>
            <a:headEnd len="med" w="med" type="none"/>
            <a:tailEnd len="med" w="med" type="triangle"/>
          </a:ln>
        </p:spPr>
      </p:cxnSp>
      <p:sp>
        <p:nvSpPr>
          <p:cNvPr id="308" name="Google Shape;308;p23"/>
          <p:cNvSpPr txBox="1"/>
          <p:nvPr/>
        </p:nvSpPr>
        <p:spPr>
          <a:xfrm>
            <a:off x="7445458" y="3491285"/>
            <a:ext cx="1407600" cy="554400"/>
          </a:xfrm>
          <a:prstGeom prst="rect">
            <a:avLst/>
          </a:prstGeom>
          <a:noFill/>
          <a:ln>
            <a:noFill/>
          </a:ln>
        </p:spPr>
        <p:txBody>
          <a:bodyPr anchorCtr="0" anchor="t" bIns="83625" lIns="83625" spcFirstLastPara="1" rIns="83625" wrap="square" tIns="83625">
            <a:noAutofit/>
          </a:bodyPr>
          <a:lstStyle/>
          <a:p>
            <a:pPr indent="0" lvl="0" marL="0" rtl="0" algn="ctr">
              <a:spcBef>
                <a:spcPts val="0"/>
              </a:spcBef>
              <a:spcAft>
                <a:spcPts val="0"/>
              </a:spcAft>
              <a:buNone/>
            </a:pPr>
            <a:r>
              <a:rPr b="1" lang="en-US" sz="1006">
                <a:solidFill>
                  <a:schemeClr val="dk1"/>
                </a:solidFill>
              </a:rPr>
              <a:t>Curriculum Candidate Books</a:t>
            </a:r>
            <a:endParaRPr b="1" sz="1006">
              <a:solidFill>
                <a:schemeClr val="dk1"/>
              </a:solidFill>
            </a:endParaRPr>
          </a:p>
        </p:txBody>
      </p:sp>
      <p:sp>
        <p:nvSpPr>
          <p:cNvPr id="309" name="Google Shape;309;p23"/>
          <p:cNvSpPr txBox="1"/>
          <p:nvPr/>
        </p:nvSpPr>
        <p:spPr>
          <a:xfrm>
            <a:off x="4742993" y="3685310"/>
            <a:ext cx="860100" cy="456600"/>
          </a:xfrm>
          <a:prstGeom prst="rect">
            <a:avLst/>
          </a:prstGeom>
          <a:noFill/>
          <a:ln>
            <a:noFill/>
          </a:ln>
        </p:spPr>
        <p:txBody>
          <a:bodyPr anchorCtr="0" anchor="t" bIns="68850" lIns="68850" spcFirstLastPara="1" rIns="68850" wrap="square" tIns="68850">
            <a:noAutofit/>
          </a:bodyPr>
          <a:lstStyle/>
          <a:p>
            <a:pPr indent="0" lvl="0" marL="0" rtl="0" algn="ctr">
              <a:spcBef>
                <a:spcPts val="0"/>
              </a:spcBef>
              <a:spcAft>
                <a:spcPts val="0"/>
              </a:spcAft>
              <a:buNone/>
            </a:pPr>
            <a:r>
              <a:rPr b="1" lang="en-US" sz="1103">
                <a:solidFill>
                  <a:schemeClr val="dk1"/>
                </a:solidFill>
              </a:rPr>
              <a:t>Cloud</a:t>
            </a:r>
            <a:endParaRPr b="1" sz="1103">
              <a:solidFill>
                <a:schemeClr val="dk1"/>
              </a:solidFill>
            </a:endParaRPr>
          </a:p>
          <a:p>
            <a:pPr indent="0" lvl="0" marL="0" rtl="0" algn="ctr">
              <a:spcBef>
                <a:spcPts val="0"/>
              </a:spcBef>
              <a:spcAft>
                <a:spcPts val="0"/>
              </a:spcAft>
              <a:buNone/>
            </a:pPr>
            <a:r>
              <a:rPr b="1" lang="en-US" sz="1103">
                <a:solidFill>
                  <a:schemeClr val="dk1"/>
                </a:solidFill>
              </a:rPr>
              <a:t>Logging</a:t>
            </a:r>
            <a:endParaRPr b="1" sz="1103">
              <a:solidFill>
                <a:schemeClr val="dk1"/>
              </a:solidFill>
            </a:endParaRPr>
          </a:p>
        </p:txBody>
      </p:sp>
      <p:cxnSp>
        <p:nvCxnSpPr>
          <p:cNvPr id="310" name="Google Shape;310;p23"/>
          <p:cNvCxnSpPr>
            <a:stCxn id="267" idx="2"/>
            <a:endCxn id="264" idx="0"/>
          </p:cNvCxnSpPr>
          <p:nvPr/>
        </p:nvCxnSpPr>
        <p:spPr>
          <a:xfrm>
            <a:off x="6282931" y="1412733"/>
            <a:ext cx="1233000" cy="705000"/>
          </a:xfrm>
          <a:prstGeom prst="bentConnector2">
            <a:avLst/>
          </a:prstGeom>
          <a:noFill/>
          <a:ln cap="flat" cmpd="sng" w="34850">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315" name="Shape 315"/>
        <p:cNvGrpSpPr/>
        <p:nvPr/>
      </p:nvGrpSpPr>
      <p:grpSpPr>
        <a:xfrm>
          <a:off x="0" y="0"/>
          <a:ext cx="0" cy="0"/>
          <a:chOff x="0" y="0"/>
          <a:chExt cx="0" cy="0"/>
        </a:xfrm>
      </p:grpSpPr>
      <p:sp>
        <p:nvSpPr>
          <p:cNvPr id="316" name="Google Shape;316;p24"/>
          <p:cNvSpPr/>
          <p:nvPr/>
        </p:nvSpPr>
        <p:spPr>
          <a:xfrm>
            <a:off x="8275320" y="274320"/>
            <a:ext cx="164592" cy="164592"/>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4"/>
          <p:cNvSpPr/>
          <p:nvPr/>
        </p:nvSpPr>
        <p:spPr>
          <a:xfrm>
            <a:off x="6675120" y="246888"/>
            <a:ext cx="15544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318" name="Google Shape;318;p24"/>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DATA + DATABASE</a:t>
            </a:r>
            <a:endParaRPr b="0" i="0" sz="1000" u="none" cap="none" strike="noStrike">
              <a:solidFill>
                <a:schemeClr val="dk1"/>
              </a:solidFill>
              <a:latin typeface="Calibri"/>
              <a:ea typeface="Calibri"/>
              <a:cs typeface="Calibri"/>
              <a:sym typeface="Calibri"/>
            </a:endParaRPr>
          </a:p>
        </p:txBody>
      </p:sp>
      <p:sp>
        <p:nvSpPr>
          <p:cNvPr id="319" name="Google Shape;319;p24"/>
          <p:cNvSpPr/>
          <p:nvPr/>
        </p:nvSpPr>
        <p:spPr>
          <a:xfrm>
            <a:off x="457200" y="5029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Goodreads catalog in BigQuery, queried at request time.</a:t>
            </a:r>
            <a:endParaRPr b="0" i="0" sz="2800" u="none" cap="none" strike="noStrike">
              <a:solidFill>
                <a:schemeClr val="dk1"/>
              </a:solidFill>
              <a:latin typeface="Calibri"/>
              <a:ea typeface="Calibri"/>
              <a:cs typeface="Calibri"/>
              <a:sym typeface="Calibri"/>
            </a:endParaRPr>
          </a:p>
        </p:txBody>
      </p:sp>
      <p:sp>
        <p:nvSpPr>
          <p:cNvPr id="320" name="Google Shape;320;p24"/>
          <p:cNvSpPr/>
          <p:nvPr/>
        </p:nvSpPr>
        <p:spPr>
          <a:xfrm>
            <a:off x="457200" y="1280160"/>
            <a:ext cx="2743200" cy="333756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4"/>
          <p:cNvSpPr/>
          <p:nvPr/>
        </p:nvSpPr>
        <p:spPr>
          <a:xfrm>
            <a:off x="457200" y="1417320"/>
            <a:ext cx="27432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6"/>
              </a:buClr>
              <a:buSzPts val="1000"/>
              <a:buFont typeface="Calibri"/>
              <a:buNone/>
            </a:pPr>
            <a:r>
              <a:rPr b="1" i="0" lang="en-US" sz="1000" u="none" cap="none" strike="noStrike">
                <a:solidFill>
                  <a:srgbClr val="D9D9D6"/>
                </a:solidFill>
                <a:latin typeface="Calibri"/>
                <a:ea typeface="Calibri"/>
                <a:cs typeface="Calibri"/>
                <a:sym typeface="Calibri"/>
              </a:rPr>
              <a:t>BIGQUERY</a:t>
            </a:r>
            <a:endParaRPr b="0" i="0" sz="1000" u="none" cap="none" strike="noStrike">
              <a:solidFill>
                <a:schemeClr val="dk1"/>
              </a:solidFill>
              <a:latin typeface="Calibri"/>
              <a:ea typeface="Calibri"/>
              <a:cs typeface="Calibri"/>
              <a:sym typeface="Calibri"/>
            </a:endParaRPr>
          </a:p>
        </p:txBody>
      </p:sp>
      <p:sp>
        <p:nvSpPr>
          <p:cNvPr id="322" name="Google Shape;322;p24"/>
          <p:cNvSpPr/>
          <p:nvPr/>
        </p:nvSpPr>
        <p:spPr>
          <a:xfrm>
            <a:off x="457200" y="1691640"/>
            <a:ext cx="27432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DEDED"/>
              </a:buClr>
              <a:buSzPts val="5000"/>
              <a:buFont typeface="Georgia"/>
              <a:buNone/>
            </a:pPr>
            <a:r>
              <a:rPr b="1" i="1" lang="en-US" sz="5000" u="none" cap="none" strike="noStrike">
                <a:solidFill>
                  <a:srgbClr val="EDEDED"/>
                </a:solidFill>
                <a:latin typeface="Georgia"/>
                <a:ea typeface="Georgia"/>
                <a:cs typeface="Georgia"/>
                <a:sym typeface="Georgia"/>
              </a:rPr>
              <a:t>2.36M</a:t>
            </a:r>
            <a:endParaRPr b="0" i="0" sz="5000" u="none" cap="none" strike="noStrike">
              <a:solidFill>
                <a:schemeClr val="dk1"/>
              </a:solidFill>
              <a:latin typeface="Calibri"/>
              <a:ea typeface="Calibri"/>
              <a:cs typeface="Calibri"/>
              <a:sym typeface="Calibri"/>
            </a:endParaRPr>
          </a:p>
        </p:txBody>
      </p:sp>
      <p:sp>
        <p:nvSpPr>
          <p:cNvPr id="323" name="Google Shape;323;p24"/>
          <p:cNvSpPr/>
          <p:nvPr/>
        </p:nvSpPr>
        <p:spPr>
          <a:xfrm>
            <a:off x="457200" y="2514600"/>
            <a:ext cx="2743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DEDED"/>
              </a:buClr>
              <a:buSzPts val="1100"/>
              <a:buFont typeface="Calibri"/>
              <a:buNone/>
            </a:pPr>
            <a:r>
              <a:rPr b="0" i="1" lang="en-US" sz="1100" u="none" cap="none" strike="noStrike">
                <a:solidFill>
                  <a:srgbClr val="EDEDED"/>
                </a:solidFill>
                <a:latin typeface="Calibri"/>
                <a:ea typeface="Calibri"/>
                <a:cs typeface="Calibri"/>
                <a:sym typeface="Calibri"/>
              </a:rPr>
              <a:t>books in the table</a:t>
            </a:r>
            <a:endParaRPr b="0" i="0" sz="1100" u="none" cap="none" strike="noStrike">
              <a:solidFill>
                <a:schemeClr val="dk1"/>
              </a:solidFill>
              <a:latin typeface="Calibri"/>
              <a:ea typeface="Calibri"/>
              <a:cs typeface="Calibri"/>
              <a:sym typeface="Calibri"/>
            </a:endParaRPr>
          </a:p>
        </p:txBody>
      </p:sp>
      <p:sp>
        <p:nvSpPr>
          <p:cNvPr id="324" name="Google Shape;324;p24"/>
          <p:cNvSpPr/>
          <p:nvPr/>
        </p:nvSpPr>
        <p:spPr>
          <a:xfrm>
            <a:off x="1508760" y="2926080"/>
            <a:ext cx="640080" cy="36576"/>
          </a:xfrm>
          <a:prstGeom prst="rect">
            <a:avLst/>
          </a:prstGeom>
          <a:solidFill>
            <a:srgbClr val="896F77"/>
          </a:solidFill>
          <a:ln cap="flat" cmpd="sng" w="12700">
            <a:solidFill>
              <a:srgbClr val="896F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4"/>
          <p:cNvSpPr/>
          <p:nvPr/>
        </p:nvSpPr>
        <p:spPr>
          <a:xfrm>
            <a:off x="594360" y="3108960"/>
            <a:ext cx="2468880" cy="1417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6"/>
              </a:buClr>
              <a:buSzPts val="1000"/>
              <a:buFont typeface="Calibri"/>
              <a:buNone/>
            </a:pPr>
            <a:r>
              <a:rPr b="1" i="0" lang="en-US" sz="1000" u="none" cap="none" strike="noStrike">
                <a:solidFill>
                  <a:srgbClr val="D9D9D6"/>
                </a:solidFill>
                <a:latin typeface="Calibri"/>
                <a:ea typeface="Calibri"/>
                <a:cs typeface="Calibri"/>
                <a:sym typeface="Calibri"/>
              </a:rPr>
              <a:t>POPULATED FROM</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DEDED"/>
              </a:buClr>
              <a:buSzPts val="1000"/>
              <a:buFont typeface="Calibri"/>
              <a:buNone/>
            </a:pPr>
            <a:r>
              <a:rPr b="0" i="1" lang="en-US" sz="1000" u="none" cap="none" strike="noStrike">
                <a:solidFill>
                  <a:srgbClr val="EDEDED"/>
                </a:solidFill>
                <a:latin typeface="Calibri"/>
                <a:ea typeface="Calibri"/>
                <a:cs typeface="Calibri"/>
                <a:sym typeface="Calibri"/>
              </a:rPr>
              <a:t>UCSD Goodreads dataset (Wan &amp; McAuley 2018) loaded via load_to_bigquery.sh</a:t>
            </a:r>
            <a:endParaRPr b="0" i="0" sz="1000" u="none" cap="none" strike="noStrike">
              <a:solidFill>
                <a:schemeClr val="dk1"/>
              </a:solidFill>
              <a:latin typeface="Calibri"/>
              <a:ea typeface="Calibri"/>
              <a:cs typeface="Calibri"/>
              <a:sym typeface="Calibri"/>
            </a:endParaRPr>
          </a:p>
        </p:txBody>
      </p:sp>
      <p:sp>
        <p:nvSpPr>
          <p:cNvPr id="326" name="Google Shape;326;p24"/>
          <p:cNvSpPr/>
          <p:nvPr/>
        </p:nvSpPr>
        <p:spPr>
          <a:xfrm>
            <a:off x="3383280" y="1280160"/>
            <a:ext cx="53035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900"/>
              <a:buFont typeface="Calibri"/>
              <a:buNone/>
            </a:pPr>
            <a:r>
              <a:rPr b="1" i="0" lang="en-US" sz="900" u="none" cap="none" strike="noStrike">
                <a:solidFill>
                  <a:srgbClr val="896F77"/>
                </a:solidFill>
                <a:latin typeface="Calibri"/>
                <a:ea typeface="Calibri"/>
                <a:cs typeface="Calibri"/>
                <a:sym typeface="Calibri"/>
              </a:rPr>
              <a:t>ROW SHAPE  (per book)</a:t>
            </a:r>
            <a:endParaRPr b="0" i="0" sz="900" u="none" cap="none" strike="noStrike">
              <a:solidFill>
                <a:schemeClr val="dk1"/>
              </a:solidFill>
              <a:latin typeface="Calibri"/>
              <a:ea typeface="Calibri"/>
              <a:cs typeface="Calibri"/>
              <a:sym typeface="Calibri"/>
            </a:endParaRPr>
          </a:p>
        </p:txBody>
      </p:sp>
      <p:sp>
        <p:nvSpPr>
          <p:cNvPr id="327" name="Google Shape;327;p24"/>
          <p:cNvSpPr/>
          <p:nvPr/>
        </p:nvSpPr>
        <p:spPr>
          <a:xfrm>
            <a:off x="3383280" y="1508760"/>
            <a:ext cx="530352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100"/>
              <a:buFont typeface="Consolas"/>
              <a:buNone/>
            </a:pPr>
            <a:r>
              <a:rPr b="0" i="0" lang="en-US" sz="1100" u="none" cap="none" strike="noStrike">
                <a:solidFill>
                  <a:srgbClr val="1F1F1F"/>
                </a:solidFill>
                <a:latin typeface="Consolas"/>
                <a:ea typeface="Consolas"/>
                <a:cs typeface="Consolas"/>
                <a:sym typeface="Consolas"/>
              </a:rPr>
              <a:t>book_id, title, description, num_pages, publication_year</a:t>
            </a:r>
            <a:endParaRPr b="0" i="0" sz="11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1F1F1F"/>
              </a:buClr>
              <a:buSzPts val="1100"/>
              <a:buFont typeface="Consolas"/>
              <a:buNone/>
            </a:pPr>
            <a:r>
              <a:rPr b="0" i="0" lang="en-US" sz="1100" u="none" cap="none" strike="noStrike">
                <a:solidFill>
                  <a:srgbClr val="1F1F1F"/>
                </a:solidFill>
                <a:latin typeface="Consolas"/>
                <a:ea typeface="Consolas"/>
                <a:cs typeface="Consolas"/>
                <a:sym typeface="Consolas"/>
              </a:rPr>
              <a:t>average_rating, ratings_count, language_code</a:t>
            </a:r>
            <a:endParaRPr b="0" i="0" sz="11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1F1F1F"/>
              </a:buClr>
              <a:buSzPts val="1100"/>
              <a:buFont typeface="Consolas"/>
              <a:buNone/>
            </a:pPr>
            <a:r>
              <a:rPr b="0" i="0" lang="en-US" sz="1100" u="none" cap="none" strike="noStrike">
                <a:solidFill>
                  <a:srgbClr val="1F1F1F"/>
                </a:solidFill>
                <a:latin typeface="Consolas"/>
                <a:ea typeface="Consolas"/>
                <a:cs typeface="Consolas"/>
                <a:sym typeface="Consolas"/>
              </a:rPr>
              <a:t>popular_shelves[ ]   ← shelf-name + count tuples</a:t>
            </a:r>
            <a:endParaRPr b="0" i="0" sz="11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1F1F1F"/>
              </a:buClr>
              <a:buSzPts val="1100"/>
              <a:buFont typeface="Consolas"/>
              <a:buNone/>
            </a:pPr>
            <a:r>
              <a:rPr b="0" i="0" lang="en-US" sz="1100" u="none" cap="none" strike="noStrike">
                <a:solidFill>
                  <a:srgbClr val="1F1F1F"/>
                </a:solidFill>
                <a:latin typeface="Consolas"/>
                <a:ea typeface="Consolas"/>
                <a:cs typeface="Consolas"/>
                <a:sym typeface="Consolas"/>
              </a:rPr>
              <a:t>authors[ ]   ← author_id graph for de-dup</a:t>
            </a:r>
            <a:endParaRPr b="0" i="0" sz="1100" u="none" cap="none" strike="noStrike">
              <a:solidFill>
                <a:schemeClr val="dk1"/>
              </a:solidFill>
              <a:latin typeface="Calibri"/>
              <a:ea typeface="Calibri"/>
              <a:cs typeface="Calibri"/>
              <a:sym typeface="Calibri"/>
            </a:endParaRPr>
          </a:p>
        </p:txBody>
      </p:sp>
      <p:sp>
        <p:nvSpPr>
          <p:cNvPr id="328" name="Google Shape;328;p24"/>
          <p:cNvSpPr/>
          <p:nvPr/>
        </p:nvSpPr>
        <p:spPr>
          <a:xfrm>
            <a:off x="3383280" y="2606040"/>
            <a:ext cx="53035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900"/>
              <a:buFont typeface="Calibri"/>
              <a:buNone/>
            </a:pPr>
            <a:r>
              <a:rPr b="1" i="0" lang="en-US" sz="900" u="none" cap="none" strike="noStrike">
                <a:solidFill>
                  <a:srgbClr val="896F77"/>
                </a:solidFill>
                <a:latin typeface="Calibri"/>
                <a:ea typeface="Calibri"/>
                <a:cs typeface="Calibri"/>
                <a:sym typeface="Calibri"/>
              </a:rPr>
              <a:t>CANDIDATE SCAN  (candidates.py)</a:t>
            </a:r>
            <a:endParaRPr b="0" i="0" sz="900" u="none" cap="none" strike="noStrike">
              <a:solidFill>
                <a:schemeClr val="dk1"/>
              </a:solidFill>
              <a:latin typeface="Calibri"/>
              <a:ea typeface="Calibri"/>
              <a:cs typeface="Calibri"/>
              <a:sym typeface="Calibri"/>
            </a:endParaRPr>
          </a:p>
        </p:txBody>
      </p:sp>
      <p:sp>
        <p:nvSpPr>
          <p:cNvPr id="329" name="Google Shape;329;p24"/>
          <p:cNvSpPr/>
          <p:nvPr/>
        </p:nvSpPr>
        <p:spPr>
          <a:xfrm>
            <a:off x="3383280" y="2834640"/>
            <a:ext cx="530352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100"/>
              <a:buFont typeface="Calibri"/>
              <a:buNone/>
            </a:pPr>
            <a:r>
              <a:rPr b="1" i="0" lang="en-US" sz="1100" u="none" cap="none" strike="noStrike">
                <a:solidFill>
                  <a:srgbClr val="441120"/>
                </a:solidFill>
                <a:latin typeface="Calibri"/>
                <a:ea typeface="Calibri"/>
                <a:cs typeface="Calibri"/>
                <a:sym typeface="Calibri"/>
              </a:rPr>
              <a:t xml:space="preserve">1. </a:t>
            </a:r>
            <a:r>
              <a:rPr b="0" i="0" lang="en-US" sz="1100" u="none" cap="none" strike="noStrike">
                <a:solidFill>
                  <a:srgbClr val="1F1F1F"/>
                </a:solidFill>
                <a:latin typeface="Calibri"/>
                <a:ea typeface="Calibri"/>
                <a:cs typeface="Calibri"/>
                <a:sym typeface="Calibri"/>
              </a:rPr>
              <a:t>Filter by language, page range, ratings_count &gt;= 100</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41120"/>
              </a:buClr>
              <a:buSzPts val="1100"/>
              <a:buFont typeface="Calibri"/>
              <a:buNone/>
            </a:pPr>
            <a:r>
              <a:rPr b="1" i="0" lang="en-US" sz="1100" u="none" cap="none" strike="noStrike">
                <a:solidFill>
                  <a:srgbClr val="441120"/>
                </a:solidFill>
                <a:latin typeface="Calibri"/>
                <a:ea typeface="Calibri"/>
                <a:cs typeface="Calibri"/>
                <a:sym typeface="Calibri"/>
              </a:rPr>
              <a:t xml:space="preserve">2. </a:t>
            </a:r>
            <a:r>
              <a:rPr b="0" i="0" lang="en-US" sz="1100" u="none" cap="none" strike="noStrike">
                <a:solidFill>
                  <a:srgbClr val="1F1F1F"/>
                </a:solidFill>
                <a:latin typeface="Calibri"/>
                <a:ea typeface="Calibri"/>
                <a:cs typeface="Calibri"/>
                <a:sym typeface="Calibri"/>
              </a:rPr>
              <a:t>Strip noise shelves (to-read, favorites, kindle,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41120"/>
              </a:buClr>
              <a:buSzPts val="1100"/>
              <a:buFont typeface="Calibri"/>
              <a:buNone/>
            </a:pPr>
            <a:r>
              <a:rPr b="1" i="0" lang="en-US" sz="1100" u="none" cap="none" strike="noStrike">
                <a:solidFill>
                  <a:srgbClr val="441120"/>
                </a:solidFill>
                <a:latin typeface="Calibri"/>
                <a:ea typeface="Calibri"/>
                <a:cs typeface="Calibri"/>
                <a:sym typeface="Calibri"/>
              </a:rPr>
              <a:t xml:space="preserve">3. </a:t>
            </a:r>
            <a:r>
              <a:rPr b="0" i="0" lang="en-US" sz="1100" u="none" cap="none" strike="noStrike">
                <a:solidFill>
                  <a:srgbClr val="1F1F1F"/>
                </a:solidFill>
                <a:latin typeface="Calibri"/>
                <a:ea typeface="Calibri"/>
                <a:cs typeface="Calibri"/>
                <a:sym typeface="Calibri"/>
              </a:rPr>
              <a:t>Score by overlap between user keywords and shelf tokens</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41120"/>
              </a:buClr>
              <a:buSzPts val="1100"/>
              <a:buFont typeface="Calibri"/>
              <a:buNone/>
            </a:pPr>
            <a:r>
              <a:rPr b="1" i="0" lang="en-US" sz="1100" u="none" cap="none" strike="noStrike">
                <a:solidFill>
                  <a:srgbClr val="441120"/>
                </a:solidFill>
                <a:latin typeface="Calibri"/>
                <a:ea typeface="Calibri"/>
                <a:cs typeface="Calibri"/>
                <a:sym typeface="Calibri"/>
              </a:rPr>
              <a:t xml:space="preserve">4. </a:t>
            </a:r>
            <a:r>
              <a:rPr b="0" i="0" lang="en-US" sz="1100" u="none" cap="none" strike="noStrike">
                <a:solidFill>
                  <a:srgbClr val="1F1F1F"/>
                </a:solidFill>
                <a:latin typeface="Calibri"/>
                <a:ea typeface="Calibri"/>
                <a:cs typeface="Calibri"/>
                <a:sym typeface="Calibri"/>
              </a:rPr>
              <a:t>Deduplicate by work_id, return top 200, take top 25 to model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334" name="Shape 334"/>
        <p:cNvGrpSpPr/>
        <p:nvPr/>
      </p:nvGrpSpPr>
      <p:grpSpPr>
        <a:xfrm>
          <a:off x="0" y="0"/>
          <a:ext cx="0" cy="0"/>
          <a:chOff x="0" y="0"/>
          <a:chExt cx="0" cy="0"/>
        </a:xfrm>
      </p:grpSpPr>
      <p:sp>
        <p:nvSpPr>
          <p:cNvPr id="335" name="Google Shape;335;p25"/>
          <p:cNvSpPr/>
          <p:nvPr/>
        </p:nvSpPr>
        <p:spPr>
          <a:xfrm>
            <a:off x="8275320" y="274320"/>
            <a:ext cx="164592" cy="164592"/>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5"/>
          <p:cNvSpPr/>
          <p:nvPr/>
        </p:nvSpPr>
        <p:spPr>
          <a:xfrm>
            <a:off x="6675120" y="246888"/>
            <a:ext cx="15544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337" name="Google Shape;337;p25"/>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MODELS</a:t>
            </a:r>
            <a:endParaRPr b="0" i="0" sz="1000" u="none" cap="none" strike="noStrike">
              <a:solidFill>
                <a:schemeClr val="dk1"/>
              </a:solidFill>
              <a:latin typeface="Calibri"/>
              <a:ea typeface="Calibri"/>
              <a:cs typeface="Calibri"/>
              <a:sym typeface="Calibri"/>
            </a:endParaRPr>
          </a:p>
        </p:txBody>
      </p:sp>
      <p:sp>
        <p:nvSpPr>
          <p:cNvPr id="338" name="Google Shape;338;p25"/>
          <p:cNvSpPr/>
          <p:nvPr/>
        </p:nvSpPr>
        <p:spPr>
          <a:xfrm>
            <a:off x="457200" y="5029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Two schema-enforced Gemini Flash calls.</a:t>
            </a:r>
            <a:endParaRPr b="0" i="0" sz="2800" u="none" cap="none" strike="noStrike">
              <a:solidFill>
                <a:schemeClr val="dk1"/>
              </a:solidFill>
              <a:latin typeface="Calibri"/>
              <a:ea typeface="Calibri"/>
              <a:cs typeface="Calibri"/>
              <a:sym typeface="Calibri"/>
            </a:endParaRPr>
          </a:p>
        </p:txBody>
      </p:sp>
      <p:sp>
        <p:nvSpPr>
          <p:cNvPr id="339" name="Google Shape;339;p25"/>
          <p:cNvSpPr/>
          <p:nvPr/>
        </p:nvSpPr>
        <p:spPr>
          <a:xfrm>
            <a:off x="457200" y="1325880"/>
            <a:ext cx="4023360" cy="3246120"/>
          </a:xfrm>
          <a:prstGeom prst="rect">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5"/>
          <p:cNvSpPr/>
          <p:nvPr/>
        </p:nvSpPr>
        <p:spPr>
          <a:xfrm>
            <a:off x="457200" y="1325880"/>
            <a:ext cx="73152" cy="324612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5"/>
          <p:cNvSpPr/>
          <p:nvPr/>
        </p:nvSpPr>
        <p:spPr>
          <a:xfrm>
            <a:off x="685800" y="1417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CALL 1 · EXTRACT</a:t>
            </a:r>
            <a:endParaRPr b="0" i="0" sz="1000" u="none" cap="none" strike="noStrike">
              <a:solidFill>
                <a:schemeClr val="dk1"/>
              </a:solidFill>
              <a:latin typeface="Calibri"/>
              <a:ea typeface="Calibri"/>
              <a:cs typeface="Calibri"/>
              <a:sym typeface="Calibri"/>
            </a:endParaRPr>
          </a:p>
        </p:txBody>
      </p:sp>
      <p:sp>
        <p:nvSpPr>
          <p:cNvPr id="342" name="Google Shape;342;p25"/>
          <p:cNvSpPr/>
          <p:nvPr/>
        </p:nvSpPr>
        <p:spPr>
          <a:xfrm>
            <a:off x="685800" y="1664208"/>
            <a:ext cx="3657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500"/>
              <a:buFont typeface="Georgia"/>
              <a:buNone/>
            </a:pPr>
            <a:r>
              <a:rPr b="1" i="1" lang="en-US" sz="1500" u="none" cap="none" strike="noStrike">
                <a:solidFill>
                  <a:srgbClr val="441120"/>
                </a:solidFill>
                <a:latin typeface="Georgia"/>
                <a:ea typeface="Georgia"/>
                <a:cs typeface="Georgia"/>
                <a:sym typeface="Georgia"/>
              </a:rPr>
              <a:t>Survey → structured filters</a:t>
            </a:r>
            <a:endParaRPr b="0" i="0" sz="1500" u="none" cap="none" strike="noStrike">
              <a:solidFill>
                <a:schemeClr val="dk1"/>
              </a:solidFill>
              <a:latin typeface="Calibri"/>
              <a:ea typeface="Calibri"/>
              <a:cs typeface="Calibri"/>
              <a:sym typeface="Calibri"/>
            </a:endParaRPr>
          </a:p>
        </p:txBody>
      </p:sp>
      <p:sp>
        <p:nvSpPr>
          <p:cNvPr id="343" name="Google Shape;343;p25"/>
          <p:cNvSpPr/>
          <p:nvPr/>
        </p:nvSpPr>
        <p:spPr>
          <a:xfrm>
            <a:off x="685800" y="2011680"/>
            <a:ext cx="3657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 xml:space="preserve">Model: </a:t>
            </a:r>
            <a:r>
              <a:rPr b="0" i="1" lang="en-US" sz="1000" u="none" cap="none" strike="noStrike">
                <a:solidFill>
                  <a:srgbClr val="1F1F1F"/>
                </a:solidFill>
                <a:latin typeface="Calibri"/>
                <a:ea typeface="Calibri"/>
                <a:cs typeface="Calibri"/>
                <a:sym typeface="Calibri"/>
              </a:rPr>
              <a:t>gemini-2.0-flash via Vertex AI</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 xml:space="preserve">Temperature: </a:t>
            </a:r>
            <a:r>
              <a:rPr b="0" i="0" lang="en-US" sz="1000" u="none" cap="none" strike="noStrike">
                <a:solidFill>
                  <a:srgbClr val="1F1F1F"/>
                </a:solidFill>
                <a:latin typeface="Calibri"/>
                <a:ea typeface="Calibri"/>
                <a:cs typeface="Calibri"/>
                <a:sym typeface="Calibri"/>
              </a:rPr>
              <a:t xml:space="preserve">0.2  ·  </a:t>
            </a:r>
            <a:r>
              <a:rPr b="1" i="0" lang="en-US" sz="1000" u="none" cap="none" strike="noStrike">
                <a:solidFill>
                  <a:srgbClr val="441120"/>
                </a:solidFill>
                <a:latin typeface="Calibri"/>
                <a:ea typeface="Calibri"/>
                <a:cs typeface="Calibri"/>
                <a:sym typeface="Calibri"/>
              </a:rPr>
              <a:t xml:space="preserve">Output: </a:t>
            </a:r>
            <a:r>
              <a:rPr b="0" i="1" lang="en-US" sz="1000" u="none" cap="none" strike="noStrike">
                <a:solidFill>
                  <a:srgbClr val="1F1F1F"/>
                </a:solidFill>
                <a:latin typeface="Calibri"/>
                <a:ea typeface="Calibri"/>
                <a:cs typeface="Calibri"/>
                <a:sym typeface="Calibri"/>
              </a:rPr>
              <a:t>JSON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 xml:space="preserve">Schema: </a:t>
            </a:r>
            <a:r>
              <a:rPr b="0" i="1" lang="en-US" sz="1000" u="none" cap="none" strike="noStrike">
                <a:solidFill>
                  <a:srgbClr val="1F1F1F"/>
                </a:solidFill>
                <a:latin typeface="Calibri"/>
                <a:ea typeface="Calibri"/>
                <a:cs typeface="Calibri"/>
                <a:sym typeface="Calibri"/>
              </a:rPr>
              <a:t>SurveyFilters (Pydantic)</a:t>
            </a:r>
            <a:endParaRPr b="0" i="0" sz="1000" u="none" cap="none" strike="noStrike">
              <a:solidFill>
                <a:schemeClr val="dk1"/>
              </a:solidFill>
              <a:latin typeface="Calibri"/>
              <a:ea typeface="Calibri"/>
              <a:cs typeface="Calibri"/>
              <a:sym typeface="Calibri"/>
            </a:endParaRPr>
          </a:p>
        </p:txBody>
      </p:sp>
      <p:sp>
        <p:nvSpPr>
          <p:cNvPr id="344" name="Google Shape;344;p25"/>
          <p:cNvSpPr/>
          <p:nvPr/>
        </p:nvSpPr>
        <p:spPr>
          <a:xfrm>
            <a:off x="685800" y="3017520"/>
            <a:ext cx="3657600" cy="1508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Maps free text ("evening read", "18th-century Russian lit") to keywords, page range, era, and difficulty.</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 xml:space="preserve">Why separate: </a:t>
            </a:r>
            <a:r>
              <a:rPr b="0" i="1" lang="en-US" sz="1000" u="none" cap="none" strike="noStrike">
                <a:solidFill>
                  <a:srgbClr val="1F1F1F"/>
                </a:solidFill>
                <a:latin typeface="Calibri"/>
                <a:ea typeface="Calibri"/>
                <a:cs typeface="Calibri"/>
                <a:sym typeface="Calibri"/>
              </a:rPr>
              <a:t>lets us run a deterministic SQL query before the model sees any books — cheaper and grounded.</a:t>
            </a:r>
            <a:endParaRPr b="0" i="0" sz="1000" u="none" cap="none" strike="noStrike">
              <a:solidFill>
                <a:schemeClr val="dk1"/>
              </a:solidFill>
              <a:latin typeface="Calibri"/>
              <a:ea typeface="Calibri"/>
              <a:cs typeface="Calibri"/>
              <a:sym typeface="Calibri"/>
            </a:endParaRPr>
          </a:p>
        </p:txBody>
      </p:sp>
      <p:sp>
        <p:nvSpPr>
          <p:cNvPr id="345" name="Google Shape;345;p25"/>
          <p:cNvSpPr/>
          <p:nvPr/>
        </p:nvSpPr>
        <p:spPr>
          <a:xfrm>
            <a:off x="4663440" y="1325880"/>
            <a:ext cx="4023360" cy="3246120"/>
          </a:xfrm>
          <a:prstGeom prst="rect">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5"/>
          <p:cNvSpPr/>
          <p:nvPr/>
        </p:nvSpPr>
        <p:spPr>
          <a:xfrm>
            <a:off x="4663440" y="1325880"/>
            <a:ext cx="73152" cy="3246120"/>
          </a:xfrm>
          <a:prstGeom prst="rect">
            <a:avLst/>
          </a:prstGeom>
          <a:solidFill>
            <a:srgbClr val="896F77"/>
          </a:solidFill>
          <a:ln cap="flat" cmpd="sng" w="12700">
            <a:solidFill>
              <a:srgbClr val="896F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5"/>
          <p:cNvSpPr/>
          <p:nvPr/>
        </p:nvSpPr>
        <p:spPr>
          <a:xfrm>
            <a:off x="4892040" y="14173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CALL 2 · CURATE</a:t>
            </a:r>
            <a:endParaRPr b="0" i="0" sz="1000" u="none" cap="none" strike="noStrike">
              <a:solidFill>
                <a:schemeClr val="dk1"/>
              </a:solidFill>
              <a:latin typeface="Calibri"/>
              <a:ea typeface="Calibri"/>
              <a:cs typeface="Calibri"/>
              <a:sym typeface="Calibri"/>
            </a:endParaRPr>
          </a:p>
        </p:txBody>
      </p:sp>
      <p:sp>
        <p:nvSpPr>
          <p:cNvPr id="348" name="Google Shape;348;p25"/>
          <p:cNvSpPr/>
          <p:nvPr/>
        </p:nvSpPr>
        <p:spPr>
          <a:xfrm>
            <a:off x="4892040" y="1664208"/>
            <a:ext cx="3657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500"/>
              <a:buFont typeface="Georgia"/>
              <a:buNone/>
            </a:pPr>
            <a:r>
              <a:rPr b="1" i="1" lang="en-US" sz="1500" u="none" cap="none" strike="noStrike">
                <a:solidFill>
                  <a:srgbClr val="441120"/>
                </a:solidFill>
                <a:latin typeface="Georgia"/>
                <a:ea typeface="Georgia"/>
                <a:cs typeface="Georgia"/>
                <a:sym typeface="Georgia"/>
              </a:rPr>
              <a:t>25 candidates → 5-book curriculum</a:t>
            </a:r>
            <a:endParaRPr b="0" i="0" sz="1500" u="none" cap="none" strike="noStrike">
              <a:solidFill>
                <a:schemeClr val="dk1"/>
              </a:solidFill>
              <a:latin typeface="Calibri"/>
              <a:ea typeface="Calibri"/>
              <a:cs typeface="Calibri"/>
              <a:sym typeface="Calibri"/>
            </a:endParaRPr>
          </a:p>
        </p:txBody>
      </p:sp>
      <p:sp>
        <p:nvSpPr>
          <p:cNvPr id="349" name="Google Shape;349;p25"/>
          <p:cNvSpPr/>
          <p:nvPr/>
        </p:nvSpPr>
        <p:spPr>
          <a:xfrm>
            <a:off x="4892040" y="2011680"/>
            <a:ext cx="3657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 xml:space="preserve">Model: </a:t>
            </a:r>
            <a:r>
              <a:rPr b="0" i="1" lang="en-US" sz="1000" u="none" cap="none" strike="noStrike">
                <a:solidFill>
                  <a:srgbClr val="1F1F1F"/>
                </a:solidFill>
                <a:latin typeface="Calibri"/>
                <a:ea typeface="Calibri"/>
                <a:cs typeface="Calibri"/>
                <a:sym typeface="Calibri"/>
              </a:rPr>
              <a:t>gemini-2.0-flash via Vertex AI</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 xml:space="preserve">Temperature: </a:t>
            </a:r>
            <a:r>
              <a:rPr b="0" i="0" lang="en-US" sz="1000" u="none" cap="none" strike="noStrike">
                <a:solidFill>
                  <a:srgbClr val="1F1F1F"/>
                </a:solidFill>
                <a:latin typeface="Calibri"/>
                <a:ea typeface="Calibri"/>
                <a:cs typeface="Calibri"/>
                <a:sym typeface="Calibri"/>
              </a:rPr>
              <a:t xml:space="preserve">0.3  ·  </a:t>
            </a:r>
            <a:r>
              <a:rPr b="1" i="0" lang="en-US" sz="1000" u="none" cap="none" strike="noStrike">
                <a:solidFill>
                  <a:srgbClr val="441120"/>
                </a:solidFill>
                <a:latin typeface="Calibri"/>
                <a:ea typeface="Calibri"/>
                <a:cs typeface="Calibri"/>
                <a:sym typeface="Calibri"/>
              </a:rPr>
              <a:t xml:space="preserve">Output: </a:t>
            </a:r>
            <a:r>
              <a:rPr b="0" i="1" lang="en-US" sz="1000" u="none" cap="none" strike="noStrike">
                <a:solidFill>
                  <a:srgbClr val="1F1F1F"/>
                </a:solidFill>
                <a:latin typeface="Calibri"/>
                <a:ea typeface="Calibri"/>
                <a:cs typeface="Calibri"/>
                <a:sym typeface="Calibri"/>
              </a:rPr>
              <a:t>JSON</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 xml:space="preserve">Schema: </a:t>
            </a:r>
            <a:r>
              <a:rPr b="0" i="1" lang="en-US" sz="1000" u="none" cap="none" strike="noStrike">
                <a:solidFill>
                  <a:srgbClr val="1F1F1F"/>
                </a:solidFill>
                <a:latin typeface="Calibri"/>
                <a:ea typeface="Calibri"/>
                <a:cs typeface="Calibri"/>
                <a:sym typeface="Calibri"/>
              </a:rPr>
              <a:t>Curriculum (week, title, author, reason, overall_arc)</a:t>
            </a:r>
            <a:endParaRPr b="0" i="0" sz="1000" u="none" cap="none" strike="noStrike">
              <a:solidFill>
                <a:schemeClr val="dk1"/>
              </a:solidFill>
              <a:latin typeface="Calibri"/>
              <a:ea typeface="Calibri"/>
              <a:cs typeface="Calibri"/>
              <a:sym typeface="Calibri"/>
            </a:endParaRPr>
          </a:p>
        </p:txBody>
      </p:sp>
      <p:sp>
        <p:nvSpPr>
          <p:cNvPr id="350" name="Google Shape;350;p25"/>
          <p:cNvSpPr/>
          <p:nvPr/>
        </p:nvSpPr>
        <p:spPr>
          <a:xfrm>
            <a:off x="4892040" y="3017520"/>
            <a:ext cx="3657600" cy="1508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Receives top-25 candidates and orders them by progressive difficulty.</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 xml:space="preserve">No hallucinations: </a:t>
            </a:r>
            <a:r>
              <a:rPr b="0" i="1" lang="en-US" sz="1000" u="none" cap="none" strike="noStrike">
                <a:solidFill>
                  <a:srgbClr val="1F1F1F"/>
                </a:solidFill>
                <a:latin typeface="Calibri"/>
                <a:ea typeface="Calibri"/>
                <a:cs typeface="Calibri"/>
                <a:sym typeface="Calibri"/>
              </a:rPr>
              <a:t>the model can only choose from real book_ids in the pool. Phase 2 will add an MLflow-tracked reranker over check-in data.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355" name="Shape 355"/>
        <p:cNvGrpSpPr/>
        <p:nvPr/>
      </p:nvGrpSpPr>
      <p:grpSpPr>
        <a:xfrm>
          <a:off x="0" y="0"/>
          <a:ext cx="0" cy="0"/>
          <a:chOff x="0" y="0"/>
          <a:chExt cx="0" cy="0"/>
        </a:xfrm>
      </p:grpSpPr>
      <p:sp>
        <p:nvSpPr>
          <p:cNvPr id="356" name="Google Shape;356;p26"/>
          <p:cNvSpPr/>
          <p:nvPr/>
        </p:nvSpPr>
        <p:spPr>
          <a:xfrm>
            <a:off x="8275320" y="274320"/>
            <a:ext cx="164592" cy="164592"/>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6"/>
          <p:cNvSpPr/>
          <p:nvPr/>
        </p:nvSpPr>
        <p:spPr>
          <a:xfrm>
            <a:off x="6675120" y="246888"/>
            <a:ext cx="15544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358" name="Google Shape;358;p26"/>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TECH TOPIC</a:t>
            </a:r>
            <a:endParaRPr b="0" i="0" sz="1000" u="none" cap="none" strike="noStrike">
              <a:solidFill>
                <a:schemeClr val="dk1"/>
              </a:solidFill>
              <a:latin typeface="Calibri"/>
              <a:ea typeface="Calibri"/>
              <a:cs typeface="Calibri"/>
              <a:sym typeface="Calibri"/>
            </a:endParaRPr>
          </a:p>
        </p:txBody>
      </p:sp>
      <p:sp>
        <p:nvSpPr>
          <p:cNvPr id="359" name="Google Shape;359;p26"/>
          <p:cNvSpPr/>
          <p:nvPr/>
        </p:nvSpPr>
        <p:spPr>
          <a:xfrm>
            <a:off x="457200" y="5029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Testing &amp; nightly evaluation.</a:t>
            </a:r>
            <a:endParaRPr b="0" i="0" sz="2800" u="none" cap="none" strike="noStrike">
              <a:solidFill>
                <a:schemeClr val="dk1"/>
              </a:solidFill>
              <a:latin typeface="Calibri"/>
              <a:ea typeface="Calibri"/>
              <a:cs typeface="Calibri"/>
              <a:sym typeface="Calibri"/>
            </a:endParaRPr>
          </a:p>
        </p:txBody>
      </p:sp>
      <p:sp>
        <p:nvSpPr>
          <p:cNvPr id="360" name="Google Shape;360;p26"/>
          <p:cNvSpPr/>
          <p:nvPr/>
        </p:nvSpPr>
        <p:spPr>
          <a:xfrm>
            <a:off x="457200" y="1280160"/>
            <a:ext cx="1783080" cy="100584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6"/>
          <p:cNvSpPr/>
          <p:nvPr/>
        </p:nvSpPr>
        <p:spPr>
          <a:xfrm>
            <a:off x="457200" y="1325880"/>
            <a:ext cx="178308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DEDED"/>
              </a:buClr>
              <a:buSzPts val="3800"/>
              <a:buFont typeface="Georgia"/>
              <a:buNone/>
            </a:pPr>
            <a:r>
              <a:rPr b="1" i="1" lang="en-US" sz="3800" u="none" cap="none" strike="noStrike">
                <a:solidFill>
                  <a:srgbClr val="EDEDED"/>
                </a:solidFill>
                <a:latin typeface="Georgia"/>
                <a:ea typeface="Georgia"/>
                <a:cs typeface="Georgia"/>
                <a:sym typeface="Georgia"/>
              </a:rPr>
              <a:t>38</a:t>
            </a:r>
            <a:endParaRPr b="0" i="0" sz="3800" u="none" cap="none" strike="noStrike">
              <a:solidFill>
                <a:schemeClr val="dk1"/>
              </a:solidFill>
              <a:latin typeface="Calibri"/>
              <a:ea typeface="Calibri"/>
              <a:cs typeface="Calibri"/>
              <a:sym typeface="Calibri"/>
            </a:endParaRPr>
          </a:p>
        </p:txBody>
      </p:sp>
      <p:sp>
        <p:nvSpPr>
          <p:cNvPr id="362" name="Google Shape;362;p26"/>
          <p:cNvSpPr/>
          <p:nvPr/>
        </p:nvSpPr>
        <p:spPr>
          <a:xfrm>
            <a:off x="457200" y="1920240"/>
            <a:ext cx="17830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6"/>
              </a:buClr>
              <a:buSzPts val="900"/>
              <a:buFont typeface="Calibri"/>
              <a:buNone/>
            </a:pPr>
            <a:r>
              <a:rPr b="0" i="1" lang="en-US" sz="900" u="none" cap="none" strike="noStrike">
                <a:solidFill>
                  <a:srgbClr val="D9D9D6"/>
                </a:solidFill>
                <a:latin typeface="Calibri"/>
                <a:ea typeface="Calibri"/>
                <a:cs typeface="Calibri"/>
                <a:sym typeface="Calibri"/>
              </a:rPr>
              <a:t>pytest cases</a:t>
            </a:r>
            <a:endParaRPr b="0" i="0" sz="900" u="none" cap="none" strike="noStrike">
              <a:solidFill>
                <a:schemeClr val="dk1"/>
              </a:solidFill>
              <a:latin typeface="Calibri"/>
              <a:ea typeface="Calibri"/>
              <a:cs typeface="Calibri"/>
              <a:sym typeface="Calibri"/>
            </a:endParaRPr>
          </a:p>
        </p:txBody>
      </p:sp>
      <p:sp>
        <p:nvSpPr>
          <p:cNvPr id="363" name="Google Shape;363;p26"/>
          <p:cNvSpPr/>
          <p:nvPr/>
        </p:nvSpPr>
        <p:spPr>
          <a:xfrm>
            <a:off x="2606040" y="1280160"/>
            <a:ext cx="1783080" cy="100584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6"/>
          <p:cNvSpPr/>
          <p:nvPr/>
        </p:nvSpPr>
        <p:spPr>
          <a:xfrm>
            <a:off x="2606040" y="1325880"/>
            <a:ext cx="178308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DEDED"/>
              </a:buClr>
              <a:buSzPts val="3800"/>
              <a:buFont typeface="Georgia"/>
              <a:buNone/>
            </a:pPr>
            <a:r>
              <a:rPr b="1" i="1" lang="en-US" sz="3800" u="none" cap="none" strike="noStrike">
                <a:solidFill>
                  <a:srgbClr val="EDEDED"/>
                </a:solidFill>
                <a:latin typeface="Georgia"/>
                <a:ea typeface="Georgia"/>
                <a:cs typeface="Georgia"/>
                <a:sym typeface="Georgia"/>
              </a:rPr>
              <a:t>9</a:t>
            </a:r>
            <a:endParaRPr b="0" i="0" sz="3800" u="none" cap="none" strike="noStrike">
              <a:solidFill>
                <a:schemeClr val="dk1"/>
              </a:solidFill>
              <a:latin typeface="Calibri"/>
              <a:ea typeface="Calibri"/>
              <a:cs typeface="Calibri"/>
              <a:sym typeface="Calibri"/>
            </a:endParaRPr>
          </a:p>
        </p:txBody>
      </p:sp>
      <p:sp>
        <p:nvSpPr>
          <p:cNvPr id="365" name="Google Shape;365;p26"/>
          <p:cNvSpPr/>
          <p:nvPr/>
        </p:nvSpPr>
        <p:spPr>
          <a:xfrm>
            <a:off x="2606040" y="1920240"/>
            <a:ext cx="17830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6"/>
              </a:buClr>
              <a:buSzPts val="900"/>
              <a:buFont typeface="Calibri"/>
              <a:buNone/>
            </a:pPr>
            <a:r>
              <a:rPr b="0" i="1" lang="en-US" sz="900" u="none" cap="none" strike="noStrike">
                <a:solidFill>
                  <a:srgbClr val="D9D9D6"/>
                </a:solidFill>
                <a:latin typeface="Calibri"/>
                <a:ea typeface="Calibri"/>
                <a:cs typeface="Calibri"/>
                <a:sym typeface="Calibri"/>
              </a:rPr>
              <a:t>test classes</a:t>
            </a:r>
            <a:endParaRPr b="0" i="0" sz="900" u="none" cap="none" strike="noStrike">
              <a:solidFill>
                <a:schemeClr val="dk1"/>
              </a:solidFill>
              <a:latin typeface="Calibri"/>
              <a:ea typeface="Calibri"/>
              <a:cs typeface="Calibri"/>
              <a:sym typeface="Calibri"/>
            </a:endParaRPr>
          </a:p>
        </p:txBody>
      </p:sp>
      <p:sp>
        <p:nvSpPr>
          <p:cNvPr id="366" name="Google Shape;366;p26"/>
          <p:cNvSpPr/>
          <p:nvPr/>
        </p:nvSpPr>
        <p:spPr>
          <a:xfrm>
            <a:off x="4754880" y="1280160"/>
            <a:ext cx="1783080" cy="100584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6"/>
          <p:cNvSpPr/>
          <p:nvPr/>
        </p:nvSpPr>
        <p:spPr>
          <a:xfrm>
            <a:off x="4754880" y="1325880"/>
            <a:ext cx="178308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DEDED"/>
              </a:buClr>
              <a:buSzPts val="3800"/>
              <a:buFont typeface="Georgia"/>
              <a:buNone/>
            </a:pPr>
            <a:r>
              <a:rPr b="1" i="1" lang="en-US" sz="3800" u="none" cap="none" strike="noStrike">
                <a:solidFill>
                  <a:srgbClr val="EDEDED"/>
                </a:solidFill>
                <a:latin typeface="Georgia"/>
                <a:ea typeface="Georgia"/>
                <a:cs typeface="Georgia"/>
                <a:sym typeface="Georgia"/>
              </a:rPr>
              <a:t>1</a:t>
            </a:r>
            <a:endParaRPr b="0" i="0" sz="3800" u="none" cap="none" strike="noStrike">
              <a:solidFill>
                <a:schemeClr val="dk1"/>
              </a:solidFill>
              <a:latin typeface="Calibri"/>
              <a:ea typeface="Calibri"/>
              <a:cs typeface="Calibri"/>
              <a:sym typeface="Calibri"/>
            </a:endParaRPr>
          </a:p>
        </p:txBody>
      </p:sp>
      <p:sp>
        <p:nvSpPr>
          <p:cNvPr id="368" name="Google Shape;368;p26"/>
          <p:cNvSpPr/>
          <p:nvPr/>
        </p:nvSpPr>
        <p:spPr>
          <a:xfrm>
            <a:off x="4754880" y="1920240"/>
            <a:ext cx="17830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6"/>
              </a:buClr>
              <a:buSzPts val="900"/>
              <a:buFont typeface="Calibri"/>
              <a:buNone/>
            </a:pPr>
            <a:r>
              <a:rPr b="0" i="1" lang="en-US" sz="900" u="none" cap="none" strike="noStrike">
                <a:solidFill>
                  <a:srgbClr val="D9D9D6"/>
                </a:solidFill>
                <a:latin typeface="Calibri"/>
                <a:ea typeface="Calibri"/>
                <a:cs typeface="Calibri"/>
                <a:sym typeface="Calibri"/>
              </a:rPr>
              <a:t>nightly cron · GH Actions</a:t>
            </a:r>
            <a:endParaRPr b="0" i="0" sz="900" u="none" cap="none" strike="noStrike">
              <a:solidFill>
                <a:schemeClr val="dk1"/>
              </a:solidFill>
              <a:latin typeface="Calibri"/>
              <a:ea typeface="Calibri"/>
              <a:cs typeface="Calibri"/>
              <a:sym typeface="Calibri"/>
            </a:endParaRPr>
          </a:p>
        </p:txBody>
      </p:sp>
      <p:sp>
        <p:nvSpPr>
          <p:cNvPr id="369" name="Google Shape;369;p26"/>
          <p:cNvSpPr/>
          <p:nvPr/>
        </p:nvSpPr>
        <p:spPr>
          <a:xfrm>
            <a:off x="6903720" y="1280160"/>
            <a:ext cx="1783080" cy="100584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6"/>
          <p:cNvSpPr/>
          <p:nvPr/>
        </p:nvSpPr>
        <p:spPr>
          <a:xfrm>
            <a:off x="6903720" y="1325880"/>
            <a:ext cx="178308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DEDED"/>
              </a:buClr>
              <a:buSzPts val="3800"/>
              <a:buFont typeface="Georgia"/>
              <a:buNone/>
            </a:pPr>
            <a:r>
              <a:rPr b="1" i="1" lang="en-US" sz="3800" u="none" cap="none" strike="noStrike">
                <a:solidFill>
                  <a:srgbClr val="EDEDED"/>
                </a:solidFill>
                <a:latin typeface="Georgia"/>
                <a:ea typeface="Georgia"/>
                <a:cs typeface="Georgia"/>
                <a:sym typeface="Georgia"/>
              </a:rPr>
              <a:t>0</a:t>
            </a:r>
            <a:endParaRPr b="0" i="0" sz="3800" u="none" cap="none" strike="noStrike">
              <a:solidFill>
                <a:schemeClr val="dk1"/>
              </a:solidFill>
              <a:latin typeface="Calibri"/>
              <a:ea typeface="Calibri"/>
              <a:cs typeface="Calibri"/>
              <a:sym typeface="Calibri"/>
            </a:endParaRPr>
          </a:p>
        </p:txBody>
      </p:sp>
      <p:sp>
        <p:nvSpPr>
          <p:cNvPr id="371" name="Google Shape;371;p26"/>
          <p:cNvSpPr/>
          <p:nvPr/>
        </p:nvSpPr>
        <p:spPr>
          <a:xfrm>
            <a:off x="6903720" y="1920240"/>
            <a:ext cx="17830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6"/>
              </a:buClr>
              <a:buSzPts val="900"/>
              <a:buFont typeface="Calibri"/>
              <a:buNone/>
            </a:pPr>
            <a:r>
              <a:rPr b="0" i="1" lang="en-US" sz="900" u="none" cap="none" strike="noStrike">
                <a:solidFill>
                  <a:srgbClr val="D9D9D6"/>
                </a:solidFill>
                <a:latin typeface="Calibri"/>
                <a:ea typeface="Calibri"/>
                <a:cs typeface="Calibri"/>
                <a:sym typeface="Calibri"/>
              </a:rPr>
              <a:t>live GCP calls in CI</a:t>
            </a:r>
            <a:endParaRPr b="0" i="0" sz="900" u="none" cap="none" strike="noStrike">
              <a:solidFill>
                <a:schemeClr val="dk1"/>
              </a:solidFill>
              <a:latin typeface="Calibri"/>
              <a:ea typeface="Calibri"/>
              <a:cs typeface="Calibri"/>
              <a:sym typeface="Calibri"/>
            </a:endParaRPr>
          </a:p>
        </p:txBody>
      </p:sp>
      <p:sp>
        <p:nvSpPr>
          <p:cNvPr id="372" name="Google Shape;372;p26"/>
          <p:cNvSpPr/>
          <p:nvPr/>
        </p:nvSpPr>
        <p:spPr>
          <a:xfrm>
            <a:off x="457200" y="2514600"/>
            <a:ext cx="4023360" cy="2103120"/>
          </a:xfrm>
          <a:prstGeom prst="rect">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6"/>
          <p:cNvSpPr/>
          <p:nvPr/>
        </p:nvSpPr>
        <p:spPr>
          <a:xfrm>
            <a:off x="457200" y="2514600"/>
            <a:ext cx="73152" cy="210312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6"/>
          <p:cNvSpPr/>
          <p:nvPr/>
        </p:nvSpPr>
        <p:spPr>
          <a:xfrm>
            <a:off x="685800" y="260604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WHAT WE TEST</a:t>
            </a:r>
            <a:endParaRPr b="0" i="0" sz="1000" u="none" cap="none" strike="noStrike">
              <a:solidFill>
                <a:schemeClr val="dk1"/>
              </a:solidFill>
              <a:latin typeface="Calibri"/>
              <a:ea typeface="Calibri"/>
              <a:cs typeface="Calibri"/>
              <a:sym typeface="Calibri"/>
            </a:endParaRPr>
          </a:p>
        </p:txBody>
      </p:sp>
      <p:sp>
        <p:nvSpPr>
          <p:cNvPr id="375" name="Google Shape;375;p26"/>
          <p:cNvSpPr/>
          <p:nvPr/>
        </p:nvSpPr>
        <p:spPr>
          <a:xfrm>
            <a:off x="685800" y="2880360"/>
            <a:ext cx="3657600" cy="16916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Schema contracts (EraRange, PageRange, SurveyFilters)</a:t>
            </a:r>
            <a:endParaRPr b="0" i="0" sz="11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Curriculum structure &amp; per-pick reasoning</a:t>
            </a:r>
            <a:endParaRPr b="0" i="0" sz="11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Pipeline failure paths (empty pool, unrecognized topic)</a:t>
            </a:r>
            <a:endParaRPr b="0" i="0" sz="11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FastAPI endpoint contracts</a:t>
            </a:r>
            <a:endParaRPr b="0" i="0" sz="11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1F1F1F"/>
              </a:buClr>
              <a:buSzPts val="1100"/>
              <a:buFont typeface="Calibri"/>
              <a:buChar char="•"/>
            </a:pPr>
            <a:r>
              <a:rPr b="0" i="0" lang="en-US" sz="1100" u="none" cap="none" strike="noStrike">
                <a:solidFill>
                  <a:srgbClr val="1F1F1F"/>
                </a:solidFill>
                <a:latin typeface="Calibri"/>
                <a:ea typeface="Calibri"/>
                <a:cs typeface="Calibri"/>
                <a:sym typeface="Calibri"/>
              </a:rPr>
              <a:t>Prompt-injection guard on extract.py</a:t>
            </a:r>
            <a:endParaRPr b="0" i="0" sz="1100" u="none" cap="none" strike="noStrike">
              <a:solidFill>
                <a:schemeClr val="dk1"/>
              </a:solidFill>
              <a:latin typeface="Calibri"/>
              <a:ea typeface="Calibri"/>
              <a:cs typeface="Calibri"/>
              <a:sym typeface="Calibri"/>
            </a:endParaRPr>
          </a:p>
        </p:txBody>
      </p:sp>
      <p:sp>
        <p:nvSpPr>
          <p:cNvPr id="376" name="Google Shape;376;p26"/>
          <p:cNvSpPr/>
          <p:nvPr/>
        </p:nvSpPr>
        <p:spPr>
          <a:xfrm>
            <a:off x="4663440" y="2514600"/>
            <a:ext cx="4023360" cy="2103120"/>
          </a:xfrm>
          <a:prstGeom prst="rect">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6"/>
          <p:cNvSpPr/>
          <p:nvPr/>
        </p:nvSpPr>
        <p:spPr>
          <a:xfrm>
            <a:off x="4663440" y="2514600"/>
            <a:ext cx="73152" cy="2103120"/>
          </a:xfrm>
          <a:prstGeom prst="rect">
            <a:avLst/>
          </a:prstGeom>
          <a:solidFill>
            <a:srgbClr val="896F77"/>
          </a:solidFill>
          <a:ln cap="flat" cmpd="sng" w="12700">
            <a:solidFill>
              <a:srgbClr val="896F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6"/>
          <p:cNvSpPr/>
          <p:nvPr/>
        </p:nvSpPr>
        <p:spPr>
          <a:xfrm>
            <a:off x="4892040" y="260604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HOW IT RUNS</a:t>
            </a:r>
            <a:endParaRPr b="0" i="0" sz="1000" u="none" cap="none" strike="noStrike">
              <a:solidFill>
                <a:schemeClr val="dk1"/>
              </a:solidFill>
              <a:latin typeface="Calibri"/>
              <a:ea typeface="Calibri"/>
              <a:cs typeface="Calibri"/>
              <a:sym typeface="Calibri"/>
            </a:endParaRPr>
          </a:p>
        </p:txBody>
      </p:sp>
      <p:sp>
        <p:nvSpPr>
          <p:cNvPr id="379" name="Google Shape;379;p26"/>
          <p:cNvSpPr/>
          <p:nvPr/>
        </p:nvSpPr>
        <p:spPr>
          <a:xfrm>
            <a:off x="4892040" y="2880360"/>
            <a:ext cx="365760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 xml:space="preserve">GitHub Actions </a:t>
            </a:r>
            <a:r>
              <a:rPr b="0" i="1" lang="en-US" sz="1000" u="none" cap="none" strike="noStrike">
                <a:solidFill>
                  <a:srgbClr val="1F1F1F"/>
                </a:solidFill>
                <a:latin typeface="Calibri"/>
                <a:ea typeface="Calibri"/>
                <a:cs typeface="Calibri"/>
                <a:sym typeface="Calibri"/>
              </a:rPr>
              <a:t>(.github/workflows/nightly.yml)</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 xml:space="preserve">Cron: </a:t>
            </a:r>
            <a:r>
              <a:rPr b="0" i="1" lang="en-US" sz="1000" u="none" cap="none" strike="noStrike">
                <a:solidFill>
                  <a:srgbClr val="1F1F1F"/>
                </a:solidFill>
                <a:latin typeface="Calibri"/>
                <a:ea typeface="Calibri"/>
                <a:cs typeface="Calibri"/>
                <a:sym typeface="Calibri"/>
              </a:rPr>
              <a:t>0 6 * * *  (2 AM ET / 11 PM PT)</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 xml:space="preserve">Manual: </a:t>
            </a:r>
            <a:r>
              <a:rPr b="0" i="1" lang="en-US" sz="1000" u="none" cap="none" strike="noStrike">
                <a:solidFill>
                  <a:srgbClr val="1F1F1F"/>
                </a:solidFill>
                <a:latin typeface="Calibri"/>
                <a:ea typeface="Calibri"/>
                <a:cs typeface="Calibri"/>
                <a:sym typeface="Calibri"/>
              </a:rPr>
              <a:t>workflow_dispatch from the Actions tab</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 xml:space="preserve">Isolation: </a:t>
            </a:r>
            <a:r>
              <a:rPr b="0" i="1" lang="en-US" sz="1000" u="none" cap="none" strike="noStrike">
                <a:solidFill>
                  <a:srgbClr val="1F1F1F"/>
                </a:solidFill>
                <a:latin typeface="Calibri"/>
                <a:ea typeface="Calibri"/>
                <a:cs typeface="Calibri"/>
                <a:sym typeface="Calibri"/>
              </a:rPr>
              <a:t>google.cloud + mlflow stubbed via MagicMock — zero live cost in CI</a:t>
            </a:r>
            <a:endParaRPr b="0" i="0" sz="10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41120"/>
              </a:buClr>
              <a:buSzPts val="1000"/>
              <a:buFont typeface="Calibri"/>
              <a:buNone/>
            </a:pPr>
            <a:r>
              <a:rPr b="1" i="0" lang="en-US" sz="1000" u="none" cap="none" strike="noStrike">
                <a:solidFill>
                  <a:srgbClr val="441120"/>
                </a:solidFill>
                <a:latin typeface="Calibri"/>
                <a:ea typeface="Calibri"/>
                <a:cs typeface="Calibri"/>
                <a:sym typeface="Calibri"/>
              </a:rPr>
              <a:t xml:space="preserve">Failure: </a:t>
            </a:r>
            <a:r>
              <a:rPr b="0" i="1" lang="en-US" sz="1000" u="none" cap="none" strike="noStrike">
                <a:solidFill>
                  <a:srgbClr val="1F1F1F"/>
                </a:solidFill>
                <a:latin typeface="Calibri"/>
                <a:ea typeface="Calibri"/>
                <a:cs typeface="Calibri"/>
                <a:sym typeface="Calibri"/>
              </a:rPr>
              <a:t>::error:: annotation surfaces in the PR check</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384" name="Shape 384"/>
        <p:cNvGrpSpPr/>
        <p:nvPr/>
      </p:nvGrpSpPr>
      <p:grpSpPr>
        <a:xfrm>
          <a:off x="0" y="0"/>
          <a:ext cx="0" cy="0"/>
          <a:chOff x="0" y="0"/>
          <a:chExt cx="0" cy="0"/>
        </a:xfrm>
      </p:grpSpPr>
      <p:sp>
        <p:nvSpPr>
          <p:cNvPr id="385" name="Google Shape;385;p27"/>
          <p:cNvSpPr/>
          <p:nvPr/>
        </p:nvSpPr>
        <p:spPr>
          <a:xfrm>
            <a:off x="8275320" y="274320"/>
            <a:ext cx="164592" cy="164592"/>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7"/>
          <p:cNvSpPr/>
          <p:nvPr/>
        </p:nvSpPr>
        <p:spPr>
          <a:xfrm>
            <a:off x="6675120" y="246888"/>
            <a:ext cx="15544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387" name="Google Shape;387;p27"/>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DIFFERENTIATORS</a:t>
            </a:r>
            <a:endParaRPr b="0" i="0" sz="1000" u="none" cap="none" strike="noStrike">
              <a:solidFill>
                <a:schemeClr val="dk1"/>
              </a:solidFill>
              <a:latin typeface="Calibri"/>
              <a:ea typeface="Calibri"/>
              <a:cs typeface="Calibri"/>
              <a:sym typeface="Calibri"/>
            </a:endParaRPr>
          </a:p>
        </p:txBody>
      </p:sp>
      <p:sp>
        <p:nvSpPr>
          <p:cNvPr id="388" name="Google Shape;388;p27"/>
          <p:cNvSpPr/>
          <p:nvPr/>
        </p:nvSpPr>
        <p:spPr>
          <a:xfrm>
            <a:off x="457200" y="5029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Why this isn't just "ask ChatGPT."</a:t>
            </a:r>
            <a:endParaRPr b="0" i="0" sz="2800" u="none" cap="none" strike="noStrike">
              <a:solidFill>
                <a:schemeClr val="dk1"/>
              </a:solidFill>
              <a:latin typeface="Calibri"/>
              <a:ea typeface="Calibri"/>
              <a:cs typeface="Calibri"/>
              <a:sym typeface="Calibri"/>
            </a:endParaRPr>
          </a:p>
        </p:txBody>
      </p:sp>
      <p:sp>
        <p:nvSpPr>
          <p:cNvPr id="389" name="Google Shape;389;p27"/>
          <p:cNvSpPr/>
          <p:nvPr/>
        </p:nvSpPr>
        <p:spPr>
          <a:xfrm>
            <a:off x="457200" y="1280160"/>
            <a:ext cx="4023360" cy="1033272"/>
          </a:xfrm>
          <a:prstGeom prst="rect">
            <a:avLst/>
          </a:prstGeom>
          <a:solidFill>
            <a:srgbClr val="FFFFFF"/>
          </a:solidFill>
          <a:ln cap="flat" cmpd="sng" w="12700">
            <a:solidFill>
              <a:srgbClr val="FFFFFF"/>
            </a:solidFill>
            <a:prstDash val="solid"/>
            <a:round/>
            <a:headEnd len="sm" w="sm" type="none"/>
            <a:tailEnd len="sm" w="sm" type="none"/>
          </a:ln>
          <a:effectLst>
            <a:outerShdw blurRad="63500" rotWithShape="0" algn="bl" dir="54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7"/>
          <p:cNvSpPr/>
          <p:nvPr/>
        </p:nvSpPr>
        <p:spPr>
          <a:xfrm>
            <a:off x="594360" y="1371600"/>
            <a:ext cx="594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2200"/>
              <a:buFont typeface="Georgia"/>
              <a:buNone/>
            </a:pPr>
            <a:r>
              <a:rPr b="1" i="1" lang="en-US" sz="2200" u="none" cap="none" strike="noStrike">
                <a:solidFill>
                  <a:srgbClr val="896F77"/>
                </a:solidFill>
                <a:latin typeface="Georgia"/>
                <a:ea typeface="Georgia"/>
                <a:cs typeface="Georgia"/>
                <a:sym typeface="Georgia"/>
              </a:rPr>
              <a:t>01</a:t>
            </a:r>
            <a:endParaRPr b="0" i="0" sz="2200" u="none" cap="none" strike="noStrike">
              <a:solidFill>
                <a:schemeClr val="dk1"/>
              </a:solidFill>
              <a:latin typeface="Calibri"/>
              <a:ea typeface="Calibri"/>
              <a:cs typeface="Calibri"/>
              <a:sym typeface="Calibri"/>
            </a:endParaRPr>
          </a:p>
        </p:txBody>
      </p:sp>
      <p:sp>
        <p:nvSpPr>
          <p:cNvPr id="391" name="Google Shape;391;p27"/>
          <p:cNvSpPr/>
          <p:nvPr/>
        </p:nvSpPr>
        <p:spPr>
          <a:xfrm>
            <a:off x="1234440" y="1389888"/>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300"/>
              <a:buFont typeface="Georgia"/>
              <a:buNone/>
            </a:pPr>
            <a:r>
              <a:rPr b="1" i="0" lang="en-US" sz="1300" u="none" cap="none" strike="noStrike">
                <a:solidFill>
                  <a:srgbClr val="441120"/>
                </a:solidFill>
                <a:latin typeface="Georgia"/>
                <a:ea typeface="Georgia"/>
                <a:cs typeface="Georgia"/>
                <a:sym typeface="Georgia"/>
              </a:rPr>
              <a:t>One form vs eight messages</a:t>
            </a:r>
            <a:endParaRPr b="0" i="0" sz="1300" u="none" cap="none" strike="noStrike">
              <a:solidFill>
                <a:schemeClr val="dk1"/>
              </a:solidFill>
              <a:latin typeface="Calibri"/>
              <a:ea typeface="Calibri"/>
              <a:cs typeface="Calibri"/>
              <a:sym typeface="Calibri"/>
            </a:endParaRPr>
          </a:p>
        </p:txBody>
      </p:sp>
      <p:sp>
        <p:nvSpPr>
          <p:cNvPr id="392" name="Google Shape;392;p27"/>
          <p:cNvSpPr/>
          <p:nvPr/>
        </p:nvSpPr>
        <p:spPr>
          <a:xfrm>
            <a:off x="1234440" y="1700784"/>
            <a:ext cx="31089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Structured survey replaces 8 back-and-forth chat turns about reading level, time, and history.</a:t>
            </a:r>
            <a:endParaRPr b="0" i="0" sz="1000" u="none" cap="none" strike="noStrike">
              <a:solidFill>
                <a:schemeClr val="dk1"/>
              </a:solidFill>
              <a:latin typeface="Calibri"/>
              <a:ea typeface="Calibri"/>
              <a:cs typeface="Calibri"/>
              <a:sym typeface="Calibri"/>
            </a:endParaRPr>
          </a:p>
        </p:txBody>
      </p:sp>
      <p:sp>
        <p:nvSpPr>
          <p:cNvPr id="393" name="Google Shape;393;p27"/>
          <p:cNvSpPr/>
          <p:nvPr/>
        </p:nvSpPr>
        <p:spPr>
          <a:xfrm>
            <a:off x="4663440" y="1280160"/>
            <a:ext cx="4023360" cy="1033272"/>
          </a:xfrm>
          <a:prstGeom prst="rect">
            <a:avLst/>
          </a:prstGeom>
          <a:solidFill>
            <a:srgbClr val="FFFFFF"/>
          </a:solidFill>
          <a:ln cap="flat" cmpd="sng" w="12700">
            <a:solidFill>
              <a:srgbClr val="FFFFFF"/>
            </a:solidFill>
            <a:prstDash val="solid"/>
            <a:round/>
            <a:headEnd len="sm" w="sm" type="none"/>
            <a:tailEnd len="sm" w="sm" type="none"/>
          </a:ln>
          <a:effectLst>
            <a:outerShdw blurRad="63500" rotWithShape="0" algn="bl" dir="54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7"/>
          <p:cNvSpPr/>
          <p:nvPr/>
        </p:nvSpPr>
        <p:spPr>
          <a:xfrm>
            <a:off x="4800600" y="1371600"/>
            <a:ext cx="594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2200"/>
              <a:buFont typeface="Georgia"/>
              <a:buNone/>
            </a:pPr>
            <a:r>
              <a:rPr b="1" i="1" lang="en-US" sz="2200" u="none" cap="none" strike="noStrike">
                <a:solidFill>
                  <a:srgbClr val="896F77"/>
                </a:solidFill>
                <a:latin typeface="Georgia"/>
                <a:ea typeface="Georgia"/>
                <a:cs typeface="Georgia"/>
                <a:sym typeface="Georgia"/>
              </a:rPr>
              <a:t>02</a:t>
            </a:r>
            <a:endParaRPr b="0" i="0" sz="2200" u="none" cap="none" strike="noStrike">
              <a:solidFill>
                <a:schemeClr val="dk1"/>
              </a:solidFill>
              <a:latin typeface="Calibri"/>
              <a:ea typeface="Calibri"/>
              <a:cs typeface="Calibri"/>
              <a:sym typeface="Calibri"/>
            </a:endParaRPr>
          </a:p>
        </p:txBody>
      </p:sp>
      <p:sp>
        <p:nvSpPr>
          <p:cNvPr id="395" name="Google Shape;395;p27"/>
          <p:cNvSpPr/>
          <p:nvPr/>
        </p:nvSpPr>
        <p:spPr>
          <a:xfrm>
            <a:off x="5440680" y="1389888"/>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300"/>
              <a:buFont typeface="Georgia"/>
              <a:buNone/>
            </a:pPr>
            <a:r>
              <a:rPr b="1" i="0" lang="en-US" sz="1300" u="none" cap="none" strike="noStrike">
                <a:solidFill>
                  <a:srgbClr val="441120"/>
                </a:solidFill>
                <a:latin typeface="Georgia"/>
                <a:ea typeface="Georgia"/>
                <a:cs typeface="Georgia"/>
                <a:sym typeface="Georgia"/>
              </a:rPr>
              <a:t>Grounded in a real catalog</a:t>
            </a:r>
            <a:endParaRPr b="0" i="0" sz="1300" u="none" cap="none" strike="noStrike">
              <a:solidFill>
                <a:schemeClr val="dk1"/>
              </a:solidFill>
              <a:latin typeface="Calibri"/>
              <a:ea typeface="Calibri"/>
              <a:cs typeface="Calibri"/>
              <a:sym typeface="Calibri"/>
            </a:endParaRPr>
          </a:p>
        </p:txBody>
      </p:sp>
      <p:sp>
        <p:nvSpPr>
          <p:cNvPr id="396" name="Google Shape;396;p27"/>
          <p:cNvSpPr/>
          <p:nvPr/>
        </p:nvSpPr>
        <p:spPr>
          <a:xfrm>
            <a:off x="5440680" y="1700784"/>
            <a:ext cx="31089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Every recommendation maps to a real book_id in BigQuery — no hallucinated titles, no fake editions.</a:t>
            </a:r>
            <a:endParaRPr b="0" i="0" sz="1000" u="none" cap="none" strike="noStrike">
              <a:solidFill>
                <a:schemeClr val="dk1"/>
              </a:solidFill>
              <a:latin typeface="Calibri"/>
              <a:ea typeface="Calibri"/>
              <a:cs typeface="Calibri"/>
              <a:sym typeface="Calibri"/>
            </a:endParaRPr>
          </a:p>
        </p:txBody>
      </p:sp>
      <p:sp>
        <p:nvSpPr>
          <p:cNvPr id="397" name="Google Shape;397;p27"/>
          <p:cNvSpPr/>
          <p:nvPr/>
        </p:nvSpPr>
        <p:spPr>
          <a:xfrm>
            <a:off x="457200" y="2423160"/>
            <a:ext cx="4023360" cy="1033272"/>
          </a:xfrm>
          <a:prstGeom prst="rect">
            <a:avLst/>
          </a:prstGeom>
          <a:solidFill>
            <a:srgbClr val="FFFFFF"/>
          </a:solidFill>
          <a:ln cap="flat" cmpd="sng" w="12700">
            <a:solidFill>
              <a:srgbClr val="FFFFFF"/>
            </a:solidFill>
            <a:prstDash val="solid"/>
            <a:round/>
            <a:headEnd len="sm" w="sm" type="none"/>
            <a:tailEnd len="sm" w="sm" type="none"/>
          </a:ln>
          <a:effectLst>
            <a:outerShdw blurRad="63500" rotWithShape="0" algn="bl" dir="54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7"/>
          <p:cNvSpPr/>
          <p:nvPr/>
        </p:nvSpPr>
        <p:spPr>
          <a:xfrm>
            <a:off x="594360" y="2514600"/>
            <a:ext cx="594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2200"/>
              <a:buFont typeface="Georgia"/>
              <a:buNone/>
            </a:pPr>
            <a:r>
              <a:rPr b="1" i="1" lang="en-US" sz="2200" u="none" cap="none" strike="noStrike">
                <a:solidFill>
                  <a:srgbClr val="896F77"/>
                </a:solidFill>
                <a:latin typeface="Georgia"/>
                <a:ea typeface="Georgia"/>
                <a:cs typeface="Georgia"/>
                <a:sym typeface="Georgia"/>
              </a:rPr>
              <a:t>03</a:t>
            </a:r>
            <a:endParaRPr b="0" i="0" sz="2200" u="none" cap="none" strike="noStrike">
              <a:solidFill>
                <a:schemeClr val="dk1"/>
              </a:solidFill>
              <a:latin typeface="Calibri"/>
              <a:ea typeface="Calibri"/>
              <a:cs typeface="Calibri"/>
              <a:sym typeface="Calibri"/>
            </a:endParaRPr>
          </a:p>
        </p:txBody>
      </p:sp>
      <p:sp>
        <p:nvSpPr>
          <p:cNvPr id="399" name="Google Shape;399;p27"/>
          <p:cNvSpPr/>
          <p:nvPr/>
        </p:nvSpPr>
        <p:spPr>
          <a:xfrm>
            <a:off x="1234440" y="2532888"/>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300"/>
              <a:buFont typeface="Georgia"/>
              <a:buNone/>
            </a:pPr>
            <a:r>
              <a:rPr b="1" i="0" lang="en-US" sz="1300" u="none" cap="none" strike="noStrike">
                <a:solidFill>
                  <a:srgbClr val="441120"/>
                </a:solidFill>
                <a:latin typeface="Georgia"/>
                <a:ea typeface="Georgia"/>
                <a:cs typeface="Georgia"/>
                <a:sym typeface="Georgia"/>
              </a:rPr>
              <a:t>Completion, not preference</a:t>
            </a:r>
            <a:endParaRPr b="0" i="0" sz="1300" u="none" cap="none" strike="noStrike">
              <a:solidFill>
                <a:schemeClr val="dk1"/>
              </a:solidFill>
              <a:latin typeface="Calibri"/>
              <a:ea typeface="Calibri"/>
              <a:cs typeface="Calibri"/>
              <a:sym typeface="Calibri"/>
            </a:endParaRPr>
          </a:p>
        </p:txBody>
      </p:sp>
      <p:sp>
        <p:nvSpPr>
          <p:cNvPr id="400" name="Google Shape;400;p27"/>
          <p:cNvSpPr/>
          <p:nvPr/>
        </p:nvSpPr>
        <p:spPr>
          <a:xfrm>
            <a:off x="1234440" y="2843784"/>
            <a:ext cx="31089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Curriculum is built for finishing. Page counts, difficulty, and time budget are hard constraints.</a:t>
            </a:r>
            <a:endParaRPr b="0" i="0" sz="1000" u="none" cap="none" strike="noStrike">
              <a:solidFill>
                <a:schemeClr val="dk1"/>
              </a:solidFill>
              <a:latin typeface="Calibri"/>
              <a:ea typeface="Calibri"/>
              <a:cs typeface="Calibri"/>
              <a:sym typeface="Calibri"/>
            </a:endParaRPr>
          </a:p>
        </p:txBody>
      </p:sp>
      <p:sp>
        <p:nvSpPr>
          <p:cNvPr id="401" name="Google Shape;401;p27"/>
          <p:cNvSpPr/>
          <p:nvPr/>
        </p:nvSpPr>
        <p:spPr>
          <a:xfrm>
            <a:off x="4663440" y="2423160"/>
            <a:ext cx="4023360" cy="1033272"/>
          </a:xfrm>
          <a:prstGeom prst="rect">
            <a:avLst/>
          </a:prstGeom>
          <a:solidFill>
            <a:srgbClr val="FFFFFF"/>
          </a:solidFill>
          <a:ln cap="flat" cmpd="sng" w="12700">
            <a:solidFill>
              <a:srgbClr val="FFFFFF"/>
            </a:solidFill>
            <a:prstDash val="solid"/>
            <a:round/>
            <a:headEnd len="sm" w="sm" type="none"/>
            <a:tailEnd len="sm" w="sm" type="none"/>
          </a:ln>
          <a:effectLst>
            <a:outerShdw blurRad="63500" rotWithShape="0" algn="bl" dir="54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7"/>
          <p:cNvSpPr/>
          <p:nvPr/>
        </p:nvSpPr>
        <p:spPr>
          <a:xfrm>
            <a:off x="4800600" y="2514600"/>
            <a:ext cx="594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2200"/>
              <a:buFont typeface="Georgia"/>
              <a:buNone/>
            </a:pPr>
            <a:r>
              <a:rPr b="1" i="1" lang="en-US" sz="2200" u="none" cap="none" strike="noStrike">
                <a:solidFill>
                  <a:srgbClr val="896F77"/>
                </a:solidFill>
                <a:latin typeface="Georgia"/>
                <a:ea typeface="Georgia"/>
                <a:cs typeface="Georgia"/>
                <a:sym typeface="Georgia"/>
              </a:rPr>
              <a:t>04</a:t>
            </a:r>
            <a:endParaRPr b="0" i="0" sz="2200" u="none" cap="none" strike="noStrike">
              <a:solidFill>
                <a:schemeClr val="dk1"/>
              </a:solidFill>
              <a:latin typeface="Calibri"/>
              <a:ea typeface="Calibri"/>
              <a:cs typeface="Calibri"/>
              <a:sym typeface="Calibri"/>
            </a:endParaRPr>
          </a:p>
        </p:txBody>
      </p:sp>
      <p:sp>
        <p:nvSpPr>
          <p:cNvPr id="403" name="Google Shape;403;p27"/>
          <p:cNvSpPr/>
          <p:nvPr/>
        </p:nvSpPr>
        <p:spPr>
          <a:xfrm>
            <a:off x="5440680" y="2532888"/>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300"/>
              <a:buFont typeface="Georgia"/>
              <a:buNone/>
            </a:pPr>
            <a:r>
              <a:rPr b="1" i="0" lang="en-US" sz="1300" u="none" cap="none" strike="noStrike">
                <a:solidFill>
                  <a:srgbClr val="441120"/>
                </a:solidFill>
                <a:latin typeface="Georgia"/>
                <a:ea typeface="Georgia"/>
                <a:cs typeface="Georgia"/>
                <a:sym typeface="Georgia"/>
              </a:rPr>
              <a:t>The check-in loop</a:t>
            </a:r>
            <a:endParaRPr b="0" i="0" sz="1300" u="none" cap="none" strike="noStrike">
              <a:solidFill>
                <a:schemeClr val="dk1"/>
              </a:solidFill>
              <a:latin typeface="Calibri"/>
              <a:ea typeface="Calibri"/>
              <a:cs typeface="Calibri"/>
              <a:sym typeface="Calibri"/>
            </a:endParaRPr>
          </a:p>
        </p:txBody>
      </p:sp>
      <p:sp>
        <p:nvSpPr>
          <p:cNvPr id="404" name="Google Shape;404;p27"/>
          <p:cNvSpPr/>
          <p:nvPr/>
        </p:nvSpPr>
        <p:spPr>
          <a:xfrm>
            <a:off x="5440680" y="2843784"/>
            <a:ext cx="31089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Per-book check-ins reoptimize the rest of the curriculum — impossible from a single chat query.</a:t>
            </a:r>
            <a:endParaRPr b="0" i="0" sz="1000" u="none" cap="none" strike="noStrike">
              <a:solidFill>
                <a:schemeClr val="dk1"/>
              </a:solidFill>
              <a:latin typeface="Calibri"/>
              <a:ea typeface="Calibri"/>
              <a:cs typeface="Calibri"/>
              <a:sym typeface="Calibri"/>
            </a:endParaRPr>
          </a:p>
        </p:txBody>
      </p:sp>
      <p:sp>
        <p:nvSpPr>
          <p:cNvPr id="405" name="Google Shape;405;p27"/>
          <p:cNvSpPr/>
          <p:nvPr/>
        </p:nvSpPr>
        <p:spPr>
          <a:xfrm>
            <a:off x="457200" y="3566160"/>
            <a:ext cx="4023360" cy="1033272"/>
          </a:xfrm>
          <a:prstGeom prst="rect">
            <a:avLst/>
          </a:prstGeom>
          <a:solidFill>
            <a:srgbClr val="FFFFFF"/>
          </a:solidFill>
          <a:ln cap="flat" cmpd="sng" w="12700">
            <a:solidFill>
              <a:srgbClr val="FFFFFF"/>
            </a:solidFill>
            <a:prstDash val="solid"/>
            <a:round/>
            <a:headEnd len="sm" w="sm" type="none"/>
            <a:tailEnd len="sm" w="sm" type="none"/>
          </a:ln>
          <a:effectLst>
            <a:outerShdw blurRad="63500" rotWithShape="0" algn="bl" dir="54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7"/>
          <p:cNvSpPr/>
          <p:nvPr/>
        </p:nvSpPr>
        <p:spPr>
          <a:xfrm>
            <a:off x="594360" y="3657600"/>
            <a:ext cx="594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2200"/>
              <a:buFont typeface="Georgia"/>
              <a:buNone/>
            </a:pPr>
            <a:r>
              <a:rPr b="1" i="1" lang="en-US" sz="2200" u="none" cap="none" strike="noStrike">
                <a:solidFill>
                  <a:srgbClr val="896F77"/>
                </a:solidFill>
                <a:latin typeface="Georgia"/>
                <a:ea typeface="Georgia"/>
                <a:cs typeface="Georgia"/>
                <a:sym typeface="Georgia"/>
              </a:rPr>
              <a:t>05</a:t>
            </a:r>
            <a:endParaRPr b="0" i="0" sz="2200" u="none" cap="none" strike="noStrike">
              <a:solidFill>
                <a:schemeClr val="dk1"/>
              </a:solidFill>
              <a:latin typeface="Calibri"/>
              <a:ea typeface="Calibri"/>
              <a:cs typeface="Calibri"/>
              <a:sym typeface="Calibri"/>
            </a:endParaRPr>
          </a:p>
        </p:txBody>
      </p:sp>
      <p:sp>
        <p:nvSpPr>
          <p:cNvPr id="407" name="Google Shape;407;p27"/>
          <p:cNvSpPr/>
          <p:nvPr/>
        </p:nvSpPr>
        <p:spPr>
          <a:xfrm>
            <a:off x="1234440" y="3675888"/>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300"/>
              <a:buFont typeface="Georgia"/>
              <a:buNone/>
            </a:pPr>
            <a:r>
              <a:rPr b="1" i="0" lang="en-US" sz="1300" u="none" cap="none" strike="noStrike">
                <a:solidFill>
                  <a:srgbClr val="441120"/>
                </a:solidFill>
                <a:latin typeface="Georgia"/>
                <a:ea typeface="Georgia"/>
                <a:cs typeface="Georgia"/>
                <a:sym typeface="Georgia"/>
              </a:rPr>
              <a:t>Persistent reading memory</a:t>
            </a:r>
            <a:endParaRPr b="0" i="0" sz="1300" u="none" cap="none" strike="noStrike">
              <a:solidFill>
                <a:schemeClr val="dk1"/>
              </a:solidFill>
              <a:latin typeface="Calibri"/>
              <a:ea typeface="Calibri"/>
              <a:cs typeface="Calibri"/>
              <a:sym typeface="Calibri"/>
            </a:endParaRPr>
          </a:p>
        </p:txBody>
      </p:sp>
      <p:sp>
        <p:nvSpPr>
          <p:cNvPr id="408" name="Google Shape;408;p27"/>
          <p:cNvSpPr/>
          <p:nvPr/>
        </p:nvSpPr>
        <p:spPr>
          <a:xfrm>
            <a:off x="1234440" y="3986784"/>
            <a:ext cx="31089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Cloud Logging stores prior outputs and feeds them back into future curricula.</a:t>
            </a:r>
            <a:endParaRPr b="0" i="0" sz="1000" u="none" cap="none" strike="noStrike">
              <a:solidFill>
                <a:schemeClr val="dk1"/>
              </a:solidFill>
              <a:latin typeface="Calibri"/>
              <a:ea typeface="Calibri"/>
              <a:cs typeface="Calibri"/>
              <a:sym typeface="Calibri"/>
            </a:endParaRPr>
          </a:p>
        </p:txBody>
      </p:sp>
      <p:sp>
        <p:nvSpPr>
          <p:cNvPr id="409" name="Google Shape;409;p27"/>
          <p:cNvSpPr/>
          <p:nvPr/>
        </p:nvSpPr>
        <p:spPr>
          <a:xfrm>
            <a:off x="4663440" y="3566160"/>
            <a:ext cx="4023360" cy="1033272"/>
          </a:xfrm>
          <a:prstGeom prst="rect">
            <a:avLst/>
          </a:prstGeom>
          <a:solidFill>
            <a:srgbClr val="FFFFFF"/>
          </a:solidFill>
          <a:ln cap="flat" cmpd="sng" w="12700">
            <a:solidFill>
              <a:srgbClr val="FFFFFF"/>
            </a:solidFill>
            <a:prstDash val="solid"/>
            <a:round/>
            <a:headEnd len="sm" w="sm" type="none"/>
            <a:tailEnd len="sm" w="sm" type="none"/>
          </a:ln>
          <a:effectLst>
            <a:outerShdw blurRad="63500" rotWithShape="0" algn="bl" dir="54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7"/>
          <p:cNvSpPr/>
          <p:nvPr/>
        </p:nvSpPr>
        <p:spPr>
          <a:xfrm>
            <a:off x="4800600" y="3657600"/>
            <a:ext cx="594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2200"/>
              <a:buFont typeface="Georgia"/>
              <a:buNone/>
            </a:pPr>
            <a:r>
              <a:rPr b="1" i="1" lang="en-US" sz="2200" u="none" cap="none" strike="noStrike">
                <a:solidFill>
                  <a:srgbClr val="896F77"/>
                </a:solidFill>
                <a:latin typeface="Georgia"/>
                <a:ea typeface="Georgia"/>
                <a:cs typeface="Georgia"/>
                <a:sym typeface="Georgia"/>
              </a:rPr>
              <a:t>06</a:t>
            </a:r>
            <a:endParaRPr b="0" i="0" sz="2200" u="none" cap="none" strike="noStrike">
              <a:solidFill>
                <a:schemeClr val="dk1"/>
              </a:solidFill>
              <a:latin typeface="Calibri"/>
              <a:ea typeface="Calibri"/>
              <a:cs typeface="Calibri"/>
              <a:sym typeface="Calibri"/>
            </a:endParaRPr>
          </a:p>
        </p:txBody>
      </p:sp>
      <p:sp>
        <p:nvSpPr>
          <p:cNvPr id="411" name="Google Shape;411;p27"/>
          <p:cNvSpPr/>
          <p:nvPr/>
        </p:nvSpPr>
        <p:spPr>
          <a:xfrm>
            <a:off x="5440680" y="3675888"/>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1300"/>
              <a:buFont typeface="Georgia"/>
              <a:buNone/>
            </a:pPr>
            <a:r>
              <a:rPr b="1" i="0" lang="en-US" sz="1300" u="none" cap="none" strike="noStrike">
                <a:solidFill>
                  <a:srgbClr val="441120"/>
                </a:solidFill>
                <a:latin typeface="Georgia"/>
                <a:ea typeface="Georgia"/>
                <a:cs typeface="Georgia"/>
                <a:sym typeface="Georgia"/>
              </a:rPr>
              <a:t>Cost-controlled by design</a:t>
            </a:r>
            <a:endParaRPr b="0" i="0" sz="1300" u="none" cap="none" strike="noStrike">
              <a:solidFill>
                <a:schemeClr val="dk1"/>
              </a:solidFill>
              <a:latin typeface="Calibri"/>
              <a:ea typeface="Calibri"/>
              <a:cs typeface="Calibri"/>
              <a:sym typeface="Calibri"/>
            </a:endParaRPr>
          </a:p>
        </p:txBody>
      </p:sp>
      <p:sp>
        <p:nvSpPr>
          <p:cNvPr id="412" name="Google Shape;412;p27"/>
          <p:cNvSpPr/>
          <p:nvPr/>
        </p:nvSpPr>
        <p:spPr>
          <a:xfrm>
            <a:off x="5440680" y="3986784"/>
            <a:ext cx="31089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F1F"/>
              </a:buClr>
              <a:buSzPts val="1000"/>
              <a:buFont typeface="Calibri"/>
              <a:buNone/>
            </a:pPr>
            <a:r>
              <a:rPr b="0" i="0" lang="en-US" sz="1000" u="none" cap="none" strike="noStrike">
                <a:solidFill>
                  <a:srgbClr val="1F1F1F"/>
                </a:solidFill>
                <a:latin typeface="Calibri"/>
                <a:ea typeface="Calibri"/>
                <a:cs typeface="Calibri"/>
                <a:sym typeface="Calibri"/>
              </a:rPr>
              <a:t>Two narrowly-scoped Gemini Flash calls + caching keep us at fractions of a cent per request.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417" name="Shape 417"/>
        <p:cNvGrpSpPr/>
        <p:nvPr/>
      </p:nvGrpSpPr>
      <p:grpSpPr>
        <a:xfrm>
          <a:off x="0" y="0"/>
          <a:ext cx="0" cy="0"/>
          <a:chOff x="0" y="0"/>
          <a:chExt cx="0" cy="0"/>
        </a:xfrm>
      </p:grpSpPr>
      <p:sp>
        <p:nvSpPr>
          <p:cNvPr id="418" name="Google Shape;418;p28"/>
          <p:cNvSpPr/>
          <p:nvPr/>
        </p:nvSpPr>
        <p:spPr>
          <a:xfrm>
            <a:off x="8275320" y="274320"/>
            <a:ext cx="164592" cy="164592"/>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8"/>
          <p:cNvSpPr/>
          <p:nvPr/>
        </p:nvSpPr>
        <p:spPr>
          <a:xfrm>
            <a:off x="6675120" y="246888"/>
            <a:ext cx="15544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41120"/>
              </a:buClr>
              <a:buSzPts val="900"/>
              <a:buFont typeface="Calibri"/>
              <a:buNone/>
            </a:pPr>
            <a:r>
              <a:rPr b="1" i="0" lang="en-US" sz="900" u="none" cap="none" strike="noStrike">
                <a:solidFill>
                  <a:srgbClr val="441120"/>
                </a:solidFill>
                <a:latin typeface="Calibri"/>
                <a:ea typeface="Calibri"/>
                <a:cs typeface="Calibri"/>
                <a:sym typeface="Calibri"/>
              </a:rPr>
              <a:t>THE MOBY DICKS</a:t>
            </a:r>
            <a:endParaRPr b="0" i="0" sz="900" u="none" cap="none" strike="noStrike">
              <a:solidFill>
                <a:schemeClr val="dk1"/>
              </a:solidFill>
              <a:latin typeface="Calibri"/>
              <a:ea typeface="Calibri"/>
              <a:cs typeface="Calibri"/>
              <a:sym typeface="Calibri"/>
            </a:endParaRPr>
          </a:p>
        </p:txBody>
      </p:sp>
      <p:sp>
        <p:nvSpPr>
          <p:cNvPr id="420" name="Google Shape;420;p28"/>
          <p:cNvSpPr/>
          <p:nvPr/>
        </p:nvSpPr>
        <p:spPr>
          <a:xfrm>
            <a:off x="457200" y="274320"/>
            <a:ext cx="5943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DEMO VIDEO</a:t>
            </a:r>
            <a:endParaRPr b="0" i="0" sz="1000" u="none" cap="none" strike="noStrike">
              <a:solidFill>
                <a:schemeClr val="dk1"/>
              </a:solidFill>
              <a:latin typeface="Calibri"/>
              <a:ea typeface="Calibri"/>
              <a:cs typeface="Calibri"/>
              <a:sym typeface="Calibri"/>
            </a:endParaRPr>
          </a:p>
        </p:txBody>
      </p:sp>
      <p:sp>
        <p:nvSpPr>
          <p:cNvPr id="421" name="Google Shape;421;p28"/>
          <p:cNvSpPr/>
          <p:nvPr/>
        </p:nvSpPr>
        <p:spPr>
          <a:xfrm>
            <a:off x="457200" y="5029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1120"/>
              </a:buClr>
              <a:buSzPts val="2800"/>
              <a:buFont typeface="Georgia"/>
              <a:buNone/>
            </a:pPr>
            <a:r>
              <a:rPr b="1" i="1" lang="en-US" sz="2800" u="none" cap="none" strike="noStrike">
                <a:solidFill>
                  <a:srgbClr val="441120"/>
                </a:solidFill>
                <a:latin typeface="Georgia"/>
                <a:ea typeface="Georgia"/>
                <a:cs typeface="Georgia"/>
                <a:sym typeface="Georgia"/>
              </a:rPr>
              <a:t>Two-minute walkthrough.</a:t>
            </a:r>
            <a:endParaRPr b="0" i="0" sz="2800" u="none" cap="none" strike="noStrike">
              <a:solidFill>
                <a:schemeClr val="dk1"/>
              </a:solidFill>
              <a:latin typeface="Calibri"/>
              <a:ea typeface="Calibri"/>
              <a:cs typeface="Calibri"/>
              <a:sym typeface="Calibri"/>
            </a:endParaRPr>
          </a:p>
        </p:txBody>
      </p:sp>
      <p:sp>
        <p:nvSpPr>
          <p:cNvPr id="422" name="Google Shape;422;p28">
            <a:hlinkClick r:id="rId3"/>
          </p:cNvPr>
          <p:cNvSpPr/>
          <p:nvPr/>
        </p:nvSpPr>
        <p:spPr>
          <a:xfrm>
            <a:off x="457200" y="1325880"/>
            <a:ext cx="4937760" cy="3246120"/>
          </a:xfrm>
          <a:prstGeom prst="rect">
            <a:avLst/>
          </a:prstGeom>
          <a:solidFill>
            <a:srgbClr val="441120"/>
          </a:solidFill>
          <a:ln cap="flat" cmpd="sng" w="12700">
            <a:solidFill>
              <a:srgbClr val="4411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8"/>
          <p:cNvSpPr/>
          <p:nvPr/>
        </p:nvSpPr>
        <p:spPr>
          <a:xfrm>
            <a:off x="2423160" y="2331720"/>
            <a:ext cx="1005840" cy="1005840"/>
          </a:xfrm>
          <a:prstGeom prst="ellipse">
            <a:avLst/>
          </a:prstGeom>
          <a:solidFill>
            <a:srgbClr val="EDEDED"/>
          </a:solidFill>
          <a:ln cap="flat" cmpd="sng" w="12700">
            <a:solidFill>
              <a:srgbClr val="EDED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8">
            <a:hlinkClick r:id="rId4"/>
          </p:cNvPr>
          <p:cNvSpPr/>
          <p:nvPr/>
        </p:nvSpPr>
        <p:spPr>
          <a:xfrm>
            <a:off x="2423160" y="2331720"/>
            <a:ext cx="10059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1120"/>
              </a:buClr>
              <a:buSzPts val="3600"/>
              <a:buFont typeface="Calibri"/>
              <a:buNone/>
            </a:pPr>
            <a:r>
              <a:rPr b="1" i="0" lang="en-US" sz="3600" u="none" cap="none" strike="noStrike">
                <a:solidFill>
                  <a:srgbClr val="441120"/>
                </a:solidFill>
                <a:latin typeface="Calibri"/>
                <a:ea typeface="Calibri"/>
                <a:cs typeface="Calibri"/>
                <a:sym typeface="Calibri"/>
              </a:rPr>
              <a:t>▶</a:t>
            </a:r>
            <a:endParaRPr b="0" i="0" sz="3600" u="none" cap="none" strike="noStrike">
              <a:solidFill>
                <a:schemeClr val="dk1"/>
              </a:solidFill>
              <a:latin typeface="Calibri"/>
              <a:ea typeface="Calibri"/>
              <a:cs typeface="Calibri"/>
              <a:sym typeface="Calibri"/>
            </a:endParaRPr>
          </a:p>
        </p:txBody>
      </p:sp>
      <p:sp>
        <p:nvSpPr>
          <p:cNvPr id="425" name="Google Shape;425;p28"/>
          <p:cNvSpPr/>
          <p:nvPr/>
        </p:nvSpPr>
        <p:spPr>
          <a:xfrm>
            <a:off x="457200" y="1508760"/>
            <a:ext cx="49377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6"/>
              </a:buClr>
              <a:buSzPts val="1100"/>
              <a:buFont typeface="Calibri"/>
              <a:buNone/>
            </a:pPr>
            <a:r>
              <a:rPr b="1" i="0" lang="en-US" sz="1100" u="none" cap="none" strike="noStrike">
                <a:solidFill>
                  <a:srgbClr val="D9D9D6"/>
                </a:solidFill>
                <a:latin typeface="Calibri"/>
                <a:ea typeface="Calibri"/>
                <a:cs typeface="Calibri"/>
                <a:sym typeface="Calibri"/>
              </a:rPr>
              <a:t>2-MIN APP DEMO</a:t>
            </a:r>
            <a:endParaRPr b="0" i="0" sz="1100" u="none" cap="none" strike="noStrike">
              <a:solidFill>
                <a:schemeClr val="dk1"/>
              </a:solidFill>
              <a:latin typeface="Calibri"/>
              <a:ea typeface="Calibri"/>
              <a:cs typeface="Calibri"/>
              <a:sym typeface="Calibri"/>
            </a:endParaRPr>
          </a:p>
        </p:txBody>
      </p:sp>
      <p:sp>
        <p:nvSpPr>
          <p:cNvPr id="426" name="Google Shape;426;p28"/>
          <p:cNvSpPr/>
          <p:nvPr/>
        </p:nvSpPr>
        <p:spPr>
          <a:xfrm>
            <a:off x="457200" y="3749040"/>
            <a:ext cx="49377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DEDED"/>
              </a:buClr>
              <a:buSzPts val="1400"/>
              <a:buFont typeface="Georgia"/>
              <a:buNone/>
            </a:pPr>
            <a:r>
              <a:rPr b="0" i="1" lang="en-US" sz="1400" u="none" cap="none" strike="noStrike">
                <a:solidFill>
                  <a:srgbClr val="EDEDED"/>
                </a:solidFill>
                <a:latin typeface="Georgia"/>
                <a:ea typeface="Georgia"/>
                <a:cs typeface="Georgia"/>
                <a:sym typeface="Georgia"/>
              </a:rPr>
              <a:t>Embedded in our GitHub repo</a:t>
            </a:r>
            <a:endParaRPr b="0" i="0" sz="1400" u="none" cap="none" strike="noStrike">
              <a:solidFill>
                <a:schemeClr val="dk1"/>
              </a:solidFill>
              <a:latin typeface="Calibri"/>
              <a:ea typeface="Calibri"/>
              <a:cs typeface="Calibri"/>
              <a:sym typeface="Calibri"/>
            </a:endParaRPr>
          </a:p>
        </p:txBody>
      </p:sp>
      <p:sp>
        <p:nvSpPr>
          <p:cNvPr id="427" name="Google Shape;427;p28">
            <a:hlinkClick r:id="rId5"/>
          </p:cNvPr>
          <p:cNvSpPr/>
          <p:nvPr/>
        </p:nvSpPr>
        <p:spPr>
          <a:xfrm>
            <a:off x="457200" y="4069080"/>
            <a:ext cx="49377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DEDED"/>
              </a:buClr>
              <a:buSzPts val="1100"/>
              <a:buFont typeface="Calibri"/>
              <a:buNone/>
            </a:pPr>
            <a:r>
              <a:rPr lang="en-US" sz="1100" u="sng">
                <a:solidFill>
                  <a:schemeClr val="hlink"/>
                </a:solidFill>
                <a:latin typeface="Calibri"/>
                <a:ea typeface="Calibri"/>
                <a:cs typeface="Calibri"/>
                <a:sym typeface="Calibri"/>
                <a:hlinkClick r:id="rId6"/>
              </a:rPr>
              <a:t>YouTube</a:t>
            </a:r>
            <a:endParaRPr b="0" i="0" sz="1100" u="none" cap="none" strike="noStrike">
              <a:solidFill>
                <a:schemeClr val="dk1"/>
              </a:solidFill>
              <a:latin typeface="Calibri"/>
              <a:ea typeface="Calibri"/>
              <a:cs typeface="Calibri"/>
              <a:sym typeface="Calibri"/>
            </a:endParaRPr>
          </a:p>
        </p:txBody>
      </p:sp>
      <p:sp>
        <p:nvSpPr>
          <p:cNvPr id="428" name="Google Shape;428;p28"/>
          <p:cNvSpPr/>
          <p:nvPr/>
        </p:nvSpPr>
        <p:spPr>
          <a:xfrm>
            <a:off x="5669280" y="1325880"/>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6F77"/>
              </a:buClr>
              <a:buSzPts val="1000"/>
              <a:buFont typeface="Calibri"/>
              <a:buNone/>
            </a:pPr>
            <a:r>
              <a:rPr b="1" i="0" lang="en-US" sz="1000" u="none" cap="none" strike="noStrike">
                <a:solidFill>
                  <a:srgbClr val="896F77"/>
                </a:solidFill>
                <a:latin typeface="Calibri"/>
                <a:ea typeface="Calibri"/>
                <a:cs typeface="Calibri"/>
                <a:sym typeface="Calibri"/>
              </a:rPr>
              <a:t>WHAT'S IN THE VIDEO</a:t>
            </a:r>
            <a:endParaRPr b="0" i="0" sz="1000" u="none" cap="none" strike="noStrike">
              <a:solidFill>
                <a:schemeClr val="dk1"/>
              </a:solidFill>
              <a:latin typeface="Calibri"/>
              <a:ea typeface="Calibri"/>
              <a:cs typeface="Calibri"/>
              <a:sym typeface="Calibri"/>
            </a:endParaRPr>
          </a:p>
        </p:txBody>
      </p:sp>
      <p:sp>
        <p:nvSpPr>
          <p:cNvPr id="429" name="Google Shape;429;p28"/>
          <p:cNvSpPr/>
          <p:nvPr/>
        </p:nvSpPr>
        <p:spPr>
          <a:xfrm>
            <a:off x="5669280" y="1627632"/>
            <a:ext cx="3017520" cy="21945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1F1F"/>
              </a:buClr>
              <a:buSzPts val="1200"/>
              <a:buFont typeface="Calibri"/>
              <a:buChar char="•"/>
            </a:pPr>
            <a:r>
              <a:rPr b="0" i="0" lang="en-US" sz="1200" u="none" cap="none" strike="noStrike">
                <a:solidFill>
                  <a:srgbClr val="1F1F1F"/>
                </a:solidFill>
                <a:latin typeface="Calibri"/>
                <a:ea typeface="Calibri"/>
                <a:cs typeface="Calibri"/>
                <a:sym typeface="Calibri"/>
              </a:rPr>
              <a:t>Survey form: topic, time, difficulty</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1F1F"/>
              </a:buClr>
              <a:buSzPts val="1200"/>
              <a:buFont typeface="Calibri"/>
              <a:buChar char="•"/>
            </a:pPr>
            <a:r>
              <a:rPr b="0" i="0" lang="en-US" sz="1200" u="none" cap="none" strike="noStrike">
                <a:solidFill>
                  <a:srgbClr val="1F1F1F"/>
                </a:solidFill>
                <a:latin typeface="Calibri"/>
                <a:ea typeface="Calibri"/>
                <a:cs typeface="Calibri"/>
                <a:sym typeface="Calibri"/>
              </a:rPr>
              <a:t>Live Gemini call — extract filters</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1F1F"/>
              </a:buClr>
              <a:buSzPts val="1200"/>
              <a:buFont typeface="Calibri"/>
              <a:buChar char="•"/>
            </a:pPr>
            <a:r>
              <a:rPr b="0" i="0" lang="en-US" sz="1200" u="none" cap="none" strike="noStrike">
                <a:solidFill>
                  <a:srgbClr val="1F1F1F"/>
                </a:solidFill>
                <a:latin typeface="Calibri"/>
                <a:ea typeface="Calibri"/>
                <a:cs typeface="Calibri"/>
                <a:sym typeface="Calibri"/>
              </a:rPr>
              <a:t>BigQuery candidate scan</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1F1F"/>
              </a:buClr>
              <a:buSzPts val="1200"/>
              <a:buFont typeface="Calibri"/>
              <a:buChar char="•"/>
            </a:pPr>
            <a:r>
              <a:rPr b="0" i="0" lang="en-US" sz="1200" u="none" cap="none" strike="noStrike">
                <a:solidFill>
                  <a:srgbClr val="1F1F1F"/>
                </a:solidFill>
                <a:latin typeface="Calibri"/>
                <a:ea typeface="Calibri"/>
                <a:cs typeface="Calibri"/>
                <a:sym typeface="Calibri"/>
              </a:rPr>
              <a:t>Curriculum returned with reasons</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1F1F"/>
              </a:buClr>
              <a:buSzPts val="1200"/>
              <a:buFont typeface="Calibri"/>
              <a:buChar char="•"/>
            </a:pPr>
            <a:r>
              <a:rPr b="0" i="0" lang="en-US" sz="1200" u="none" cap="none" strike="noStrike">
                <a:solidFill>
                  <a:srgbClr val="1F1F1F"/>
                </a:solidFill>
                <a:latin typeface="Calibri"/>
                <a:ea typeface="Calibri"/>
                <a:cs typeface="Calibri"/>
                <a:sym typeface="Calibri"/>
              </a:rPr>
              <a:t>End-to-end in ~10 seconds</a:t>
            </a:r>
            <a:endParaRPr b="0" i="0" sz="1200" u="none" cap="none" strike="noStrike">
              <a:solidFill>
                <a:schemeClr val="dk1"/>
              </a:solidFill>
              <a:latin typeface="Calibri"/>
              <a:ea typeface="Calibri"/>
              <a:cs typeface="Calibri"/>
              <a:sym typeface="Calibri"/>
            </a:endParaRPr>
          </a:p>
        </p:txBody>
      </p:sp>
      <p:sp>
        <p:nvSpPr>
          <p:cNvPr id="430" name="Google Shape;430;p28"/>
          <p:cNvSpPr/>
          <p:nvPr/>
        </p:nvSpPr>
        <p:spPr>
          <a:xfrm>
            <a:off x="5669280" y="3931920"/>
            <a:ext cx="30175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15251"/>
              </a:buClr>
              <a:buSzPts val="1000"/>
              <a:buFont typeface="Calibri"/>
              <a:buNone/>
            </a:pPr>
            <a:r>
              <a:rPr b="0" i="1" lang="en-US" sz="1000" u="none" cap="none" strike="noStrike">
                <a:solidFill>
                  <a:srgbClr val="515251"/>
                </a:solidFill>
                <a:latin typeface="Calibri"/>
                <a:ea typeface="Calibri"/>
                <a:cs typeface="Calibri"/>
                <a:sym typeface="Calibri"/>
              </a:rPr>
              <a:t>Linked from the README of the GitHub repo, as required by the milestone rubric.</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41120"/>
        </a:solidFill>
      </p:bgPr>
    </p:bg>
    <p:spTree>
      <p:nvGrpSpPr>
        <p:cNvPr id="435" name="Shape 435"/>
        <p:cNvGrpSpPr/>
        <p:nvPr/>
      </p:nvGrpSpPr>
      <p:grpSpPr>
        <a:xfrm>
          <a:off x="0" y="0"/>
          <a:ext cx="0" cy="0"/>
          <a:chOff x="0" y="0"/>
          <a:chExt cx="0" cy="0"/>
        </a:xfrm>
      </p:grpSpPr>
      <p:sp>
        <p:nvSpPr>
          <p:cNvPr id="436" name="Google Shape;436;p29"/>
          <p:cNvSpPr/>
          <p:nvPr/>
        </p:nvSpPr>
        <p:spPr>
          <a:xfrm>
            <a:off x="457200" y="7772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6"/>
              </a:buClr>
              <a:buSzPts val="1200"/>
              <a:buFont typeface="Calibri"/>
              <a:buNone/>
            </a:pPr>
            <a:r>
              <a:rPr b="1" i="0" lang="en-US" sz="1200" u="none" cap="none" strike="noStrike">
                <a:solidFill>
                  <a:srgbClr val="D9D9D6"/>
                </a:solidFill>
                <a:latin typeface="Calibri"/>
                <a:ea typeface="Calibri"/>
                <a:cs typeface="Calibri"/>
                <a:sym typeface="Calibri"/>
              </a:rPr>
              <a:t>CODE  ·  TESTS  ·  DEMO</a:t>
            </a:r>
            <a:endParaRPr b="0" i="0" sz="1200" u="none" cap="none" strike="noStrike">
              <a:solidFill>
                <a:schemeClr val="dk1"/>
              </a:solidFill>
              <a:latin typeface="Calibri"/>
              <a:ea typeface="Calibri"/>
              <a:cs typeface="Calibri"/>
              <a:sym typeface="Calibri"/>
            </a:endParaRPr>
          </a:p>
        </p:txBody>
      </p:sp>
      <p:sp>
        <p:nvSpPr>
          <p:cNvPr id="437" name="Google Shape;437;p29">
            <a:hlinkClick r:id="rId3"/>
          </p:cNvPr>
          <p:cNvSpPr/>
          <p:nvPr/>
        </p:nvSpPr>
        <p:spPr>
          <a:xfrm>
            <a:off x="457200" y="1097280"/>
            <a:ext cx="8229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DED"/>
              </a:buClr>
              <a:buSzPts val="3200"/>
              <a:buFont typeface="Georgia"/>
              <a:buNone/>
            </a:pPr>
            <a:r>
              <a:rPr b="1" i="1" lang="en-US" sz="3200" u="sng" cap="none" strike="noStrike">
                <a:solidFill>
                  <a:schemeClr val="hlink"/>
                </a:solidFill>
                <a:latin typeface="Georgia"/>
                <a:ea typeface="Georgia"/>
                <a:cs typeface="Georgia"/>
                <a:sym typeface="Georgia"/>
                <a:hlinkClick r:id="rId4"/>
              </a:rPr>
              <a:t>github.com/SaiMulagan/mobydick</a:t>
            </a:r>
            <a:endParaRPr b="0" i="0" sz="3200" u="none" cap="none" strike="noStrike">
              <a:solidFill>
                <a:schemeClr val="dk1"/>
              </a:solidFill>
              <a:latin typeface="Calibri"/>
              <a:ea typeface="Calibri"/>
              <a:cs typeface="Calibri"/>
              <a:sym typeface="Calibri"/>
            </a:endParaRPr>
          </a:p>
        </p:txBody>
      </p:sp>
      <p:sp>
        <p:nvSpPr>
          <p:cNvPr id="438" name="Google Shape;438;p29"/>
          <p:cNvSpPr/>
          <p:nvPr/>
        </p:nvSpPr>
        <p:spPr>
          <a:xfrm>
            <a:off x="475488" y="2011680"/>
            <a:ext cx="548640" cy="36576"/>
          </a:xfrm>
          <a:prstGeom prst="rect">
            <a:avLst/>
          </a:prstGeom>
          <a:solidFill>
            <a:srgbClr val="D9D9D6"/>
          </a:solidFill>
          <a:ln cap="flat" cmpd="sng" w="12700">
            <a:solidFill>
              <a:srgbClr val="D9D9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9"/>
          <p:cNvSpPr/>
          <p:nvPr/>
        </p:nvSpPr>
        <p:spPr>
          <a:xfrm>
            <a:off x="457200" y="2331720"/>
            <a:ext cx="2103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6"/>
              </a:buClr>
              <a:buSzPts val="1000"/>
              <a:buFont typeface="Calibri"/>
              <a:buNone/>
            </a:pPr>
            <a:r>
              <a:rPr b="1" i="0" lang="en-US" sz="1000" u="none" cap="none" strike="noStrike">
                <a:solidFill>
                  <a:srgbClr val="D9D9D6"/>
                </a:solidFill>
                <a:latin typeface="Calibri"/>
                <a:ea typeface="Calibri"/>
                <a:cs typeface="Calibri"/>
                <a:sym typeface="Calibri"/>
              </a:rPr>
              <a:t>DEMO VIDEO</a:t>
            </a:r>
            <a:endParaRPr b="0" i="0" sz="1000" u="none" cap="none" strike="noStrike">
              <a:solidFill>
                <a:schemeClr val="dk1"/>
              </a:solidFill>
              <a:latin typeface="Calibri"/>
              <a:ea typeface="Calibri"/>
              <a:cs typeface="Calibri"/>
              <a:sym typeface="Calibri"/>
            </a:endParaRPr>
          </a:p>
        </p:txBody>
      </p:sp>
      <p:sp>
        <p:nvSpPr>
          <p:cNvPr id="440" name="Google Shape;440;p29">
            <a:hlinkClick r:id="rId5"/>
          </p:cNvPr>
          <p:cNvSpPr/>
          <p:nvPr/>
        </p:nvSpPr>
        <p:spPr>
          <a:xfrm>
            <a:off x="2606040" y="2331720"/>
            <a:ext cx="6080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DED"/>
              </a:buClr>
              <a:buSzPts val="1300"/>
              <a:buFont typeface="Calibri"/>
              <a:buNone/>
            </a:pPr>
            <a:r>
              <a:rPr b="0" i="1" lang="en-US" sz="1300" u="sng" cap="none" strike="noStrike">
                <a:solidFill>
                  <a:schemeClr val="hlink"/>
                </a:solidFill>
                <a:latin typeface="Calibri"/>
                <a:ea typeface="Calibri"/>
                <a:cs typeface="Calibri"/>
                <a:sym typeface="Calibri"/>
                <a:hlinkClick r:id="rId6"/>
              </a:rPr>
              <a:t>[ insert YouTube URL before submitting ]</a:t>
            </a:r>
            <a:endParaRPr b="0" i="0" sz="1300" u="none" cap="none" strike="noStrike">
              <a:solidFill>
                <a:schemeClr val="dk1"/>
              </a:solidFill>
              <a:latin typeface="Calibri"/>
              <a:ea typeface="Calibri"/>
              <a:cs typeface="Calibri"/>
              <a:sym typeface="Calibri"/>
            </a:endParaRPr>
          </a:p>
        </p:txBody>
      </p:sp>
      <p:sp>
        <p:nvSpPr>
          <p:cNvPr id="441" name="Google Shape;441;p29"/>
          <p:cNvSpPr/>
          <p:nvPr/>
        </p:nvSpPr>
        <p:spPr>
          <a:xfrm>
            <a:off x="457200" y="2743200"/>
            <a:ext cx="2103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6"/>
              </a:buClr>
              <a:buSzPts val="1000"/>
              <a:buFont typeface="Calibri"/>
              <a:buNone/>
            </a:pPr>
            <a:r>
              <a:rPr b="1" i="0" lang="en-US" sz="1000" u="none" cap="none" strike="noStrike">
                <a:solidFill>
                  <a:srgbClr val="D9D9D6"/>
                </a:solidFill>
                <a:latin typeface="Calibri"/>
                <a:ea typeface="Calibri"/>
                <a:cs typeface="Calibri"/>
                <a:sym typeface="Calibri"/>
              </a:rPr>
              <a:t>ARCHITECTURE</a:t>
            </a:r>
            <a:endParaRPr b="0" i="0" sz="1000" u="none" cap="none" strike="noStrike">
              <a:solidFill>
                <a:schemeClr val="dk1"/>
              </a:solidFill>
              <a:latin typeface="Calibri"/>
              <a:ea typeface="Calibri"/>
              <a:cs typeface="Calibri"/>
              <a:sym typeface="Calibri"/>
            </a:endParaRPr>
          </a:p>
        </p:txBody>
      </p:sp>
      <p:sp>
        <p:nvSpPr>
          <p:cNvPr id="442" name="Google Shape;442;p29">
            <a:hlinkClick r:id="rId7"/>
          </p:cNvPr>
          <p:cNvSpPr/>
          <p:nvPr/>
        </p:nvSpPr>
        <p:spPr>
          <a:xfrm>
            <a:off x="2606040" y="2743200"/>
            <a:ext cx="6080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DED"/>
              </a:buClr>
              <a:buSzPts val="1300"/>
              <a:buFont typeface="Calibri"/>
              <a:buNone/>
            </a:pPr>
            <a:r>
              <a:rPr b="0" i="1" lang="en-US" sz="1300" u="sng" cap="none" strike="noStrike">
                <a:solidFill>
                  <a:schemeClr val="hlink"/>
                </a:solidFill>
                <a:latin typeface="Calibri"/>
                <a:ea typeface="Calibri"/>
                <a:cs typeface="Calibri"/>
                <a:sym typeface="Calibri"/>
                <a:hlinkClick r:id="rId8"/>
              </a:rPr>
              <a:t>context/ARCHITECTURE.md</a:t>
            </a:r>
            <a:endParaRPr b="0" i="0" sz="1300" u="none" cap="none" strike="noStrike">
              <a:solidFill>
                <a:schemeClr val="dk1"/>
              </a:solidFill>
              <a:latin typeface="Calibri"/>
              <a:ea typeface="Calibri"/>
              <a:cs typeface="Calibri"/>
              <a:sym typeface="Calibri"/>
            </a:endParaRPr>
          </a:p>
        </p:txBody>
      </p:sp>
      <p:sp>
        <p:nvSpPr>
          <p:cNvPr id="443" name="Google Shape;443;p29"/>
          <p:cNvSpPr/>
          <p:nvPr/>
        </p:nvSpPr>
        <p:spPr>
          <a:xfrm>
            <a:off x="457200" y="3154680"/>
            <a:ext cx="2103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6"/>
              </a:buClr>
              <a:buSzPts val="1000"/>
              <a:buFont typeface="Calibri"/>
              <a:buNone/>
            </a:pPr>
            <a:r>
              <a:rPr b="1" i="0" lang="en-US" sz="1000" u="none" cap="none" strike="noStrike">
                <a:solidFill>
                  <a:srgbClr val="D9D9D6"/>
                </a:solidFill>
                <a:latin typeface="Calibri"/>
                <a:ea typeface="Calibri"/>
                <a:cs typeface="Calibri"/>
                <a:sym typeface="Calibri"/>
              </a:rPr>
              <a:t>PIPELINE</a:t>
            </a:r>
            <a:endParaRPr b="0" i="0" sz="1000" u="none" cap="none" strike="noStrike">
              <a:solidFill>
                <a:schemeClr val="dk1"/>
              </a:solidFill>
              <a:latin typeface="Calibri"/>
              <a:ea typeface="Calibri"/>
              <a:cs typeface="Calibri"/>
              <a:sym typeface="Calibri"/>
            </a:endParaRPr>
          </a:p>
        </p:txBody>
      </p:sp>
      <p:sp>
        <p:nvSpPr>
          <p:cNvPr id="444" name="Google Shape;444;p29">
            <a:hlinkClick r:id="rId9"/>
          </p:cNvPr>
          <p:cNvSpPr/>
          <p:nvPr/>
        </p:nvSpPr>
        <p:spPr>
          <a:xfrm>
            <a:off x="2606040" y="3154680"/>
            <a:ext cx="6080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DED"/>
              </a:buClr>
              <a:buSzPts val="1300"/>
              <a:buFont typeface="Calibri"/>
              <a:buNone/>
            </a:pPr>
            <a:r>
              <a:rPr b="0" i="1" lang="en-US" sz="1300" u="sng" cap="none" strike="noStrike">
                <a:solidFill>
                  <a:schemeClr val="hlink"/>
                </a:solidFill>
                <a:latin typeface="Calibri"/>
                <a:ea typeface="Calibri"/>
                <a:cs typeface="Calibri"/>
                <a:sym typeface="Calibri"/>
                <a:hlinkClick r:id="rId10"/>
              </a:rPr>
              <a:t>pipeline.py  ·  candidates.py  ·  curriculum.py</a:t>
            </a:r>
            <a:endParaRPr b="0" i="0" sz="1300" u="none" cap="none" strike="noStrike">
              <a:solidFill>
                <a:schemeClr val="dk1"/>
              </a:solidFill>
              <a:latin typeface="Calibri"/>
              <a:ea typeface="Calibri"/>
              <a:cs typeface="Calibri"/>
              <a:sym typeface="Calibri"/>
            </a:endParaRPr>
          </a:p>
        </p:txBody>
      </p:sp>
      <p:sp>
        <p:nvSpPr>
          <p:cNvPr id="445" name="Google Shape;445;p29"/>
          <p:cNvSpPr/>
          <p:nvPr/>
        </p:nvSpPr>
        <p:spPr>
          <a:xfrm>
            <a:off x="457200" y="3931920"/>
            <a:ext cx="82296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DEDED"/>
              </a:buClr>
              <a:buSzPts val="2600"/>
              <a:buFont typeface="Georgia"/>
              <a:buNone/>
            </a:pPr>
            <a:r>
              <a:rPr b="0" i="1" lang="en-US" sz="2600" u="none" cap="none" strike="noStrike">
                <a:solidFill>
                  <a:srgbClr val="EDEDED"/>
                </a:solidFill>
                <a:latin typeface="Georgia"/>
                <a:ea typeface="Georgia"/>
                <a:cs typeface="Georgia"/>
                <a:sym typeface="Georgia"/>
              </a:rPr>
              <a:t>Thank you.</a:t>
            </a:r>
            <a:endParaRPr b="0" i="0" sz="2600" u="none" cap="none" strike="noStrike">
              <a:solidFill>
                <a:schemeClr val="dk1"/>
              </a:solidFill>
              <a:latin typeface="Calibri"/>
              <a:ea typeface="Calibri"/>
              <a:cs typeface="Calibri"/>
              <a:sym typeface="Calibri"/>
            </a:endParaRPr>
          </a:p>
        </p:txBody>
      </p:sp>
      <p:sp>
        <p:nvSpPr>
          <p:cNvPr id="446" name="Google Shape;446;p29"/>
          <p:cNvSpPr/>
          <p:nvPr/>
        </p:nvSpPr>
        <p:spPr>
          <a:xfrm>
            <a:off x="457200" y="452628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6"/>
              </a:buClr>
              <a:buSzPts val="1000"/>
              <a:buFont typeface="Calibri"/>
              <a:buNone/>
            </a:pPr>
            <a:r>
              <a:rPr b="1" i="0" lang="en-US" sz="1000" u="none" cap="none" strike="noStrike">
                <a:solidFill>
                  <a:srgbClr val="D9D9D6"/>
                </a:solidFill>
                <a:latin typeface="Calibri"/>
                <a:ea typeface="Calibri"/>
                <a:cs typeface="Calibri"/>
                <a:sym typeface="Calibri"/>
              </a:rPr>
              <a:t>THE MOBY DICKS  ·  AATISH  ·  BRANDT  ·  SAI</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EDEDED"/>
      </a:hlink>
      <a:folHlink>
        <a:srgbClr val="D9D9D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EDEDED"/>
      </a:hlink>
      <a:folHlink>
        <a:srgbClr val="D9D9D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